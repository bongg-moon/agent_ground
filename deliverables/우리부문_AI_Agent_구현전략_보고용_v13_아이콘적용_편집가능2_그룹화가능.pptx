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848"/>
    <a:srgbClr val="121212"/>
    <a:srgbClr val="B3B3B3"/>
    <a:srgbClr val="E9E9E9"/>
    <a:srgbClr val="9A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ver-top-rule">
            <a:extLst>
              <a:ext uri="{FF2B5EF4-FFF2-40B4-BE49-F238E27FC236}">
                <a16:creationId xmlns:a16="http://schemas.microsoft.com/office/drawing/2014/main" id="{67EA9460-D132-413F-AEC8-7F666A7504B5}"/>
              </a:ext>
            </a:extLst>
          </p:cNvPr>
          <p:cNvSpPr>
            <a:spLocks/>
          </p:cNvSpPr>
          <p:nvPr/>
        </p:nvSpPr>
        <p:spPr>
          <a:xfrm>
            <a:off x="609600" y="476250"/>
            <a:ext cx="10972800" cy="190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94EBCDBB-51A1-4D9E-B5A9-D588F032F945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DIVISION AI AGENT STRATEGY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78D10328-739D-4ACA-893F-8A9BDF2C41A9}"/>
              </a:ext>
            </a:extLst>
          </p:cNvPr>
          <p:cNvSpPr>
            <a:spLocks/>
          </p:cNvSpPr>
          <p:nvPr/>
        </p:nvSpPr>
        <p:spPr>
          <a:xfrm>
            <a:off x="609600" y="1466850"/>
            <a:ext cx="62103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우리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부문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AI Agent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3AB8242C-B753-4295-96A0-6106E94C36BC}"/>
              </a:ext>
            </a:extLst>
          </p:cNvPr>
          <p:cNvSpPr>
            <a:spLocks/>
          </p:cNvSpPr>
          <p:nvPr/>
        </p:nvSpPr>
        <p:spPr>
          <a:xfrm>
            <a:off x="647700" y="327660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전문성은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조직에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Agent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경험과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기반은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부문에</a:t>
            </a:r>
            <a:endParaRPr sz="18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cover-accent">
            <a:extLst>
              <a:ext uri="{FF2B5EF4-FFF2-40B4-BE49-F238E27FC236}">
                <a16:creationId xmlns:a16="http://schemas.microsoft.com/office/drawing/2014/main" id="{9959945D-272A-42AC-9674-EFAFA89C5A11}"/>
              </a:ext>
            </a:extLst>
          </p:cNvPr>
          <p:cNvSpPr>
            <a:spLocks/>
          </p:cNvSpPr>
          <p:nvPr/>
        </p:nvSpPr>
        <p:spPr>
          <a:xfrm>
            <a:off x="609600" y="4419600"/>
            <a:ext cx="857250" cy="571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cover-statement">
            <a:extLst>
              <a:ext uri="{FF2B5EF4-FFF2-40B4-BE49-F238E27FC236}">
                <a16:creationId xmlns:a16="http://schemas.microsoft.com/office/drawing/2014/main" id="{C274E1DA-922D-408C-87AD-FA58E8CEDA8A}"/>
              </a:ext>
            </a:extLst>
          </p:cNvPr>
          <p:cNvSpPr>
            <a:spLocks/>
          </p:cNvSpPr>
          <p:nvPr/>
        </p:nvSpPr>
        <p:spPr>
          <a:xfrm>
            <a:off x="609600" y="4629150"/>
            <a:ext cx="600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 자율개발과 부문 공통 기반을 하나의 Agent 창구로 연결</a:t>
            </a:r>
          </a:p>
        </p:txBody>
      </p:sp>
      <p:sp>
        <p:nvSpPr>
          <p:cNvPr id="7" name="cover-right-panel">
            <a:extLst>
              <a:ext uri="{FF2B5EF4-FFF2-40B4-BE49-F238E27FC236}">
                <a16:creationId xmlns:a16="http://schemas.microsoft.com/office/drawing/2014/main" id="{67FDB034-370B-415E-AB72-2B5497675A1D}"/>
              </a:ext>
            </a:extLst>
          </p:cNvPr>
          <p:cNvSpPr>
            <a:spLocks/>
          </p:cNvSpPr>
          <p:nvPr/>
        </p:nvSpPr>
        <p:spPr>
          <a:xfrm>
            <a:off x="7239000" y="952500"/>
            <a:ext cx="4343400" cy="48577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ver-right-ghost">
            <a:extLst>
              <a:ext uri="{FF2B5EF4-FFF2-40B4-BE49-F238E27FC236}">
                <a16:creationId xmlns:a16="http://schemas.microsoft.com/office/drawing/2014/main" id="{7EE9A043-AC42-4D1C-887A-D86C3DABBC05}"/>
              </a:ext>
            </a:extLst>
          </p:cNvPr>
          <p:cNvSpPr>
            <a:spLocks/>
          </p:cNvSpPr>
          <p:nvPr/>
        </p:nvSpPr>
        <p:spPr>
          <a:xfrm>
            <a:off x="7543800" y="1162050"/>
            <a:ext cx="3619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cover-right-line-1">
            <a:extLst>
              <a:ext uri="{FF2B5EF4-FFF2-40B4-BE49-F238E27FC236}">
                <a16:creationId xmlns:a16="http://schemas.microsoft.com/office/drawing/2014/main" id="{18CC952B-0983-4478-A30B-FC0E534C9660}"/>
              </a:ext>
            </a:extLst>
          </p:cNvPr>
          <p:cNvSpPr>
            <a:spLocks/>
          </p:cNvSpPr>
          <p:nvPr/>
        </p:nvSpPr>
        <p:spPr>
          <a:xfrm>
            <a:off x="7620000" y="23812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ORGANIZATIONS</a:t>
            </a:r>
          </a:p>
        </p:txBody>
      </p:sp>
      <p:sp>
        <p:nvSpPr>
          <p:cNvPr id="10" name="cover-right-main-1">
            <a:extLst>
              <a:ext uri="{FF2B5EF4-FFF2-40B4-BE49-F238E27FC236}">
                <a16:creationId xmlns:a16="http://schemas.microsoft.com/office/drawing/2014/main" id="{C9EC881F-9298-4C58-B4CA-00C2CF5B75F4}"/>
              </a:ext>
            </a:extLst>
          </p:cNvPr>
          <p:cNvSpPr>
            <a:spLocks/>
          </p:cNvSpPr>
          <p:nvPr/>
        </p:nvSpPr>
        <p:spPr>
          <a:xfrm>
            <a:off x="7620000" y="2724150"/>
            <a:ext cx="3429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BUILD</a:t>
            </a:r>
          </a:p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THE WORK</a:t>
            </a:r>
          </a:p>
        </p:txBody>
      </p:sp>
      <p:sp>
        <p:nvSpPr>
          <p:cNvPr id="11" name="cover-panel-rule">
            <a:extLst>
              <a:ext uri="{FF2B5EF4-FFF2-40B4-BE49-F238E27FC236}">
                <a16:creationId xmlns:a16="http://schemas.microsoft.com/office/drawing/2014/main" id="{F65DD6CE-AD46-4436-ACF0-610D80BAC3B3}"/>
              </a:ext>
            </a:extLst>
          </p:cNvPr>
          <p:cNvSpPr>
            <a:spLocks/>
          </p:cNvSpPr>
          <p:nvPr/>
        </p:nvSpPr>
        <p:spPr>
          <a:xfrm>
            <a:off x="7620000" y="4000500"/>
            <a:ext cx="3429000" cy="190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over-right-line-2">
            <a:extLst>
              <a:ext uri="{FF2B5EF4-FFF2-40B4-BE49-F238E27FC236}">
                <a16:creationId xmlns:a16="http://schemas.microsoft.com/office/drawing/2014/main" id="{6DDAEAA9-054F-460E-A9AA-C5EEBCEDC95A}"/>
              </a:ext>
            </a:extLst>
          </p:cNvPr>
          <p:cNvSpPr>
            <a:spLocks/>
          </p:cNvSpPr>
          <p:nvPr/>
        </p:nvSpPr>
        <p:spPr>
          <a:xfrm>
            <a:off x="7620000" y="4229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DIVISION</a:t>
            </a:r>
          </a:p>
        </p:txBody>
      </p:sp>
      <p:sp>
        <p:nvSpPr>
          <p:cNvPr id="13" name="cover-right-main-2">
            <a:extLst>
              <a:ext uri="{FF2B5EF4-FFF2-40B4-BE49-F238E27FC236}">
                <a16:creationId xmlns:a16="http://schemas.microsoft.com/office/drawing/2014/main" id="{BF9FF6BD-C942-40B8-96D4-3E06A4AF59DD}"/>
              </a:ext>
            </a:extLst>
          </p:cNvPr>
          <p:cNvSpPr>
            <a:spLocks/>
          </p:cNvSpPr>
          <p:nvPr/>
        </p:nvSpPr>
        <p:spPr>
          <a:xfrm>
            <a:off x="7620000" y="4572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CONNECTS IT</a:t>
            </a:r>
          </a:p>
        </p:txBody>
      </p:sp>
      <p:sp>
        <p:nvSpPr>
          <p:cNvPr id="14" name="cover-right-note">
            <a:extLst>
              <a:ext uri="{FF2B5EF4-FFF2-40B4-BE49-F238E27FC236}">
                <a16:creationId xmlns:a16="http://schemas.microsoft.com/office/drawing/2014/main" id="{17870204-04F4-43CE-8600-9A3C02C162F6}"/>
              </a:ext>
            </a:extLst>
          </p:cNvPr>
          <p:cNvSpPr>
            <a:spLocks/>
          </p:cNvSpPr>
          <p:nvPr/>
        </p:nvSpPr>
        <p:spPr>
          <a:xfrm>
            <a:off x="7620000" y="5219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· Skill · Profile · Agent Engine</a:t>
            </a:r>
          </a:p>
        </p:txBody>
      </p:sp>
      <p:sp>
        <p:nvSpPr>
          <p:cNvPr id="15" name="cover-date">
            <a:extLst>
              <a:ext uri="{FF2B5EF4-FFF2-40B4-BE49-F238E27FC236}">
                <a16:creationId xmlns:a16="http://schemas.microsoft.com/office/drawing/2014/main" id="{33A671B7-D39C-43F6-A02D-D778F11EB2D3}"/>
              </a:ext>
            </a:extLst>
          </p:cNvPr>
          <p:cNvSpPr>
            <a:spLocks/>
          </p:cNvSpPr>
          <p:nvPr/>
        </p:nvSpPr>
        <p:spPr>
          <a:xfrm>
            <a:off x="609600" y="61722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CONCEPT DIRECTION  |  2026.07</a:t>
            </a:r>
          </a:p>
        </p:txBody>
      </p:sp>
      <p:sp>
        <p:nvSpPr>
          <p:cNvPr id="16" name="cover-page">
            <a:extLst>
              <a:ext uri="{FF2B5EF4-FFF2-40B4-BE49-F238E27FC236}">
                <a16:creationId xmlns:a16="http://schemas.microsoft.com/office/drawing/2014/main" id="{DB7EDEE5-8246-4542-B3C6-3961BAD98F48}"/>
              </a:ext>
            </a:extLst>
          </p:cNvPr>
          <p:cNvSpPr>
            <a:spLocks/>
          </p:cNvSpPr>
          <p:nvPr/>
        </p:nvSpPr>
        <p:spPr>
          <a:xfrm>
            <a:off x="10934700" y="61722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67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eader-02">
            <a:extLst>
              <a:ext uri="{FF2B5EF4-FFF2-40B4-BE49-F238E27FC236}">
                <a16:creationId xmlns:a16="http://schemas.microsoft.com/office/drawing/2014/main" id="{AD0FCC7E-874A-4FE7-BF6F-A03B5EC9CAE2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01. AI Agent 개발 추진 방향</a:t>
            </a:r>
          </a:p>
        </p:txBody>
      </p:sp>
      <p:sp>
        <p:nvSpPr>
          <p:cNvPr id="2" name="page-02">
            <a:extLst>
              <a:ext uri="{FF2B5EF4-FFF2-40B4-BE49-F238E27FC236}">
                <a16:creationId xmlns:a16="http://schemas.microsoft.com/office/drawing/2014/main" id="{C1099E15-F216-4A5E-8BFF-55642C15723E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header-rule-02">
            <a:extLst>
              <a:ext uri="{FF2B5EF4-FFF2-40B4-BE49-F238E27FC236}">
                <a16:creationId xmlns:a16="http://schemas.microsoft.com/office/drawing/2014/main" id="{65B99E47-1DCD-4EDC-9B9B-98A8110E80E8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irection-title">
            <a:extLst>
              <a:ext uri="{FF2B5EF4-FFF2-40B4-BE49-F238E27FC236}">
                <a16:creationId xmlns:a16="http://schemas.microsoft.com/office/drawing/2014/main" id="{0EE4AD85-567D-4346-B735-DC318EF3F380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집중 개발과 조직 자율 개발 방식은 선택의 요소가 아니라 역할의 분담 문제</a:t>
            </a:r>
          </a:p>
        </p:txBody>
      </p:sp>
      <p:sp>
        <p:nvSpPr>
          <p:cNvPr id="5" name="direction-subtitle">
            <a:extLst>
              <a:ext uri="{FF2B5EF4-FFF2-40B4-BE49-F238E27FC236}">
                <a16:creationId xmlns:a16="http://schemas.microsoft.com/office/drawing/2014/main" id="{D23DB692-FE81-4766-BDD5-2A7A5C039C1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조직의 전문 개발 역량과 개별 조직의 현업 지식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활용에 대한 장점을 결합하여 방향을 설정</a:t>
            </a:r>
          </a:p>
        </p:txBody>
      </p:sp>
      <p:sp>
        <p:nvSpPr>
          <p:cNvPr id="6" name="direction-divider">
            <a:extLst>
              <a:ext uri="{FF2B5EF4-FFF2-40B4-BE49-F238E27FC236}">
                <a16:creationId xmlns:a16="http://schemas.microsoft.com/office/drawing/2014/main" id="{77535A26-2567-4A24-93B1-C58016C0B4AC}"/>
              </a:ext>
            </a:extLst>
          </p:cNvPr>
          <p:cNvSpPr>
            <a:spLocks/>
          </p:cNvSpPr>
          <p:nvPr/>
        </p:nvSpPr>
        <p:spPr>
          <a:xfrm>
            <a:off x="6096000" y="1911468"/>
            <a:ext cx="9525" cy="24384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entral-num">
            <a:extLst>
              <a:ext uri="{FF2B5EF4-FFF2-40B4-BE49-F238E27FC236}">
                <a16:creationId xmlns:a16="http://schemas.microsoft.com/office/drawing/2014/main" id="{A2164939-814F-4FAE-847C-360D8BBA31C1}"/>
              </a:ext>
            </a:extLst>
          </p:cNvPr>
          <p:cNvSpPr>
            <a:spLocks/>
          </p:cNvSpPr>
          <p:nvPr/>
        </p:nvSpPr>
        <p:spPr>
          <a:xfrm>
            <a:off x="60960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central-eng">
            <a:extLst>
              <a:ext uri="{FF2B5EF4-FFF2-40B4-BE49-F238E27FC236}">
                <a16:creationId xmlns:a16="http://schemas.microsoft.com/office/drawing/2014/main" id="{A46339D9-11A5-4FFD-BB8B-1CB5C3CAE1C3}"/>
              </a:ext>
            </a:extLst>
          </p:cNvPr>
          <p:cNvSpPr>
            <a:spLocks/>
          </p:cNvSpPr>
          <p:nvPr/>
        </p:nvSpPr>
        <p:spPr>
          <a:xfrm>
            <a:off x="1581150" y="2131803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CENTRAL DEVELOPMENT</a:t>
            </a:r>
          </a:p>
        </p:txBody>
      </p:sp>
      <p:sp>
        <p:nvSpPr>
          <p:cNvPr id="9" name="central-title">
            <a:extLst>
              <a:ext uri="{FF2B5EF4-FFF2-40B4-BE49-F238E27FC236}">
                <a16:creationId xmlns:a16="http://schemas.microsoft.com/office/drawing/2014/main" id="{BCB76FE8-0E6D-4B17-B086-2CF7890BA946}"/>
              </a:ext>
            </a:extLst>
          </p:cNvPr>
          <p:cNvSpPr>
            <a:spLocks/>
          </p:cNvSpPr>
          <p:nvPr/>
        </p:nvSpPr>
        <p:spPr>
          <a:xfrm>
            <a:off x="158115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중앙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집중 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central-rule">
            <a:extLst>
              <a:ext uri="{FF2B5EF4-FFF2-40B4-BE49-F238E27FC236}">
                <a16:creationId xmlns:a16="http://schemas.microsoft.com/office/drawing/2014/main" id="{9A137424-5B6E-4D14-A364-6C613A40BEAD}"/>
              </a:ext>
            </a:extLst>
          </p:cNvPr>
          <p:cNvSpPr>
            <a:spLocks/>
          </p:cNvSpPr>
          <p:nvPr/>
        </p:nvSpPr>
        <p:spPr>
          <a:xfrm>
            <a:off x="609600" y="2768718"/>
            <a:ext cx="5124450" cy="381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entral-strength-label">
            <a:extLst>
              <a:ext uri="{FF2B5EF4-FFF2-40B4-BE49-F238E27FC236}">
                <a16:creationId xmlns:a16="http://schemas.microsoft.com/office/drawing/2014/main" id="{05A9F81A-5059-458F-98BC-B9D393B395E9}"/>
              </a:ext>
            </a:extLst>
          </p:cNvPr>
          <p:cNvSpPr>
            <a:spLocks/>
          </p:cNvSpPr>
          <p:nvPr/>
        </p:nvSpPr>
        <p:spPr>
          <a:xfrm>
            <a:off x="60960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central-strength">
            <a:extLst>
              <a:ext uri="{FF2B5EF4-FFF2-40B4-BE49-F238E27FC236}">
                <a16:creationId xmlns:a16="http://schemas.microsoft.com/office/drawing/2014/main" id="{D66A04D3-BD08-4862-A2DD-6B5C049AAF76}"/>
              </a:ext>
            </a:extLst>
          </p:cNvPr>
          <p:cNvSpPr>
            <a:spLocks/>
          </p:cNvSpPr>
          <p:nvPr/>
        </p:nvSpPr>
        <p:spPr>
          <a:xfrm>
            <a:off x="1590676" y="2880052"/>
            <a:ext cx="426719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최고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수준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개발역량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집중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으로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완성도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안정성 향상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품질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보안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운영 기준을 일관되게 적용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13" name="central-light-rule">
            <a:extLst>
              <a:ext uri="{FF2B5EF4-FFF2-40B4-BE49-F238E27FC236}">
                <a16:creationId xmlns:a16="http://schemas.microsoft.com/office/drawing/2014/main" id="{243BEDA0-50B3-4BE1-9DE9-5369CC7744D4}"/>
              </a:ext>
            </a:extLst>
          </p:cNvPr>
          <p:cNvSpPr>
            <a:spLocks/>
          </p:cNvSpPr>
          <p:nvPr/>
        </p:nvSpPr>
        <p:spPr>
          <a:xfrm>
            <a:off x="609600" y="3625968"/>
            <a:ext cx="51244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entral-gap-label">
            <a:extLst>
              <a:ext uri="{FF2B5EF4-FFF2-40B4-BE49-F238E27FC236}">
                <a16:creationId xmlns:a16="http://schemas.microsoft.com/office/drawing/2014/main" id="{83CDFF5B-E3E3-49B2-B3DD-097FC348F6D1}"/>
              </a:ext>
            </a:extLst>
          </p:cNvPr>
          <p:cNvSpPr>
            <a:spLocks/>
          </p:cNvSpPr>
          <p:nvPr/>
        </p:nvSpPr>
        <p:spPr>
          <a:xfrm>
            <a:off x="60960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central-gap">
            <a:extLst>
              <a:ext uri="{FF2B5EF4-FFF2-40B4-BE49-F238E27FC236}">
                <a16:creationId xmlns:a16="http://schemas.microsoft.com/office/drawing/2014/main" id="{F37512E4-8270-4C00-9541-147C8780B91F}"/>
              </a:ext>
            </a:extLst>
          </p:cNvPr>
          <p:cNvSpPr>
            <a:spLocks/>
          </p:cNvSpPr>
          <p:nvPr/>
        </p:nvSpPr>
        <p:spPr>
          <a:xfrm>
            <a:off x="1590676" y="3702168"/>
            <a:ext cx="428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제한된 개발 인력으로 신속한 개발이 어려움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현업 요구가 그대로 반영되기 어려워 활용성 저하</a:t>
            </a:r>
          </a:p>
        </p:txBody>
      </p:sp>
      <p:sp>
        <p:nvSpPr>
          <p:cNvPr id="16" name="org-num">
            <a:extLst>
              <a:ext uri="{FF2B5EF4-FFF2-40B4-BE49-F238E27FC236}">
                <a16:creationId xmlns:a16="http://schemas.microsoft.com/office/drawing/2014/main" id="{3EE79DEB-CB05-4E32-B977-4C646C653C98}"/>
              </a:ext>
            </a:extLst>
          </p:cNvPr>
          <p:cNvSpPr>
            <a:spLocks/>
          </p:cNvSpPr>
          <p:nvPr/>
        </p:nvSpPr>
        <p:spPr>
          <a:xfrm>
            <a:off x="634365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org-eng">
            <a:extLst>
              <a:ext uri="{FF2B5EF4-FFF2-40B4-BE49-F238E27FC236}">
                <a16:creationId xmlns:a16="http://schemas.microsoft.com/office/drawing/2014/main" id="{B7A52D58-EF91-4856-BECE-1E94B8EDE279}"/>
              </a:ext>
            </a:extLst>
          </p:cNvPr>
          <p:cNvSpPr>
            <a:spLocks/>
          </p:cNvSpPr>
          <p:nvPr/>
        </p:nvSpPr>
        <p:spPr>
          <a:xfrm>
            <a:off x="7315200" y="2131803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ORGANIZATIONAL DEVELOPMENT</a:t>
            </a:r>
          </a:p>
        </p:txBody>
      </p:sp>
      <p:sp>
        <p:nvSpPr>
          <p:cNvPr id="18" name="org-title">
            <a:extLst>
              <a:ext uri="{FF2B5EF4-FFF2-40B4-BE49-F238E27FC236}">
                <a16:creationId xmlns:a16="http://schemas.microsoft.com/office/drawing/2014/main" id="{C9814D90-F238-464B-8127-894350C8568C}"/>
              </a:ext>
            </a:extLst>
          </p:cNvPr>
          <p:cNvSpPr>
            <a:spLocks/>
          </p:cNvSpPr>
          <p:nvPr/>
        </p:nvSpPr>
        <p:spPr>
          <a:xfrm>
            <a:off x="731520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자율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rg-rule">
            <a:extLst>
              <a:ext uri="{FF2B5EF4-FFF2-40B4-BE49-F238E27FC236}">
                <a16:creationId xmlns:a16="http://schemas.microsoft.com/office/drawing/2014/main" id="{720EA80B-48BC-499E-8381-51A4FB5633F5}"/>
              </a:ext>
            </a:extLst>
          </p:cNvPr>
          <p:cNvSpPr>
            <a:spLocks/>
          </p:cNvSpPr>
          <p:nvPr/>
        </p:nvSpPr>
        <p:spPr>
          <a:xfrm>
            <a:off x="6343650" y="2768718"/>
            <a:ext cx="523875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org-strength-label">
            <a:extLst>
              <a:ext uri="{FF2B5EF4-FFF2-40B4-BE49-F238E27FC236}">
                <a16:creationId xmlns:a16="http://schemas.microsoft.com/office/drawing/2014/main" id="{B90B2A44-9398-4AAE-9B32-2A3E823CB483}"/>
              </a:ext>
            </a:extLst>
          </p:cNvPr>
          <p:cNvSpPr>
            <a:spLocks/>
          </p:cNvSpPr>
          <p:nvPr/>
        </p:nvSpPr>
        <p:spPr>
          <a:xfrm>
            <a:off x="634365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rg-strength">
            <a:extLst>
              <a:ext uri="{FF2B5EF4-FFF2-40B4-BE49-F238E27FC236}">
                <a16:creationId xmlns:a16="http://schemas.microsoft.com/office/drawing/2014/main" id="{6B74CF73-284F-463A-A6F1-021C36927432}"/>
              </a:ext>
            </a:extLst>
          </p:cNvPr>
          <p:cNvSpPr>
            <a:spLocks/>
          </p:cNvSpPr>
          <p:nvPr/>
        </p:nvSpPr>
        <p:spPr>
          <a:xfrm>
            <a:off x="7410450" y="2880052"/>
            <a:ext cx="4171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필요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한 기능을 직접 신속하게 구현 및 개선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업무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맥락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기반의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높은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현업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활용도와 적합성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22" name="org-light-rule">
            <a:extLst>
              <a:ext uri="{FF2B5EF4-FFF2-40B4-BE49-F238E27FC236}">
                <a16:creationId xmlns:a16="http://schemas.microsoft.com/office/drawing/2014/main" id="{737353C8-754E-4B48-8E56-4D9EACA25BE7}"/>
              </a:ext>
            </a:extLst>
          </p:cNvPr>
          <p:cNvSpPr>
            <a:spLocks/>
          </p:cNvSpPr>
          <p:nvPr/>
        </p:nvSpPr>
        <p:spPr>
          <a:xfrm>
            <a:off x="6343650" y="3625968"/>
            <a:ext cx="52387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org-gap-label">
            <a:extLst>
              <a:ext uri="{FF2B5EF4-FFF2-40B4-BE49-F238E27FC236}">
                <a16:creationId xmlns:a16="http://schemas.microsoft.com/office/drawing/2014/main" id="{8319E840-FE4A-43ED-AAC3-E63B47198C7F}"/>
              </a:ext>
            </a:extLst>
          </p:cNvPr>
          <p:cNvSpPr>
            <a:spLocks/>
          </p:cNvSpPr>
          <p:nvPr/>
        </p:nvSpPr>
        <p:spPr>
          <a:xfrm>
            <a:off x="634365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rg-gap">
            <a:extLst>
              <a:ext uri="{FF2B5EF4-FFF2-40B4-BE49-F238E27FC236}">
                <a16:creationId xmlns:a16="http://schemas.microsoft.com/office/drawing/2014/main" id="{C9E21E0F-F069-49FA-8380-9DC90AF04948}"/>
              </a:ext>
            </a:extLst>
          </p:cNvPr>
          <p:cNvSpPr>
            <a:spLocks/>
          </p:cNvSpPr>
          <p:nvPr/>
        </p:nvSpPr>
        <p:spPr>
          <a:xfrm>
            <a:off x="7410449" y="3702168"/>
            <a:ext cx="4280807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개발자 수준 차이로 인한 편차와 중복 개발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분산된 구현 방식으로 연결</a:t>
            </a:r>
            <a:r>
              <a:rPr lang="en-US" altLang="ko-KR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재사용의 어려움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</p:txBody>
      </p:sp>
      <p:sp>
        <p:nvSpPr>
          <p:cNvPr id="25" name="operating-model">
            <a:extLst>
              <a:ext uri="{FF2B5EF4-FFF2-40B4-BE49-F238E27FC236}">
                <a16:creationId xmlns:a16="http://schemas.microsoft.com/office/drawing/2014/main" id="{8EB98226-6F7C-4667-BE81-082AF91D7E38}"/>
              </a:ext>
            </a:extLst>
          </p:cNvPr>
          <p:cNvSpPr>
            <a:spLocks/>
          </p:cNvSpPr>
          <p:nvPr/>
        </p:nvSpPr>
        <p:spPr>
          <a:xfrm>
            <a:off x="609600" y="4953000"/>
            <a:ext cx="10972800" cy="12001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operating-label">
            <a:extLst>
              <a:ext uri="{FF2B5EF4-FFF2-40B4-BE49-F238E27FC236}">
                <a16:creationId xmlns:a16="http://schemas.microsoft.com/office/drawing/2014/main" id="{983906D7-4196-4C60-B2F8-8B651493719F}"/>
              </a:ext>
            </a:extLst>
          </p:cNvPr>
          <p:cNvSpPr>
            <a:spLocks/>
          </p:cNvSpPr>
          <p:nvPr/>
        </p:nvSpPr>
        <p:spPr>
          <a:xfrm>
            <a:off x="1291318" y="5003866"/>
            <a:ext cx="9608457" cy="361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공통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Agent Engine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연결 기반을 제공하고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현업의 업무를 반영한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Tool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업무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Workflow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는 각 조직의 자율개발로 확장</a:t>
            </a:r>
          </a:p>
        </p:txBody>
      </p:sp>
      <p:sp>
        <p:nvSpPr>
          <p:cNvPr id="27" name="operating-left">
            <a:extLst>
              <a:ext uri="{FF2B5EF4-FFF2-40B4-BE49-F238E27FC236}">
                <a16:creationId xmlns:a16="http://schemas.microsoft.com/office/drawing/2014/main" id="{CF591C9A-2505-47D5-923D-E9B7D072CD89}"/>
              </a:ext>
            </a:extLst>
          </p:cNvPr>
          <p:cNvSpPr>
            <a:spLocks/>
          </p:cNvSpPr>
          <p:nvPr/>
        </p:nvSpPr>
        <p:spPr>
          <a:xfrm>
            <a:off x="857250" y="54102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</a:t>
            </a:r>
            <a:endParaRPr sz="202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operating-left-sub">
            <a:extLst>
              <a:ext uri="{FF2B5EF4-FFF2-40B4-BE49-F238E27FC236}">
                <a16:creationId xmlns:a16="http://schemas.microsoft.com/office/drawing/2014/main" id="{818A8DFB-6531-4B51-B93B-23DA94BFCAC6}"/>
              </a:ext>
            </a:extLst>
          </p:cNvPr>
          <p:cNvSpPr>
            <a:spLocks/>
          </p:cNvSpPr>
          <p:nvPr/>
        </p:nvSpPr>
        <p:spPr>
          <a:xfrm>
            <a:off x="857250" y="57721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Agent Engine · P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latform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Tool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perating-plus">
            <a:extLst>
              <a:ext uri="{FF2B5EF4-FFF2-40B4-BE49-F238E27FC236}">
                <a16:creationId xmlns:a16="http://schemas.microsoft.com/office/drawing/2014/main" id="{DEA8BFDC-4580-458D-89F3-4B9FC8E5456D}"/>
              </a:ext>
            </a:extLst>
          </p:cNvPr>
          <p:cNvSpPr>
            <a:spLocks/>
          </p:cNvSpPr>
          <p:nvPr/>
        </p:nvSpPr>
        <p:spPr>
          <a:xfrm>
            <a:off x="5734050" y="5410200"/>
            <a:ext cx="1066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34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34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operating-right">
            <a:extLst>
              <a:ext uri="{FF2B5EF4-FFF2-40B4-BE49-F238E27FC236}">
                <a16:creationId xmlns:a16="http://schemas.microsoft.com/office/drawing/2014/main" id="{4AF37FA7-EFFB-4552-8061-5625AE8D3CF3}"/>
              </a:ext>
            </a:extLst>
          </p:cNvPr>
          <p:cNvSpPr>
            <a:spLocks/>
          </p:cNvSpPr>
          <p:nvPr/>
        </p:nvSpPr>
        <p:spPr>
          <a:xfrm>
            <a:off x="7067550" y="54102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 자율 개발</a:t>
            </a:r>
          </a:p>
        </p:txBody>
      </p:sp>
      <p:sp>
        <p:nvSpPr>
          <p:cNvPr id="31" name="operating-right-sub">
            <a:extLst>
              <a:ext uri="{FF2B5EF4-FFF2-40B4-BE49-F238E27FC236}">
                <a16:creationId xmlns:a16="http://schemas.microsoft.com/office/drawing/2014/main" id="{8F26DD9D-150D-4B01-A86D-1EEB56F72339}"/>
              </a:ext>
            </a:extLst>
          </p:cNvPr>
          <p:cNvSpPr>
            <a:spLocks/>
          </p:cNvSpPr>
          <p:nvPr/>
        </p:nvSpPr>
        <p:spPr>
          <a:xfrm>
            <a:off x="7067550" y="5772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업무 Tool · Skill · Workflow · 실사용 기반 개선</a:t>
            </a: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38700" y="5416680"/>
            <a:ext cx="628650" cy="60653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AE224CA-6003-96D1-2C59-CB753F069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22630" y="5416680"/>
            <a:ext cx="633639" cy="5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8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B307AB8-0345-6948-71B0-ED0FA8EB9F7B}"/>
              </a:ext>
            </a:extLst>
          </p:cNvPr>
          <p:cNvSpPr/>
          <p:nvPr/>
        </p:nvSpPr>
        <p:spPr>
          <a:xfrm>
            <a:off x="609600" y="2382512"/>
            <a:ext cx="7943852" cy="3886200"/>
          </a:xfrm>
          <a:prstGeom prst="roundRect">
            <a:avLst>
              <a:gd name="adj" fmla="val 8506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ED7A9F7-8F16-0C86-B28E-31E47318CCE3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3156951" y="3590830"/>
            <a:ext cx="2815224" cy="31933"/>
          </a:xfrm>
          <a:prstGeom prst="straightConnector1">
            <a:avLst/>
          </a:prstGeom>
          <a:ln w="57150">
            <a:solidFill>
              <a:srgbClr val="9A9A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header-03">
            <a:extLst>
              <a:ext uri="{FF2B5EF4-FFF2-40B4-BE49-F238E27FC236}">
                <a16:creationId xmlns:a16="http://schemas.microsoft.com/office/drawing/2014/main" id="{A3E27B24-E96F-438F-ACD7-E54FE1FFBC9E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02. 목표 운영 구조</a:t>
            </a:r>
          </a:p>
        </p:txBody>
      </p:sp>
      <p:sp>
        <p:nvSpPr>
          <p:cNvPr id="2" name="page-03">
            <a:extLst>
              <a:ext uri="{FF2B5EF4-FFF2-40B4-BE49-F238E27FC236}">
                <a16:creationId xmlns:a16="http://schemas.microsoft.com/office/drawing/2014/main" id="{6ABC854E-A017-4ABD-97B5-336C229FC53C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header-rule-03">
            <a:extLst>
              <a:ext uri="{FF2B5EF4-FFF2-40B4-BE49-F238E27FC236}">
                <a16:creationId xmlns:a16="http://schemas.microsoft.com/office/drawing/2014/main" id="{EF8503CB-40CE-48C1-A7E9-9AC743F7DB36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ngine-drop">
            <a:extLst>
              <a:ext uri="{FF2B5EF4-FFF2-40B4-BE49-F238E27FC236}">
                <a16:creationId xmlns:a16="http://schemas.microsoft.com/office/drawing/2014/main" id="{1EB301F9-55C7-4E5D-971D-D784409F5D34}"/>
              </a:ext>
            </a:extLst>
          </p:cNvPr>
          <p:cNvSpPr>
            <a:spLocks/>
          </p:cNvSpPr>
          <p:nvPr/>
        </p:nvSpPr>
        <p:spPr>
          <a:xfrm>
            <a:off x="4572000" y="4033600"/>
            <a:ext cx="381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ngine-branch">
            <a:extLst>
              <a:ext uri="{FF2B5EF4-FFF2-40B4-BE49-F238E27FC236}">
                <a16:creationId xmlns:a16="http://schemas.microsoft.com/office/drawing/2014/main" id="{F94DF117-03BD-40CA-AC1B-03F6E1333F13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457200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engine-branch-left">
            <a:extLst>
              <a:ext uri="{FF2B5EF4-FFF2-40B4-BE49-F238E27FC236}">
                <a16:creationId xmlns:a16="http://schemas.microsoft.com/office/drawing/2014/main" id="{771FC0C0-9937-4C79-B5C1-F9297D739A66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ngine-branch-right">
            <a:extLst>
              <a:ext uri="{FF2B5EF4-FFF2-40B4-BE49-F238E27FC236}">
                <a16:creationId xmlns:a16="http://schemas.microsoft.com/office/drawing/2014/main" id="{17A02935-58F4-4EE8-8E53-7F7875CFC569}"/>
              </a:ext>
            </a:extLst>
          </p:cNvPr>
          <p:cNvSpPr>
            <a:spLocks/>
          </p:cNvSpPr>
          <p:nvPr/>
        </p:nvSpPr>
        <p:spPr>
          <a:xfrm>
            <a:off x="68199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rofile-node">
            <a:extLst>
              <a:ext uri="{FF2B5EF4-FFF2-40B4-BE49-F238E27FC236}">
                <a16:creationId xmlns:a16="http://schemas.microsoft.com/office/drawing/2014/main" id="{C7152579-4559-4BF4-9600-A16F7CEF2110}"/>
              </a:ext>
            </a:extLst>
          </p:cNvPr>
          <p:cNvSpPr>
            <a:spLocks/>
          </p:cNvSpPr>
          <p:nvPr/>
        </p:nvSpPr>
        <p:spPr>
          <a:xfrm>
            <a:off x="996951" y="3152680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rofile-node-main">
            <a:extLst>
              <a:ext uri="{FF2B5EF4-FFF2-40B4-BE49-F238E27FC236}">
                <a16:creationId xmlns:a16="http://schemas.microsoft.com/office/drawing/2014/main" id="{FCD8715D-6AB0-499C-BC8A-F08A02F6F9CD}"/>
              </a:ext>
            </a:extLst>
          </p:cNvPr>
          <p:cNvSpPr>
            <a:spLocks/>
          </p:cNvSpPr>
          <p:nvPr/>
        </p:nvSpPr>
        <p:spPr>
          <a:xfrm>
            <a:off x="1127627" y="3441788"/>
            <a:ext cx="189864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 영역 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Profile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구분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main-node">
            <a:extLst>
              <a:ext uri="{FF2B5EF4-FFF2-40B4-BE49-F238E27FC236}">
                <a16:creationId xmlns:a16="http://schemas.microsoft.com/office/drawing/2014/main" id="{D08C5811-0B4C-4D7D-9866-DAE3410195F1}"/>
              </a:ext>
            </a:extLst>
          </p:cNvPr>
          <p:cNvSpPr>
            <a:spLocks/>
          </p:cNvSpPr>
          <p:nvPr/>
        </p:nvSpPr>
        <p:spPr>
          <a:xfrm>
            <a:off x="3484563" y="3153938"/>
            <a:ext cx="2160000" cy="875042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main-node-main">
            <a:extLst>
              <a:ext uri="{FF2B5EF4-FFF2-40B4-BE49-F238E27FC236}">
                <a16:creationId xmlns:a16="http://schemas.microsoft.com/office/drawing/2014/main" id="{E706BBCC-934C-4B37-BA02-5EB414A3375E}"/>
              </a:ext>
            </a:extLst>
          </p:cNvPr>
          <p:cNvSpPr>
            <a:spLocks/>
          </p:cNvSpPr>
          <p:nvPr/>
        </p:nvSpPr>
        <p:spPr>
          <a:xfrm>
            <a:off x="3802563" y="3432263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23" name="main-node-sub">
            <a:extLst>
              <a:ext uri="{FF2B5EF4-FFF2-40B4-BE49-F238E27FC236}">
                <a16:creationId xmlns:a16="http://schemas.microsoft.com/office/drawing/2014/main" id="{0C720B73-C1AC-4B05-BAB3-8A9FB138155C}"/>
              </a:ext>
            </a:extLst>
          </p:cNvPr>
          <p:cNvSpPr>
            <a:spLocks/>
          </p:cNvSpPr>
          <p:nvPr/>
        </p:nvSpPr>
        <p:spPr>
          <a:xfrm>
            <a:off x="3564439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Skill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참고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execute-node">
            <a:extLst>
              <a:ext uri="{FF2B5EF4-FFF2-40B4-BE49-F238E27FC236}">
                <a16:creationId xmlns:a16="http://schemas.microsoft.com/office/drawing/2014/main" id="{2691D86D-F6DA-4029-A8A3-CE8C2BE33610}"/>
              </a:ext>
            </a:extLst>
          </p:cNvPr>
          <p:cNvSpPr>
            <a:spLocks/>
          </p:cNvSpPr>
          <p:nvPr/>
        </p:nvSpPr>
        <p:spPr>
          <a:xfrm>
            <a:off x="5972175" y="3184613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execute-node-main">
            <a:extLst>
              <a:ext uri="{FF2B5EF4-FFF2-40B4-BE49-F238E27FC236}">
                <a16:creationId xmlns:a16="http://schemas.microsoft.com/office/drawing/2014/main" id="{6797DA4B-8BCB-46C3-BCBC-E1AE2A014B2A}"/>
              </a:ext>
            </a:extLst>
          </p:cNvPr>
          <p:cNvSpPr>
            <a:spLocks/>
          </p:cNvSpPr>
          <p:nvPr/>
        </p:nvSpPr>
        <p:spPr>
          <a:xfrm>
            <a:off x="6075862" y="3503558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 </a:t>
            </a:r>
            <a:r>
              <a:rPr lang="ko-KR" altLang="en-US"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위임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org-tools">
            <a:extLst>
              <a:ext uri="{FF2B5EF4-FFF2-40B4-BE49-F238E27FC236}">
                <a16:creationId xmlns:a16="http://schemas.microsoft.com/office/drawing/2014/main" id="{561E5DFA-29C0-4E69-A321-956F295A76EF}"/>
              </a:ext>
            </a:extLst>
          </p:cNvPr>
          <p:cNvSpPr>
            <a:spLocks/>
          </p:cNvSpPr>
          <p:nvPr/>
        </p:nvSpPr>
        <p:spPr>
          <a:xfrm>
            <a:off x="1066800" y="4998712"/>
            <a:ext cx="3162300" cy="666750"/>
          </a:xfrm>
          <a:prstGeom prst="rect">
            <a:avLst/>
          </a:prstGeom>
          <a:solidFill>
            <a:srgbClr val="48484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org-tools-title">
            <a:extLst>
              <a:ext uri="{FF2B5EF4-FFF2-40B4-BE49-F238E27FC236}">
                <a16:creationId xmlns:a16="http://schemas.microsoft.com/office/drawing/2014/main" id="{BD66369E-F4C0-456D-8183-1540D66324F6}"/>
              </a:ext>
            </a:extLst>
          </p:cNvPr>
          <p:cNvSpPr>
            <a:spLocks/>
          </p:cNvSpPr>
          <p:nvPr/>
        </p:nvSpPr>
        <p:spPr>
          <a:xfrm>
            <a:off x="12573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특화 </a:t>
            </a: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능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rg-tools-sub">
            <a:extLst>
              <a:ext uri="{FF2B5EF4-FFF2-40B4-BE49-F238E27FC236}">
                <a16:creationId xmlns:a16="http://schemas.microsoft.com/office/drawing/2014/main" id="{367DEDFA-A92E-4721-8450-20339C7192A4}"/>
              </a:ext>
            </a:extLst>
          </p:cNvPr>
          <p:cNvSpPr>
            <a:spLocks/>
          </p:cNvSpPr>
          <p:nvPr/>
        </p:nvSpPr>
        <p:spPr>
          <a:xfrm>
            <a:off x="1127626" y="5377799"/>
            <a:ext cx="3101473" cy="205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개발·운영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, MCP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기반 공통 연결 형식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common-tools">
            <a:extLst>
              <a:ext uri="{FF2B5EF4-FFF2-40B4-BE49-F238E27FC236}">
                <a16:creationId xmlns:a16="http://schemas.microsoft.com/office/drawing/2014/main" id="{E0D91F4D-FBE4-46EF-B4F6-11B6D39F2093}"/>
              </a:ext>
            </a:extLst>
          </p:cNvPr>
          <p:cNvSpPr>
            <a:spLocks/>
          </p:cNvSpPr>
          <p:nvPr/>
        </p:nvSpPr>
        <p:spPr>
          <a:xfrm>
            <a:off x="4914900" y="4998712"/>
            <a:ext cx="31623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common-tools-title">
            <a:extLst>
              <a:ext uri="{FF2B5EF4-FFF2-40B4-BE49-F238E27FC236}">
                <a16:creationId xmlns:a16="http://schemas.microsoft.com/office/drawing/2014/main" id="{8722F6E0-94C5-4D98-B800-6992B59D9E76}"/>
              </a:ext>
            </a:extLst>
          </p:cNvPr>
          <p:cNvSpPr>
            <a:spLocks/>
          </p:cNvSpPr>
          <p:nvPr/>
        </p:nvSpPr>
        <p:spPr>
          <a:xfrm>
            <a:off x="51054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 공통 활용 기능</a:t>
            </a:r>
          </a:p>
        </p:txBody>
      </p:sp>
      <p:sp>
        <p:nvSpPr>
          <p:cNvPr id="32" name="common-tools-sub">
            <a:extLst>
              <a:ext uri="{FF2B5EF4-FFF2-40B4-BE49-F238E27FC236}">
                <a16:creationId xmlns:a16="http://schemas.microsoft.com/office/drawing/2014/main" id="{5665250A-BE9C-4C57-BE42-C4AD608B1A20}"/>
              </a:ext>
            </a:extLst>
          </p:cNvPr>
          <p:cNvSpPr>
            <a:spLocks/>
          </p:cNvSpPr>
          <p:nvPr/>
        </p:nvSpPr>
        <p:spPr>
          <a:xfrm>
            <a:off x="5105400" y="5360662"/>
            <a:ext cx="2781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정리</a:t>
            </a:r>
            <a:r>
              <a:rPr lang="en-US" altLang="ko-KR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HTML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PPT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작성 </a:t>
            </a:r>
            <a:r>
              <a:rPr lang="en-US" altLang="ko-KR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등</a:t>
            </a:r>
            <a:endParaRPr sz="1125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48AA884-FC7E-7E58-3B32-F60D0D53F5F8}"/>
              </a:ext>
            </a:extLst>
          </p:cNvPr>
          <p:cNvGrpSpPr/>
          <p:nvPr/>
        </p:nvGrpSpPr>
        <p:grpSpPr>
          <a:xfrm>
            <a:off x="8769350" y="2529550"/>
            <a:ext cx="2432050" cy="285750"/>
            <a:chOff x="8915400" y="2408900"/>
            <a:chExt cx="2432050" cy="285750"/>
          </a:xfrm>
        </p:grpSpPr>
        <p:sp>
          <p:nvSpPr>
            <p:cNvPr id="35" name="benefit-num-0">
              <a:extLst>
                <a:ext uri="{FF2B5EF4-FFF2-40B4-BE49-F238E27FC236}">
                  <a16:creationId xmlns:a16="http://schemas.microsoft.com/office/drawing/2014/main" id="{321F3BAE-6058-4098-AE93-753861EC13E0}"/>
                </a:ext>
              </a:extLst>
            </p:cNvPr>
            <p:cNvSpPr>
              <a:spLocks/>
            </p:cNvSpPr>
            <p:nvPr/>
          </p:nvSpPr>
          <p:spPr>
            <a:xfrm>
              <a:off x="8915400" y="240890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01</a:t>
              </a:r>
            </a:p>
          </p:txBody>
        </p:sp>
        <p:sp>
          <p:nvSpPr>
            <p:cNvPr id="36" name="benefit-heading-0">
              <a:extLst>
                <a:ext uri="{FF2B5EF4-FFF2-40B4-BE49-F238E27FC236}">
                  <a16:creationId xmlns:a16="http://schemas.microsoft.com/office/drawing/2014/main" id="{9C9C60AF-721E-4FFD-BC84-BDA054754D65}"/>
                </a:ext>
              </a:extLst>
            </p:cNvPr>
            <p:cNvSpPr>
              <a:spLocks/>
            </p:cNvSpPr>
            <p:nvPr/>
          </p:nvSpPr>
          <p:spPr>
            <a:xfrm>
              <a:off x="9290050" y="240890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할루시네이션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감소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37" name="benefit-body-0">
            <a:extLst>
              <a:ext uri="{FF2B5EF4-FFF2-40B4-BE49-F238E27FC236}">
                <a16:creationId xmlns:a16="http://schemas.microsoft.com/office/drawing/2014/main" id="{C7DF4953-941A-4E19-A445-B1F185E5BF5C}"/>
              </a:ext>
            </a:extLst>
          </p:cNvPr>
          <p:cNvSpPr>
            <a:spLocks/>
          </p:cNvSpPr>
          <p:nvPr/>
        </p:nvSpPr>
        <p:spPr>
          <a:xfrm>
            <a:off x="8769350" y="28257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기능과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유사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benefit-rule-0">
            <a:extLst>
              <a:ext uri="{FF2B5EF4-FFF2-40B4-BE49-F238E27FC236}">
                <a16:creationId xmlns:a16="http://schemas.microsoft.com/office/drawing/2014/main" id="{709D3ED7-B1F4-48BA-90F0-D30BBD8F5B8E}"/>
              </a:ext>
            </a:extLst>
          </p:cNvPr>
          <p:cNvSpPr>
            <a:spLocks/>
          </p:cNvSpPr>
          <p:nvPr/>
        </p:nvSpPr>
        <p:spPr>
          <a:xfrm>
            <a:off x="8769350" y="32448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9E7DF-E679-DF92-7FD2-1DFCB48E3D78}"/>
              </a:ext>
            </a:extLst>
          </p:cNvPr>
          <p:cNvGrpSpPr/>
          <p:nvPr/>
        </p:nvGrpSpPr>
        <p:grpSpPr>
          <a:xfrm>
            <a:off x="8769350" y="3327400"/>
            <a:ext cx="2432050" cy="285750"/>
            <a:chOff x="8915400" y="3206750"/>
            <a:chExt cx="2432050" cy="285750"/>
          </a:xfrm>
        </p:grpSpPr>
        <p:sp>
          <p:nvSpPr>
            <p:cNvPr id="39" name="benefit-num-1">
              <a:extLst>
                <a:ext uri="{FF2B5EF4-FFF2-40B4-BE49-F238E27FC236}">
                  <a16:creationId xmlns:a16="http://schemas.microsoft.com/office/drawing/2014/main" id="{0637E93B-37E4-4DD8-AFAA-121554E0C685}"/>
                </a:ext>
              </a:extLst>
            </p:cNvPr>
            <p:cNvSpPr>
              <a:spLocks/>
            </p:cNvSpPr>
            <p:nvPr/>
          </p:nvSpPr>
          <p:spPr>
            <a:xfrm>
              <a:off x="8915400" y="32067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02</a:t>
              </a:r>
            </a:p>
          </p:txBody>
        </p:sp>
        <p:sp>
          <p:nvSpPr>
            <p:cNvPr id="40" name="benefit-heading-1">
              <a:extLst>
                <a:ext uri="{FF2B5EF4-FFF2-40B4-BE49-F238E27FC236}">
                  <a16:creationId xmlns:a16="http://schemas.microsoft.com/office/drawing/2014/main" id="{2E50A162-2ABA-4CB8-9F71-85D40B7CF174}"/>
                </a:ext>
              </a:extLst>
            </p:cNvPr>
            <p:cNvSpPr>
              <a:spLocks/>
            </p:cNvSpPr>
            <p:nvPr/>
          </p:nvSpPr>
          <p:spPr>
            <a:xfrm>
              <a:off x="9290050" y="32067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토큰</a:t>
              </a:r>
              <a:r>
                <a:rPr 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.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비용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절감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1" name="benefit-body-1">
            <a:extLst>
              <a:ext uri="{FF2B5EF4-FFF2-40B4-BE49-F238E27FC236}">
                <a16:creationId xmlns:a16="http://schemas.microsoft.com/office/drawing/2014/main" id="{5EACD132-EF89-4650-B1AC-ED76FBE836BD}"/>
              </a:ext>
            </a:extLst>
          </p:cNvPr>
          <p:cNvSpPr>
            <a:spLocks/>
          </p:cNvSpPr>
          <p:nvPr/>
        </p:nvSpPr>
        <p:spPr>
          <a:xfrm>
            <a:off x="8769350" y="3625850"/>
            <a:ext cx="283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정보만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Context에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단계적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전달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benefit-rule-1">
            <a:extLst>
              <a:ext uri="{FF2B5EF4-FFF2-40B4-BE49-F238E27FC236}">
                <a16:creationId xmlns:a16="http://schemas.microsoft.com/office/drawing/2014/main" id="{AA9B10EE-BC4D-4FF4-B933-831B88CEDFF7}"/>
              </a:ext>
            </a:extLst>
          </p:cNvPr>
          <p:cNvSpPr>
            <a:spLocks/>
          </p:cNvSpPr>
          <p:nvPr/>
        </p:nvSpPr>
        <p:spPr>
          <a:xfrm>
            <a:off x="8769350" y="40449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AF4DA7B-B437-A30F-BC5C-CAAFAE5CEF13}"/>
              </a:ext>
            </a:extLst>
          </p:cNvPr>
          <p:cNvGrpSpPr/>
          <p:nvPr/>
        </p:nvGrpSpPr>
        <p:grpSpPr>
          <a:xfrm>
            <a:off x="8769350" y="4127500"/>
            <a:ext cx="2432050" cy="285750"/>
            <a:chOff x="8915400" y="4006850"/>
            <a:chExt cx="2432050" cy="285750"/>
          </a:xfrm>
        </p:grpSpPr>
        <p:sp>
          <p:nvSpPr>
            <p:cNvPr id="43" name="benefit-num-2">
              <a:extLst>
                <a:ext uri="{FF2B5EF4-FFF2-40B4-BE49-F238E27FC236}">
                  <a16:creationId xmlns:a16="http://schemas.microsoft.com/office/drawing/2014/main" id="{6B6F4E68-0A84-404C-BEA4-A10371EC3F79}"/>
                </a:ext>
              </a:extLst>
            </p:cNvPr>
            <p:cNvSpPr>
              <a:spLocks/>
            </p:cNvSpPr>
            <p:nvPr/>
          </p:nvSpPr>
          <p:spPr>
            <a:xfrm>
              <a:off x="8915400" y="40068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03</a:t>
              </a:r>
            </a:p>
          </p:txBody>
        </p:sp>
        <p:sp>
          <p:nvSpPr>
            <p:cNvPr id="44" name="benefit-heading-2">
              <a:extLst>
                <a:ext uri="{FF2B5EF4-FFF2-40B4-BE49-F238E27FC236}">
                  <a16:creationId xmlns:a16="http://schemas.microsoft.com/office/drawing/2014/main" id="{1ACCA657-444B-44A8-BE08-C1D9406B32EC}"/>
                </a:ext>
              </a:extLst>
            </p:cNvPr>
            <p:cNvSpPr>
              <a:spLocks/>
            </p:cNvSpPr>
            <p:nvPr/>
          </p:nvSpPr>
          <p:spPr>
            <a:xfrm>
              <a:off x="9290050" y="40068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실행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속도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일관성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5" name="benefit-body-2">
            <a:extLst>
              <a:ext uri="{FF2B5EF4-FFF2-40B4-BE49-F238E27FC236}">
                <a16:creationId xmlns:a16="http://schemas.microsoft.com/office/drawing/2014/main" id="{E8D15450-B4C0-493F-B3CE-B14B86C4237F}"/>
              </a:ext>
            </a:extLst>
          </p:cNvPr>
          <p:cNvSpPr>
            <a:spLocks/>
          </p:cNvSpPr>
          <p:nvPr/>
        </p:nvSpPr>
        <p:spPr>
          <a:xfrm>
            <a:off x="8769350" y="4425950"/>
            <a:ext cx="294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후보와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실행계획</a:t>
            </a:r>
            <a:r>
              <a:rPr 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생성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복잡도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축소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benefit-rule-2">
            <a:extLst>
              <a:ext uri="{FF2B5EF4-FFF2-40B4-BE49-F238E27FC236}">
                <a16:creationId xmlns:a16="http://schemas.microsoft.com/office/drawing/2014/main" id="{9415CF4A-838D-43C1-B813-91F90FC2EAA5}"/>
              </a:ext>
            </a:extLst>
          </p:cNvPr>
          <p:cNvSpPr>
            <a:spLocks/>
          </p:cNvSpPr>
          <p:nvPr/>
        </p:nvSpPr>
        <p:spPr>
          <a:xfrm>
            <a:off x="8769350" y="48450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D26AACA-7F5D-DB46-D757-773247A1A2B3}"/>
              </a:ext>
            </a:extLst>
          </p:cNvPr>
          <p:cNvGrpSpPr/>
          <p:nvPr/>
        </p:nvGrpSpPr>
        <p:grpSpPr>
          <a:xfrm>
            <a:off x="8769350" y="4927600"/>
            <a:ext cx="2432050" cy="285750"/>
            <a:chOff x="8915400" y="4806950"/>
            <a:chExt cx="2432050" cy="285750"/>
          </a:xfrm>
        </p:grpSpPr>
        <p:sp>
          <p:nvSpPr>
            <p:cNvPr id="47" name="benefit-num-3">
              <a:extLst>
                <a:ext uri="{FF2B5EF4-FFF2-40B4-BE49-F238E27FC236}">
                  <a16:creationId xmlns:a16="http://schemas.microsoft.com/office/drawing/2014/main" id="{50D86040-9804-403D-B9E1-17B277B42F1E}"/>
                </a:ext>
              </a:extLst>
            </p:cNvPr>
            <p:cNvSpPr>
              <a:spLocks/>
            </p:cNvSpPr>
            <p:nvPr/>
          </p:nvSpPr>
          <p:spPr>
            <a:xfrm>
              <a:off x="8915400" y="48069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04</a:t>
              </a:r>
            </a:p>
          </p:txBody>
        </p:sp>
        <p:sp>
          <p:nvSpPr>
            <p:cNvPr id="48" name="benefit-heading-3">
              <a:extLst>
                <a:ext uri="{FF2B5EF4-FFF2-40B4-BE49-F238E27FC236}">
                  <a16:creationId xmlns:a16="http://schemas.microsoft.com/office/drawing/2014/main" id="{08EE88BF-488E-4D21-9760-DA641489C995}"/>
                </a:ext>
              </a:extLst>
            </p:cNvPr>
            <p:cNvSpPr>
              <a:spLocks/>
            </p:cNvSpPr>
            <p:nvPr/>
          </p:nvSpPr>
          <p:spPr>
            <a:xfrm>
              <a:off x="9290050" y="48069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사용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운영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단순화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9" name="benefit-body-3">
            <a:extLst>
              <a:ext uri="{FF2B5EF4-FFF2-40B4-BE49-F238E27FC236}">
                <a16:creationId xmlns:a16="http://schemas.microsoft.com/office/drawing/2014/main" id="{D89E1B78-F13A-4095-BE5F-83636ACF3EA6}"/>
              </a:ext>
            </a:extLst>
          </p:cNvPr>
          <p:cNvSpPr>
            <a:spLocks/>
          </p:cNvSpPr>
          <p:nvPr/>
        </p:nvSpPr>
        <p:spPr>
          <a:xfrm>
            <a:off x="8769350" y="5226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사용</a:t>
            </a:r>
            <a:r>
              <a:rPr lang="en-US" altLang="ko-KR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책임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명확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permission-rule">
            <a:extLst>
              <a:ext uri="{FF2B5EF4-FFF2-40B4-BE49-F238E27FC236}">
                <a16:creationId xmlns:a16="http://schemas.microsoft.com/office/drawing/2014/main" id="{53245A47-DC27-42E1-A4BF-D5B3DC22464D}"/>
              </a:ext>
            </a:extLst>
          </p:cNvPr>
          <p:cNvSpPr>
            <a:spLocks/>
          </p:cNvSpPr>
          <p:nvPr/>
        </p:nvSpPr>
        <p:spPr>
          <a:xfrm>
            <a:off x="8769350" y="5638800"/>
            <a:ext cx="2667000" cy="2857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permission-note">
            <a:extLst>
              <a:ext uri="{FF2B5EF4-FFF2-40B4-BE49-F238E27FC236}">
                <a16:creationId xmlns:a16="http://schemas.microsoft.com/office/drawing/2014/main" id="{CB2C565E-D3EA-46F5-9419-EE07C2940212}"/>
              </a:ext>
            </a:extLst>
          </p:cNvPr>
          <p:cNvSpPr>
            <a:spLocks/>
          </p:cNvSpPr>
          <p:nvPr/>
        </p:nvSpPr>
        <p:spPr>
          <a:xfrm>
            <a:off x="8769350" y="5698474"/>
            <a:ext cx="307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*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영역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Profile은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Agent의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범위만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 관련 권한은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체계에서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direction-title">
            <a:extLst>
              <a:ext uri="{FF2B5EF4-FFF2-40B4-BE49-F238E27FC236}">
                <a16:creationId xmlns:a16="http://schemas.microsoft.com/office/drawing/2014/main" id="{82E88691-0BB7-A8F2-F5D5-472567A63FE4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하나의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 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플랫폼을 활용하고 필요한 기능한 연결하여 각 영역에 필요한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구현</a:t>
            </a:r>
          </a:p>
        </p:txBody>
      </p:sp>
      <p:sp>
        <p:nvSpPr>
          <p:cNvPr id="58" name="direction-subtitle">
            <a:extLst>
              <a:ext uri="{FF2B5EF4-FFF2-40B4-BE49-F238E27FC236}">
                <a16:creationId xmlns:a16="http://schemas.microsoft.com/office/drawing/2014/main" id="{2861406D-125D-43C3-56C8-1392314F625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조직별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개인별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Profile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설정 기능을 통해 후보 범위를 제한하고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Main Agent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가 실행 계획을 세우고 결과를 통합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AB3504-730E-85B5-7ABF-77177EFF77AA}"/>
              </a:ext>
            </a:extLst>
          </p:cNvPr>
          <p:cNvSpPr txBox="1"/>
          <p:nvPr/>
        </p:nvSpPr>
        <p:spPr>
          <a:xfrm>
            <a:off x="1364256" y="3183283"/>
            <a:ext cx="142539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① 업무 영역 설정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7A9996-5394-2EEE-B720-9020F4DA1818}"/>
              </a:ext>
            </a:extLst>
          </p:cNvPr>
          <p:cNvSpPr txBox="1"/>
          <p:nvPr/>
        </p:nvSpPr>
        <p:spPr>
          <a:xfrm>
            <a:off x="605530" y="2078540"/>
            <a:ext cx="15888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공통 플랫폼 구조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AF122-E8DC-FAE7-5BB1-E37F43A9F0D3}"/>
              </a:ext>
            </a:extLst>
          </p:cNvPr>
          <p:cNvSpPr txBox="1"/>
          <p:nvPr/>
        </p:nvSpPr>
        <p:spPr>
          <a:xfrm>
            <a:off x="8630133" y="2078540"/>
            <a:ext cx="222836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조직별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개인별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Profile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설정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main-node-sub">
            <a:extLst>
              <a:ext uri="{FF2B5EF4-FFF2-40B4-BE49-F238E27FC236}">
                <a16:creationId xmlns:a16="http://schemas.microsoft.com/office/drawing/2014/main" id="{8B91FFB1-0B4E-D964-070D-7B4082DE188E}"/>
              </a:ext>
            </a:extLst>
          </p:cNvPr>
          <p:cNvSpPr>
            <a:spLocks/>
          </p:cNvSpPr>
          <p:nvPr/>
        </p:nvSpPr>
        <p:spPr>
          <a:xfrm>
            <a:off x="1076827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영역별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lang="en-US" altLang="ko-KR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Tool/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D8E72-DE2C-564A-0F7B-583516E7F68B}"/>
              </a:ext>
            </a:extLst>
          </p:cNvPr>
          <p:cNvSpPr txBox="1"/>
          <p:nvPr/>
        </p:nvSpPr>
        <p:spPr>
          <a:xfrm>
            <a:off x="3609817" y="3183283"/>
            <a:ext cx="190949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② 실행 판단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1F1350-D236-5CC2-56EC-2B8E60B12281}"/>
              </a:ext>
            </a:extLst>
          </p:cNvPr>
          <p:cNvSpPr txBox="1"/>
          <p:nvPr/>
        </p:nvSpPr>
        <p:spPr>
          <a:xfrm>
            <a:off x="6235284" y="3183283"/>
            <a:ext cx="163378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③ 실행 및 결과 통합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19CFA9-31C2-6C8A-B5E5-E0568944179B}"/>
              </a:ext>
            </a:extLst>
          </p:cNvPr>
          <p:cNvSpPr txBox="1"/>
          <p:nvPr/>
        </p:nvSpPr>
        <p:spPr>
          <a:xfrm>
            <a:off x="1749315" y="5798668"/>
            <a:ext cx="58503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가 탐색하고 선택할 수 있는 </a:t>
            </a:r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Tool/Skill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의 범위를 필요한 영역으로 제한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74BD65-2FBF-5283-B302-32E5FF30E0C5}"/>
              </a:ext>
            </a:extLst>
          </p:cNvPr>
          <p:cNvSpPr txBox="1"/>
          <p:nvPr/>
        </p:nvSpPr>
        <p:spPr>
          <a:xfrm>
            <a:off x="1198228" y="2559481"/>
            <a:ext cx="6766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질문 이해  →  기능 탐색  →  실행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계획 수립 →  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실행  →  결과 통합</a:t>
            </a:r>
          </a:p>
        </p:txBody>
      </p:sp>
    </p:spTree>
    <p:extLst>
      <p:ext uri="{BB962C8B-B14F-4D97-AF65-F5344CB8AC3E}">
        <p14:creationId xmlns:p14="http://schemas.microsoft.com/office/powerpoint/2010/main" val="182495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-04">
            <a:extLst>
              <a:ext uri="{FF2B5EF4-FFF2-40B4-BE49-F238E27FC236}">
                <a16:creationId xmlns:a16="http://schemas.microsoft.com/office/drawing/2014/main" id="{01DBBB1F-1F67-40E7-A486-683FE3F2E4D1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03. Tool 설계와 개발 방식</a:t>
            </a:r>
          </a:p>
        </p:txBody>
      </p:sp>
      <p:sp>
        <p:nvSpPr>
          <p:cNvPr id="2" name="page-04">
            <a:extLst>
              <a:ext uri="{FF2B5EF4-FFF2-40B4-BE49-F238E27FC236}">
                <a16:creationId xmlns:a16="http://schemas.microsoft.com/office/drawing/2014/main" id="{93400ED1-7D1E-4C95-B3EE-16177BC1282F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header-rule-04">
            <a:extLst>
              <a:ext uri="{FF2B5EF4-FFF2-40B4-BE49-F238E27FC236}">
                <a16:creationId xmlns:a16="http://schemas.microsoft.com/office/drawing/2014/main" id="{599B5CD0-AF89-4B47-8FDA-6FB05B3A0D76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implementation-title">
            <a:extLst>
              <a:ext uri="{FF2B5EF4-FFF2-40B4-BE49-F238E27FC236}">
                <a16:creationId xmlns:a16="http://schemas.microsoft.com/office/drawing/2014/main" id="{E64F4014-1180-4CB8-8BC6-C8235D7CFD8D}"/>
              </a:ext>
            </a:extLst>
          </p:cNvPr>
          <p:cNvSpPr>
            <a:spLocks/>
          </p:cNvSpPr>
          <p:nvPr/>
        </p:nvSpPr>
        <p:spPr>
          <a:xfrm>
            <a:off x="609600" y="9144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7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7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 책임은 Tool에, 구현 방식은 개발자에게</a:t>
            </a:r>
          </a:p>
        </p:txBody>
      </p:sp>
      <p:sp>
        <p:nvSpPr>
          <p:cNvPr id="5" name="implementation-subtitle">
            <a:extLst>
              <a:ext uri="{FF2B5EF4-FFF2-40B4-BE49-F238E27FC236}">
                <a16:creationId xmlns:a16="http://schemas.microsoft.com/office/drawing/2014/main" id="{EFCBCA04-DB8F-40CC-978C-7AB5A5B68C30}"/>
              </a:ext>
            </a:extLst>
          </p:cNvPr>
          <p:cNvSpPr>
            <a:spLocks/>
          </p:cNvSpPr>
          <p:nvPr/>
        </p:nvSpPr>
        <p:spPr>
          <a:xfrm>
            <a:off x="609600" y="148590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Tool 경계는 업무 특성으로 결정하고 플랫폼은 복잡도에 맞게 선택</a:t>
            </a:r>
          </a:p>
        </p:txBody>
      </p:sp>
      <p:sp>
        <p:nvSpPr>
          <p:cNvPr id="6" name="implementation-divider">
            <a:extLst>
              <a:ext uri="{FF2B5EF4-FFF2-40B4-BE49-F238E27FC236}">
                <a16:creationId xmlns:a16="http://schemas.microsoft.com/office/drawing/2014/main" id="{628FEE7F-86E7-4FDE-83E8-1CAB4A8C6264}"/>
              </a:ext>
            </a:extLst>
          </p:cNvPr>
          <p:cNvSpPr>
            <a:spLocks/>
          </p:cNvSpPr>
          <p:nvPr/>
        </p:nvSpPr>
        <p:spPr>
          <a:xfrm>
            <a:off x="6096000" y="2038350"/>
            <a:ext cx="9525" cy="329565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ool-spectrum-label">
            <a:extLst>
              <a:ext uri="{FF2B5EF4-FFF2-40B4-BE49-F238E27FC236}">
                <a16:creationId xmlns:a16="http://schemas.microsoft.com/office/drawing/2014/main" id="{A332D58D-0683-4912-BF96-3752DCDD8A96}"/>
              </a:ext>
            </a:extLst>
          </p:cNvPr>
          <p:cNvSpPr>
            <a:spLocks/>
          </p:cNvSpPr>
          <p:nvPr/>
        </p:nvSpPr>
        <p:spPr>
          <a:xfrm>
            <a:off x="609600" y="2076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TOOL RESPONSIBILITY</a:t>
            </a:r>
          </a:p>
        </p:txBody>
      </p:sp>
      <p:sp>
        <p:nvSpPr>
          <p:cNvPr id="8" name="tool-spectrum-title">
            <a:extLst>
              <a:ext uri="{FF2B5EF4-FFF2-40B4-BE49-F238E27FC236}">
                <a16:creationId xmlns:a16="http://schemas.microsoft.com/office/drawing/2014/main" id="{9EFD6503-0F74-4C49-9202-54673E59A4E4}"/>
              </a:ext>
            </a:extLst>
          </p:cNvPr>
          <p:cNvSpPr>
            <a:spLocks/>
          </p:cNvSpPr>
          <p:nvPr/>
        </p:nvSpPr>
        <p:spPr>
          <a:xfrm>
            <a:off x="609600" y="23622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 수보다 업무 책임 범위</a:t>
            </a:r>
          </a:p>
        </p:txBody>
      </p:sp>
      <p:sp>
        <p:nvSpPr>
          <p:cNvPr id="9" name="tool-axis">
            <a:extLst>
              <a:ext uri="{FF2B5EF4-FFF2-40B4-BE49-F238E27FC236}">
                <a16:creationId xmlns:a16="http://schemas.microsoft.com/office/drawing/2014/main" id="{FC954EB2-754F-4124-9E93-5FCA61EDA921}"/>
              </a:ext>
            </a:extLst>
          </p:cNvPr>
          <p:cNvSpPr>
            <a:spLocks/>
          </p:cNvSpPr>
          <p:nvPr/>
        </p:nvSpPr>
        <p:spPr>
          <a:xfrm>
            <a:off x="876300" y="3276600"/>
            <a:ext cx="4629150" cy="381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ool-axis-arrow">
            <a:extLst>
              <a:ext uri="{FF2B5EF4-FFF2-40B4-BE49-F238E27FC236}">
                <a16:creationId xmlns:a16="http://schemas.microsoft.com/office/drawing/2014/main" id="{FD341BE4-09BD-437B-B65B-3330377B94BC}"/>
              </a:ext>
            </a:extLst>
          </p:cNvPr>
          <p:cNvSpPr>
            <a:spLocks/>
          </p:cNvSpPr>
          <p:nvPr/>
        </p:nvSpPr>
        <p:spPr>
          <a:xfrm rot="5400000">
            <a:off x="5372100" y="3209925"/>
            <a:ext cx="171450" cy="171450"/>
          </a:xfrm>
          <a:prstGeom prst="triangle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unit-circle">
            <a:extLst>
              <a:ext uri="{FF2B5EF4-FFF2-40B4-BE49-F238E27FC236}">
                <a16:creationId xmlns:a16="http://schemas.microsoft.com/office/drawing/2014/main" id="{15E5F8F6-0BB9-4CE7-B813-16136A68140A}"/>
              </a:ext>
            </a:extLst>
          </p:cNvPr>
          <p:cNvSpPr>
            <a:spLocks/>
          </p:cNvSpPr>
          <p:nvPr/>
        </p:nvSpPr>
        <p:spPr>
          <a:xfrm>
            <a:off x="762000" y="2895600"/>
            <a:ext cx="781050" cy="781050"/>
          </a:xfrm>
          <a:prstGeom prst="ellipse">
            <a:avLst/>
          </a:prstGeom>
          <a:solidFill>
            <a:srgbClr val="E9E9E9"/>
          </a:solidFill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unit-circle-text">
            <a:extLst>
              <a:ext uri="{FF2B5EF4-FFF2-40B4-BE49-F238E27FC236}">
                <a16:creationId xmlns:a16="http://schemas.microsoft.com/office/drawing/2014/main" id="{56315B16-CA2A-417E-A058-8732B97615FE}"/>
              </a:ext>
            </a:extLst>
          </p:cNvPr>
          <p:cNvSpPr>
            <a:spLocks/>
          </p:cNvSpPr>
          <p:nvPr/>
        </p:nvSpPr>
        <p:spPr>
          <a:xfrm>
            <a:off x="914400" y="3048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단위</a:t>
            </a:r>
          </a:p>
        </p:txBody>
      </p:sp>
      <p:sp>
        <p:nvSpPr>
          <p:cNvPr id="13" name="integrated-circle">
            <a:extLst>
              <a:ext uri="{FF2B5EF4-FFF2-40B4-BE49-F238E27FC236}">
                <a16:creationId xmlns:a16="http://schemas.microsoft.com/office/drawing/2014/main" id="{E293BD50-3A23-4552-BD26-E0EEA924C28D}"/>
              </a:ext>
            </a:extLst>
          </p:cNvPr>
          <p:cNvSpPr>
            <a:spLocks/>
          </p:cNvSpPr>
          <p:nvPr/>
        </p:nvSpPr>
        <p:spPr>
          <a:xfrm>
            <a:off x="4914900" y="2895600"/>
            <a:ext cx="781050" cy="781050"/>
          </a:xfrm>
          <a:prstGeom prst="ellipse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integrated-circle-text">
            <a:extLst>
              <a:ext uri="{FF2B5EF4-FFF2-40B4-BE49-F238E27FC236}">
                <a16:creationId xmlns:a16="http://schemas.microsoft.com/office/drawing/2014/main" id="{E4B3B6EA-0A71-4429-8955-E63C9C6FDDFB}"/>
              </a:ext>
            </a:extLst>
          </p:cNvPr>
          <p:cNvSpPr>
            <a:spLocks/>
          </p:cNvSpPr>
          <p:nvPr/>
        </p:nvSpPr>
        <p:spPr>
          <a:xfrm>
            <a:off x="5067300" y="3048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</a:t>
            </a:r>
          </a:p>
        </p:txBody>
      </p:sp>
      <p:sp>
        <p:nvSpPr>
          <p:cNvPr id="15" name="unit-heading">
            <a:extLst>
              <a:ext uri="{FF2B5EF4-FFF2-40B4-BE49-F238E27FC236}">
                <a16:creationId xmlns:a16="http://schemas.microsoft.com/office/drawing/2014/main" id="{15762E33-738E-4EDD-B221-ED493AFC07F3}"/>
              </a:ext>
            </a:extLst>
          </p:cNvPr>
          <p:cNvSpPr>
            <a:spLocks/>
          </p:cNvSpPr>
          <p:nvPr/>
        </p:nvSpPr>
        <p:spPr>
          <a:xfrm>
            <a:off x="762000" y="3810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단위 기능 Tool</a:t>
            </a:r>
          </a:p>
        </p:txBody>
      </p:sp>
      <p:sp>
        <p:nvSpPr>
          <p:cNvPr id="16" name="unit-example">
            <a:extLst>
              <a:ext uri="{FF2B5EF4-FFF2-40B4-BE49-F238E27FC236}">
                <a16:creationId xmlns:a16="http://schemas.microsoft.com/office/drawing/2014/main" id="{4A7C78DE-68CB-4823-A2CC-743C3B3A6A9E}"/>
              </a:ext>
            </a:extLst>
          </p:cNvPr>
          <p:cNvSpPr>
            <a:spLocks/>
          </p:cNvSpPr>
          <p:nvPr/>
        </p:nvSpPr>
        <p:spPr>
          <a:xfrm>
            <a:off x="762000" y="4133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조회 · 계산 · 검증 · 변환</a:t>
            </a:r>
          </a:p>
        </p:txBody>
      </p:sp>
      <p:sp>
        <p:nvSpPr>
          <p:cNvPr id="17" name="unit-criteria">
            <a:extLst>
              <a:ext uri="{FF2B5EF4-FFF2-40B4-BE49-F238E27FC236}">
                <a16:creationId xmlns:a16="http://schemas.microsoft.com/office/drawing/2014/main" id="{4CB164B9-6D07-4868-9D98-3461FF7D44C2}"/>
              </a:ext>
            </a:extLst>
          </p:cNvPr>
          <p:cNvSpPr>
            <a:spLocks/>
          </p:cNvSpPr>
          <p:nvPr/>
        </p:nvSpPr>
        <p:spPr>
          <a:xfrm>
            <a:off x="762000" y="4457700"/>
            <a:ext cx="2247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독립 재사용 높음</a:t>
            </a:r>
          </a:p>
          <a:p>
            <a:pPr algn="l">
              <a:lnSpc>
                <a:spcPct val="115000"/>
              </a:lnSpc>
              <a:buNone/>
              <a:def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호출 순서·위험 단순</a:t>
            </a:r>
          </a:p>
        </p:txBody>
      </p:sp>
      <p:sp>
        <p:nvSpPr>
          <p:cNvPr id="18" name="integrated-heading">
            <a:extLst>
              <a:ext uri="{FF2B5EF4-FFF2-40B4-BE49-F238E27FC236}">
                <a16:creationId xmlns:a16="http://schemas.microsoft.com/office/drawing/2014/main" id="{1458F079-82FF-4639-8616-B828BF64FB6A}"/>
              </a:ext>
            </a:extLst>
          </p:cNvPr>
          <p:cNvSpPr>
            <a:spLocks/>
          </p:cNvSpPr>
          <p:nvPr/>
        </p:nvSpPr>
        <p:spPr>
          <a:xfrm>
            <a:off x="3105150" y="38100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통합형 Tool·Workflow</a:t>
            </a:r>
          </a:p>
        </p:txBody>
      </p:sp>
      <p:sp>
        <p:nvSpPr>
          <p:cNvPr id="19" name="integrated-example">
            <a:extLst>
              <a:ext uri="{FF2B5EF4-FFF2-40B4-BE49-F238E27FC236}">
                <a16:creationId xmlns:a16="http://schemas.microsoft.com/office/drawing/2014/main" id="{5B783627-C179-4B22-A2FD-522A60D137BC}"/>
              </a:ext>
            </a:extLst>
          </p:cNvPr>
          <p:cNvSpPr>
            <a:spLocks/>
          </p:cNvSpPr>
          <p:nvPr/>
        </p:nvSpPr>
        <p:spPr>
          <a:xfrm>
            <a:off x="2857500" y="4133850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검증 → 수집 → 분석 → 규칙 → 결과</a:t>
            </a:r>
          </a:p>
        </p:txBody>
      </p:sp>
      <p:sp>
        <p:nvSpPr>
          <p:cNvPr id="20" name="integrated-criteria">
            <a:extLst>
              <a:ext uri="{FF2B5EF4-FFF2-40B4-BE49-F238E27FC236}">
                <a16:creationId xmlns:a16="http://schemas.microsoft.com/office/drawing/2014/main" id="{FCBAD696-E6D6-4C8C-A33D-349444A8B650}"/>
              </a:ext>
            </a:extLst>
          </p:cNvPr>
          <p:cNvSpPr>
            <a:spLocks/>
          </p:cNvSpPr>
          <p:nvPr/>
        </p:nvSpPr>
        <p:spPr>
          <a:xfrm>
            <a:off x="3390900" y="445770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buNone/>
              <a:def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고정 순서·상태·예외 중요</a:t>
            </a:r>
          </a:p>
          <a:p>
            <a:pPr algn="r">
              <a:lnSpc>
                <a:spcPct val="115000"/>
              </a:lnSpc>
              <a:buNone/>
              <a:def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결과 일관성 책임 필요</a:t>
            </a:r>
          </a:p>
        </p:txBody>
      </p:sp>
      <p:sp>
        <p:nvSpPr>
          <p:cNvPr id="21" name="tool-warning">
            <a:extLst>
              <a:ext uri="{FF2B5EF4-FFF2-40B4-BE49-F238E27FC236}">
                <a16:creationId xmlns:a16="http://schemas.microsoft.com/office/drawing/2014/main" id="{FC5612E2-751D-4B38-A337-F3EF5AF072B2}"/>
              </a:ext>
            </a:extLst>
          </p:cNvPr>
          <p:cNvSpPr>
            <a:spLocks/>
          </p:cNvSpPr>
          <p:nvPr/>
        </p:nvSpPr>
        <p:spPr>
          <a:xfrm>
            <a:off x="609600" y="4953000"/>
            <a:ext cx="5086350" cy="55245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ool-warning-text">
            <a:extLst>
              <a:ext uri="{FF2B5EF4-FFF2-40B4-BE49-F238E27FC236}">
                <a16:creationId xmlns:a16="http://schemas.microsoft.com/office/drawing/2014/main" id="{0AC1F6EF-C493-4F9A-94A9-1C15503CBAB3}"/>
              </a:ext>
            </a:extLst>
          </p:cNvPr>
          <p:cNvSpPr>
            <a:spLocks/>
          </p:cNvSpPr>
          <p:nvPr/>
        </p:nvSpPr>
        <p:spPr>
          <a:xfrm>
            <a:off x="781050" y="5010150"/>
            <a:ext cx="4743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Skill은 Workflow·판단 기준 설명  |  Tool은 실제 실행 책임</a:t>
            </a:r>
          </a:p>
          <a:p>
            <a:pPr algn="ctr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과도한 세분화는 상태·권한·예외·실패 복구를 모델 추론에 전가</a:t>
            </a:r>
          </a:p>
        </p:txBody>
      </p:sp>
      <p:sp>
        <p:nvSpPr>
          <p:cNvPr id="23" name="dev-path-label">
            <a:extLst>
              <a:ext uri="{FF2B5EF4-FFF2-40B4-BE49-F238E27FC236}">
                <a16:creationId xmlns:a16="http://schemas.microsoft.com/office/drawing/2014/main" id="{748650BC-DEAB-4D0B-A7DA-5EE8DA4F23DE}"/>
              </a:ext>
            </a:extLst>
          </p:cNvPr>
          <p:cNvSpPr>
            <a:spLocks/>
          </p:cNvSpPr>
          <p:nvPr/>
        </p:nvSpPr>
        <p:spPr>
          <a:xfrm>
            <a:off x="6496050" y="2076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DEVELOPMENT PATH</a:t>
            </a:r>
          </a:p>
        </p:txBody>
      </p:sp>
      <p:sp>
        <p:nvSpPr>
          <p:cNvPr id="24" name="dev-path-title">
            <a:extLst>
              <a:ext uri="{FF2B5EF4-FFF2-40B4-BE49-F238E27FC236}">
                <a16:creationId xmlns:a16="http://schemas.microsoft.com/office/drawing/2014/main" id="{FE7DEA1F-CAFB-49BB-86B6-52A906A8311B}"/>
              </a:ext>
            </a:extLst>
          </p:cNvPr>
          <p:cNvSpPr>
            <a:spLocks/>
          </p:cNvSpPr>
          <p:nvPr/>
        </p:nvSpPr>
        <p:spPr>
          <a:xfrm>
            <a:off x="6496050" y="2362200"/>
            <a:ext cx="4876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복잡도와 운영 책임에 맞게 선택</a:t>
            </a:r>
          </a:p>
        </p:txBody>
      </p:sp>
      <p:sp>
        <p:nvSpPr>
          <p:cNvPr id="25" name="path-3">
            <a:extLst>
              <a:ext uri="{FF2B5EF4-FFF2-40B4-BE49-F238E27FC236}">
                <a16:creationId xmlns:a16="http://schemas.microsoft.com/office/drawing/2014/main" id="{30B12189-D059-4B90-9508-6AD1E9C7E2B0}"/>
              </a:ext>
            </a:extLst>
          </p:cNvPr>
          <p:cNvSpPr>
            <a:spLocks/>
          </p:cNvSpPr>
          <p:nvPr/>
        </p:nvSpPr>
        <p:spPr>
          <a:xfrm>
            <a:off x="7734300" y="2781300"/>
            <a:ext cx="3848100" cy="7239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path-3-title">
            <a:extLst>
              <a:ext uri="{FF2B5EF4-FFF2-40B4-BE49-F238E27FC236}">
                <a16:creationId xmlns:a16="http://schemas.microsoft.com/office/drawing/2014/main" id="{1829CA19-9A21-44AF-9BBD-9675CCF1A22E}"/>
              </a:ext>
            </a:extLst>
          </p:cNvPr>
          <p:cNvSpPr>
            <a:spLocks/>
          </p:cNvSpPr>
          <p:nvPr/>
        </p:nvSpPr>
        <p:spPr>
          <a:xfrm>
            <a:off x="7943850" y="28956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  Code · MCP</a:t>
            </a:r>
          </a:p>
        </p:txBody>
      </p:sp>
      <p:sp>
        <p:nvSpPr>
          <p:cNvPr id="27" name="path-3-body">
            <a:extLst>
              <a:ext uri="{FF2B5EF4-FFF2-40B4-BE49-F238E27FC236}">
                <a16:creationId xmlns:a16="http://schemas.microsoft.com/office/drawing/2014/main" id="{FBCFDB31-7FDF-434D-A4F3-05C75AD416F4}"/>
              </a:ext>
            </a:extLst>
          </p:cNvPr>
          <p:cNvSpPr>
            <a:spLocks/>
          </p:cNvSpPr>
          <p:nvPr/>
        </p:nvSpPr>
        <p:spPr>
          <a:xfrm>
            <a:off x="9696450" y="2895600"/>
            <a:ext cx="1676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복잡한 로직 · 대용량 · 상태 · 성능 · CI/CD</a:t>
            </a:r>
          </a:p>
        </p:txBody>
      </p:sp>
      <p:sp>
        <p:nvSpPr>
          <p:cNvPr id="28" name="path-2">
            <a:extLst>
              <a:ext uri="{FF2B5EF4-FFF2-40B4-BE49-F238E27FC236}">
                <a16:creationId xmlns:a16="http://schemas.microsoft.com/office/drawing/2014/main" id="{250C7EA5-A8AA-4CF1-B6AD-898D7C6E87F9}"/>
              </a:ext>
            </a:extLst>
          </p:cNvPr>
          <p:cNvSpPr>
            <a:spLocks/>
          </p:cNvSpPr>
          <p:nvPr/>
        </p:nvSpPr>
        <p:spPr>
          <a:xfrm>
            <a:off x="7124700" y="3638550"/>
            <a:ext cx="4457700" cy="723900"/>
          </a:xfrm>
          <a:prstGeom prst="rect">
            <a:avLst/>
          </a:prstGeom>
          <a:solidFill>
            <a:srgbClr val="B8B8B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path-2-title">
            <a:extLst>
              <a:ext uri="{FF2B5EF4-FFF2-40B4-BE49-F238E27FC236}">
                <a16:creationId xmlns:a16="http://schemas.microsoft.com/office/drawing/2014/main" id="{AE726D37-694D-41BA-9F45-3002BEB1E398}"/>
              </a:ext>
            </a:extLst>
          </p:cNvPr>
          <p:cNvSpPr>
            <a:spLocks/>
          </p:cNvSpPr>
          <p:nvPr/>
        </p:nvSpPr>
        <p:spPr>
          <a:xfrm>
            <a:off x="7334250" y="3752850"/>
            <a:ext cx="2324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02  Langflow + Custom</a:t>
            </a:r>
          </a:p>
        </p:txBody>
      </p:sp>
      <p:sp>
        <p:nvSpPr>
          <p:cNvPr id="30" name="path-2-body">
            <a:extLst>
              <a:ext uri="{FF2B5EF4-FFF2-40B4-BE49-F238E27FC236}">
                <a16:creationId xmlns:a16="http://schemas.microsoft.com/office/drawing/2014/main" id="{8AAD2B4D-0FA9-400F-932D-C2EA723D6C62}"/>
              </a:ext>
            </a:extLst>
          </p:cNvPr>
          <p:cNvSpPr>
            <a:spLocks/>
          </p:cNvSpPr>
          <p:nvPr/>
        </p:nvSpPr>
        <p:spPr>
          <a:xfrm>
            <a:off x="9620250" y="375285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시각적 Flow + 특수 로직·기존 코드 결합</a:t>
            </a:r>
          </a:p>
        </p:txBody>
      </p:sp>
      <p:sp>
        <p:nvSpPr>
          <p:cNvPr id="31" name="path-1">
            <a:extLst>
              <a:ext uri="{FF2B5EF4-FFF2-40B4-BE49-F238E27FC236}">
                <a16:creationId xmlns:a16="http://schemas.microsoft.com/office/drawing/2014/main" id="{81650439-20BE-475F-B992-7BE1CDDF015F}"/>
              </a:ext>
            </a:extLst>
          </p:cNvPr>
          <p:cNvSpPr>
            <a:spLocks/>
          </p:cNvSpPr>
          <p:nvPr/>
        </p:nvSpPr>
        <p:spPr>
          <a:xfrm>
            <a:off x="6496050" y="4495800"/>
            <a:ext cx="5086350" cy="723900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path-1-title">
            <a:extLst>
              <a:ext uri="{FF2B5EF4-FFF2-40B4-BE49-F238E27FC236}">
                <a16:creationId xmlns:a16="http://schemas.microsoft.com/office/drawing/2014/main" id="{9CEFDD22-3B25-4137-B7F6-EE6BE343520E}"/>
              </a:ext>
            </a:extLst>
          </p:cNvPr>
          <p:cNvSpPr>
            <a:spLocks/>
          </p:cNvSpPr>
          <p:nvPr/>
        </p:nvSpPr>
        <p:spPr>
          <a:xfrm>
            <a:off x="6705600" y="4610100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01  Langflow</a:t>
            </a:r>
          </a:p>
        </p:txBody>
      </p:sp>
      <p:sp>
        <p:nvSpPr>
          <p:cNvPr id="33" name="path-1-body">
            <a:extLst>
              <a:ext uri="{FF2B5EF4-FFF2-40B4-BE49-F238E27FC236}">
                <a16:creationId xmlns:a16="http://schemas.microsoft.com/office/drawing/2014/main" id="{2AE24FC8-D24B-4083-94D4-63826DF647E7}"/>
              </a:ext>
            </a:extLst>
          </p:cNvPr>
          <p:cNvSpPr>
            <a:spLocks/>
          </p:cNvSpPr>
          <p:nvPr/>
        </p:nvSpPr>
        <p:spPr>
          <a:xfrm>
            <a:off x="8610600" y="46101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빠른 개발 · 공유 · 현업 실험</a:t>
            </a:r>
          </a:p>
        </p:txBody>
      </p:sp>
      <p:sp>
        <p:nvSpPr>
          <p:cNvPr id="34" name="common-edge">
            <a:extLst>
              <a:ext uri="{FF2B5EF4-FFF2-40B4-BE49-F238E27FC236}">
                <a16:creationId xmlns:a16="http://schemas.microsoft.com/office/drawing/2014/main" id="{0FD9BE4A-C08E-4DB7-8D9E-C3F85379046C}"/>
              </a:ext>
            </a:extLst>
          </p:cNvPr>
          <p:cNvSpPr>
            <a:spLocks/>
          </p:cNvSpPr>
          <p:nvPr/>
        </p:nvSpPr>
        <p:spPr>
          <a:xfrm>
            <a:off x="609600" y="5715000"/>
            <a:ext cx="10972800" cy="5524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ommon-edge-title">
            <a:extLst>
              <a:ext uri="{FF2B5EF4-FFF2-40B4-BE49-F238E27FC236}">
                <a16:creationId xmlns:a16="http://schemas.microsoft.com/office/drawing/2014/main" id="{8A402948-8062-42EF-AE30-89CEE3D1F6E5}"/>
              </a:ext>
            </a:extLst>
          </p:cNvPr>
          <p:cNvSpPr>
            <a:spLocks/>
          </p:cNvSpPr>
          <p:nvPr/>
        </p:nvSpPr>
        <p:spPr>
          <a:xfrm>
            <a:off x="838200" y="5791200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연결 경계</a:t>
            </a:r>
          </a:p>
        </p:txBody>
      </p:sp>
      <p:sp>
        <p:nvSpPr>
          <p:cNvPr id="36" name="common-edge-items">
            <a:extLst>
              <a:ext uri="{FF2B5EF4-FFF2-40B4-BE49-F238E27FC236}">
                <a16:creationId xmlns:a16="http://schemas.microsoft.com/office/drawing/2014/main" id="{9E76BC53-7615-485F-873E-C816F65259ED}"/>
              </a:ext>
            </a:extLst>
          </p:cNvPr>
          <p:cNvSpPr>
            <a:spLocks/>
          </p:cNvSpPr>
          <p:nvPr/>
        </p:nvSpPr>
        <p:spPr>
          <a:xfrm>
            <a:off x="3143250" y="579120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MCP/동등 호출  |  기능 설명·고유 ID  |  입력  |  상태·요약·상세  |  오류·경고·추적</a:t>
            </a:r>
          </a:p>
        </p:txBody>
      </p:sp>
      <p:pic>
        <p:nvPicPr>
          <p:cNvPr id="76" name="그림 7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59697" y="2057400"/>
            <a:ext cx="435807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6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-A1">
            <a:extLst>
              <a:ext uri="{FF2B5EF4-FFF2-40B4-BE49-F238E27FC236}">
                <a16:creationId xmlns:a16="http://schemas.microsoft.com/office/drawing/2014/main" id="{437CEDA6-C305-4149-ADD1-827CF873C4DE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 01. 구성요소의 역할</a:t>
            </a:r>
          </a:p>
        </p:txBody>
      </p:sp>
      <p:sp>
        <p:nvSpPr>
          <p:cNvPr id="2" name="page-A1">
            <a:extLst>
              <a:ext uri="{FF2B5EF4-FFF2-40B4-BE49-F238E27FC236}">
                <a16:creationId xmlns:a16="http://schemas.microsoft.com/office/drawing/2014/main" id="{4173C465-EAF5-47BF-9187-DFEE42AC837A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A1</a:t>
            </a:r>
          </a:p>
        </p:txBody>
      </p:sp>
      <p:sp>
        <p:nvSpPr>
          <p:cNvPr id="3" name="header-rule-A1">
            <a:extLst>
              <a:ext uri="{FF2B5EF4-FFF2-40B4-BE49-F238E27FC236}">
                <a16:creationId xmlns:a16="http://schemas.microsoft.com/office/drawing/2014/main" id="{A702A467-93D2-464A-A7A8-E6E1082C2817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roles-title">
            <a:extLst>
              <a:ext uri="{FF2B5EF4-FFF2-40B4-BE49-F238E27FC236}">
                <a16:creationId xmlns:a16="http://schemas.microsoft.com/office/drawing/2014/main" id="{54AD4434-BB07-E455-B96E-1A4A48CC77B6}"/>
              </a:ext>
            </a:extLst>
          </p:cNvPr>
          <p:cNvSpPr>
            <a:spLocks/>
          </p:cNvSpPr>
          <p:nvPr/>
        </p:nvSpPr>
        <p:spPr>
          <a:xfrm>
            <a:off x="609600" y="962025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통합 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Agent</a:t>
            </a:r>
            <a:r>
              <a:rPr lang="ko-KR" altLang="en-US"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구성</a:t>
            </a:r>
            <a:r>
              <a:rPr lang="en-US"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요소는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정보·조정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주체·실행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책임’으로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구분</a:t>
            </a:r>
            <a:endParaRPr sz="20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roles-subtitle">
            <a:extLst>
              <a:ext uri="{FF2B5EF4-FFF2-40B4-BE49-F238E27FC236}">
                <a16:creationId xmlns:a16="http://schemas.microsoft.com/office/drawing/2014/main" id="{B37501E8-A72E-DC27-3B8F-D7D56C766E20}"/>
              </a:ext>
            </a:extLst>
          </p:cNvPr>
          <p:cNvSpPr>
            <a:spLocks/>
          </p:cNvSpPr>
          <p:nvPr/>
        </p:nvSpPr>
        <p:spPr>
          <a:xfrm>
            <a:off x="609600" y="1381125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요소가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계층이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복잡도에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역할만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조합</a:t>
            </a:r>
            <a:endParaRPr sz="16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" name="roles-label">
            <a:extLst>
              <a:ext uri="{FF2B5EF4-FFF2-40B4-BE49-F238E27FC236}">
                <a16:creationId xmlns:a16="http://schemas.microsoft.com/office/drawing/2014/main" id="{9E634FA0-9988-8C13-F5C6-897FCB013A79}"/>
              </a:ext>
            </a:extLst>
          </p:cNvPr>
          <p:cNvSpPr>
            <a:spLocks/>
          </p:cNvSpPr>
          <p:nvPr/>
        </p:nvSpPr>
        <p:spPr>
          <a:xfrm>
            <a:off x="609600" y="1849467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구성요소</a:t>
            </a:r>
            <a:r>
              <a:rPr lang="en-US"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항목별 설명 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]</a:t>
            </a:r>
          </a:p>
        </p:txBody>
      </p:sp>
      <p:sp>
        <p:nvSpPr>
          <p:cNvPr id="45" name="roles-header">
            <a:extLst>
              <a:ext uri="{FF2B5EF4-FFF2-40B4-BE49-F238E27FC236}">
                <a16:creationId xmlns:a16="http://schemas.microsoft.com/office/drawing/2014/main" id="{4603865D-B6B6-A1DB-1BB5-3257B3BAE72B}"/>
              </a:ext>
            </a:extLst>
          </p:cNvPr>
          <p:cNvSpPr>
            <a:spLocks/>
          </p:cNvSpPr>
          <p:nvPr/>
        </p:nvSpPr>
        <p:spPr>
          <a:xfrm>
            <a:off x="609600" y="2144742"/>
            <a:ext cx="10972800" cy="3238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47" name="roles-header-term">
            <a:extLst>
              <a:ext uri="{FF2B5EF4-FFF2-40B4-BE49-F238E27FC236}">
                <a16:creationId xmlns:a16="http://schemas.microsoft.com/office/drawing/2014/main" id="{665C0021-1B90-E9C7-5DE2-EC9C5CD9BF0A}"/>
              </a:ext>
            </a:extLst>
          </p:cNvPr>
          <p:cNvSpPr>
            <a:spLocks/>
          </p:cNvSpPr>
          <p:nvPr/>
        </p:nvSpPr>
        <p:spPr>
          <a:xfrm>
            <a:off x="762000" y="2173317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49" name="roles-header-easy">
            <a:extLst>
              <a:ext uri="{FF2B5EF4-FFF2-40B4-BE49-F238E27FC236}">
                <a16:creationId xmlns:a16="http://schemas.microsoft.com/office/drawing/2014/main" id="{8F5C4FAF-6BE3-A4E5-550B-8041CE4FEE07}"/>
              </a:ext>
            </a:extLst>
          </p:cNvPr>
          <p:cNvSpPr>
            <a:spLocks/>
          </p:cNvSpPr>
          <p:nvPr/>
        </p:nvSpPr>
        <p:spPr>
          <a:xfrm>
            <a:off x="2533650" y="2173317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 구분</a:t>
            </a:r>
            <a:endParaRPr sz="1163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roles-header-role">
            <a:extLst>
              <a:ext uri="{FF2B5EF4-FFF2-40B4-BE49-F238E27FC236}">
                <a16:creationId xmlns:a16="http://schemas.microsoft.com/office/drawing/2014/main" id="{8D72601F-381C-5B3B-3193-1E260EE81D9A}"/>
              </a:ext>
            </a:extLst>
          </p:cNvPr>
          <p:cNvSpPr>
            <a:spLocks/>
          </p:cNvSpPr>
          <p:nvPr/>
        </p:nvSpPr>
        <p:spPr>
          <a:xfrm>
            <a:off x="4933950" y="2173317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설명</a:t>
            </a:r>
            <a:endParaRPr sz="1163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3" name="roles-col-1">
            <a:extLst>
              <a:ext uri="{FF2B5EF4-FFF2-40B4-BE49-F238E27FC236}">
                <a16:creationId xmlns:a16="http://schemas.microsoft.com/office/drawing/2014/main" id="{1E8677F5-2630-593F-AACE-9BC428B35075}"/>
              </a:ext>
            </a:extLst>
          </p:cNvPr>
          <p:cNvSpPr>
            <a:spLocks/>
          </p:cNvSpPr>
          <p:nvPr/>
        </p:nvSpPr>
        <p:spPr>
          <a:xfrm>
            <a:off x="2381250" y="2144742"/>
            <a:ext cx="9525" cy="356235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65" name="roles-col-2">
            <a:extLst>
              <a:ext uri="{FF2B5EF4-FFF2-40B4-BE49-F238E27FC236}">
                <a16:creationId xmlns:a16="http://schemas.microsoft.com/office/drawing/2014/main" id="{8E5B079E-2969-C0DA-C50C-35E874D02A2E}"/>
              </a:ext>
            </a:extLst>
          </p:cNvPr>
          <p:cNvSpPr>
            <a:spLocks/>
          </p:cNvSpPr>
          <p:nvPr/>
        </p:nvSpPr>
        <p:spPr>
          <a:xfrm>
            <a:off x="4762500" y="2144742"/>
            <a:ext cx="9525" cy="356235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67" name="roles-row-rule-0">
            <a:extLst>
              <a:ext uri="{FF2B5EF4-FFF2-40B4-BE49-F238E27FC236}">
                <a16:creationId xmlns:a16="http://schemas.microsoft.com/office/drawing/2014/main" id="{E53AE054-0F96-CC98-317E-1C753B03FD32}"/>
              </a:ext>
            </a:extLst>
          </p:cNvPr>
          <p:cNvSpPr>
            <a:spLocks/>
          </p:cNvSpPr>
          <p:nvPr/>
        </p:nvSpPr>
        <p:spPr>
          <a:xfrm>
            <a:off x="609600" y="3108672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69" name="roles-row-rule-1">
            <a:extLst>
              <a:ext uri="{FF2B5EF4-FFF2-40B4-BE49-F238E27FC236}">
                <a16:creationId xmlns:a16="http://schemas.microsoft.com/office/drawing/2014/main" id="{538B3349-CA62-3F69-D0C7-C48A024A4304}"/>
              </a:ext>
            </a:extLst>
          </p:cNvPr>
          <p:cNvSpPr>
            <a:spLocks/>
          </p:cNvSpPr>
          <p:nvPr/>
        </p:nvSpPr>
        <p:spPr>
          <a:xfrm>
            <a:off x="609600" y="3758277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71" name="roles-row-rule-2">
            <a:extLst>
              <a:ext uri="{FF2B5EF4-FFF2-40B4-BE49-F238E27FC236}">
                <a16:creationId xmlns:a16="http://schemas.microsoft.com/office/drawing/2014/main" id="{AE5B4AF2-27F6-DE02-5E8E-241E850AB864}"/>
              </a:ext>
            </a:extLst>
          </p:cNvPr>
          <p:cNvSpPr>
            <a:spLocks/>
          </p:cNvSpPr>
          <p:nvPr/>
        </p:nvSpPr>
        <p:spPr>
          <a:xfrm>
            <a:off x="609600" y="4407882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73" name="roles-row-rule-3">
            <a:extLst>
              <a:ext uri="{FF2B5EF4-FFF2-40B4-BE49-F238E27FC236}">
                <a16:creationId xmlns:a16="http://schemas.microsoft.com/office/drawing/2014/main" id="{A50FB356-8C8F-A803-CE83-B3432002186D}"/>
              </a:ext>
            </a:extLst>
          </p:cNvPr>
          <p:cNvSpPr>
            <a:spLocks/>
          </p:cNvSpPr>
          <p:nvPr/>
        </p:nvSpPr>
        <p:spPr>
          <a:xfrm>
            <a:off x="609600" y="5057487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76" name="roles-row-rule-4">
            <a:extLst>
              <a:ext uri="{FF2B5EF4-FFF2-40B4-BE49-F238E27FC236}">
                <a16:creationId xmlns:a16="http://schemas.microsoft.com/office/drawing/2014/main" id="{38529DD1-0502-8D0F-112B-757CDFE81A8C}"/>
              </a:ext>
            </a:extLst>
          </p:cNvPr>
          <p:cNvSpPr>
            <a:spLocks/>
          </p:cNvSpPr>
          <p:nvPr/>
        </p:nvSpPr>
        <p:spPr>
          <a:xfrm>
            <a:off x="609600" y="5707092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78" name="skill-num">
            <a:extLst>
              <a:ext uri="{FF2B5EF4-FFF2-40B4-BE49-F238E27FC236}">
                <a16:creationId xmlns:a16="http://schemas.microsoft.com/office/drawing/2014/main" id="{299C84DF-B89F-FD72-77F4-A22934629385}"/>
              </a:ext>
            </a:extLst>
          </p:cNvPr>
          <p:cNvSpPr>
            <a:spLocks/>
          </p:cNvSpPr>
          <p:nvPr/>
        </p:nvSpPr>
        <p:spPr>
          <a:xfrm>
            <a:off x="762000" y="263709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0" name="skill-term">
            <a:extLst>
              <a:ext uri="{FF2B5EF4-FFF2-40B4-BE49-F238E27FC236}">
                <a16:creationId xmlns:a16="http://schemas.microsoft.com/office/drawing/2014/main" id="{2ADDDD42-FA30-F934-07E1-4AD4D667CDDA}"/>
              </a:ext>
            </a:extLst>
          </p:cNvPr>
          <p:cNvSpPr>
            <a:spLocks/>
          </p:cNvSpPr>
          <p:nvPr/>
        </p:nvSpPr>
        <p:spPr>
          <a:xfrm>
            <a:off x="1162050" y="2618611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82" name="skill-easy">
            <a:extLst>
              <a:ext uri="{FF2B5EF4-FFF2-40B4-BE49-F238E27FC236}">
                <a16:creationId xmlns:a16="http://schemas.microsoft.com/office/drawing/2014/main" id="{12D8D693-D6B1-BB10-6F53-88188178A4ED}"/>
              </a:ext>
            </a:extLst>
          </p:cNvPr>
          <p:cNvSpPr>
            <a:spLocks/>
          </p:cNvSpPr>
          <p:nvPr/>
        </p:nvSpPr>
        <p:spPr>
          <a:xfrm>
            <a:off x="2533650" y="2614486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절차서</a:t>
            </a:r>
            <a:endParaRPr sz="135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4" name="skill-role">
            <a:extLst>
              <a:ext uri="{FF2B5EF4-FFF2-40B4-BE49-F238E27FC236}">
                <a16:creationId xmlns:a16="http://schemas.microsoft.com/office/drawing/2014/main" id="{754BF3BF-AEF5-B1AC-B6D6-62976E32D345}"/>
              </a:ext>
            </a:extLst>
          </p:cNvPr>
          <p:cNvSpPr>
            <a:spLocks/>
          </p:cNvSpPr>
          <p:nvPr/>
        </p:nvSpPr>
        <p:spPr>
          <a:xfrm>
            <a:off x="4933950" y="2540029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특정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작업의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Workflow</a:t>
            </a:r>
            <a:r>
              <a:rPr 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주의사항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에 대한</a:t>
            </a:r>
            <a:r>
              <a:rPr lang="ko-KR" altLang="en-US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설명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Agent가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참고하는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정보이며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주체는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아님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6" name="meta-num">
            <a:extLst>
              <a:ext uri="{FF2B5EF4-FFF2-40B4-BE49-F238E27FC236}">
                <a16:creationId xmlns:a16="http://schemas.microsoft.com/office/drawing/2014/main" id="{041D8410-3AE0-E505-155F-F1147DE4F421}"/>
              </a:ext>
            </a:extLst>
          </p:cNvPr>
          <p:cNvSpPr>
            <a:spLocks/>
          </p:cNvSpPr>
          <p:nvPr/>
        </p:nvSpPr>
        <p:spPr>
          <a:xfrm>
            <a:off x="762000" y="329263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sz="14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8" name="meta-term">
            <a:extLst>
              <a:ext uri="{FF2B5EF4-FFF2-40B4-BE49-F238E27FC236}">
                <a16:creationId xmlns:a16="http://schemas.microsoft.com/office/drawing/2014/main" id="{608FC1C9-CB0D-0018-946D-3CA57B5F69D4}"/>
              </a:ext>
            </a:extLst>
          </p:cNvPr>
          <p:cNvSpPr>
            <a:spLocks/>
          </p:cNvSpPr>
          <p:nvPr/>
        </p:nvSpPr>
        <p:spPr>
          <a:xfrm>
            <a:off x="1085850" y="3272215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Metadata</a:t>
            </a:r>
          </a:p>
        </p:txBody>
      </p:sp>
      <p:sp>
        <p:nvSpPr>
          <p:cNvPr id="90" name="meta-easy">
            <a:extLst>
              <a:ext uri="{FF2B5EF4-FFF2-40B4-BE49-F238E27FC236}">
                <a16:creationId xmlns:a16="http://schemas.microsoft.com/office/drawing/2014/main" id="{05BDBDD9-CDBF-FA67-DD10-2062E47ED417}"/>
              </a:ext>
            </a:extLst>
          </p:cNvPr>
          <p:cNvSpPr>
            <a:spLocks/>
          </p:cNvSpPr>
          <p:nvPr/>
        </p:nvSpPr>
        <p:spPr>
          <a:xfrm>
            <a:off x="2533650" y="3291552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3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안내</a:t>
            </a:r>
            <a:r>
              <a:rPr lang="ko-KR" altLang="en-US" sz="13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서</a:t>
            </a:r>
            <a:endParaRPr sz="135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2" name="meta-role">
            <a:extLst>
              <a:ext uri="{FF2B5EF4-FFF2-40B4-BE49-F238E27FC236}">
                <a16:creationId xmlns:a16="http://schemas.microsoft.com/office/drawing/2014/main" id="{9FF0CC91-A25B-DA2A-9A3F-19C473C836C0}"/>
              </a:ext>
            </a:extLst>
          </p:cNvPr>
          <p:cNvSpPr>
            <a:spLocks/>
          </p:cNvSpPr>
          <p:nvPr/>
        </p:nvSpPr>
        <p:spPr>
          <a:xfrm>
            <a:off x="4953000" y="3172490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설명</a:t>
            </a:r>
            <a:r>
              <a:rPr lang="en-US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영역</a:t>
            </a:r>
            <a:r>
              <a:rPr 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입출력</a:t>
            </a:r>
            <a:r>
              <a:rPr lang="en-US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제공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Main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Agent가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Tool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후보를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찾고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비교하는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4" name="main-num">
            <a:extLst>
              <a:ext uri="{FF2B5EF4-FFF2-40B4-BE49-F238E27FC236}">
                <a16:creationId xmlns:a16="http://schemas.microsoft.com/office/drawing/2014/main" id="{86BA22B3-B8C8-FE0E-5B63-88AEB0DF21A7}"/>
              </a:ext>
            </a:extLst>
          </p:cNvPr>
          <p:cNvSpPr>
            <a:spLocks/>
          </p:cNvSpPr>
          <p:nvPr/>
        </p:nvSpPr>
        <p:spPr>
          <a:xfrm>
            <a:off x="762000" y="394816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B3B3B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96" name="main-term">
            <a:extLst>
              <a:ext uri="{FF2B5EF4-FFF2-40B4-BE49-F238E27FC236}">
                <a16:creationId xmlns:a16="http://schemas.microsoft.com/office/drawing/2014/main" id="{FD941CA4-36FD-CBB6-C500-6067FECFC5BE}"/>
              </a:ext>
            </a:extLst>
          </p:cNvPr>
          <p:cNvSpPr>
            <a:spLocks/>
          </p:cNvSpPr>
          <p:nvPr/>
        </p:nvSpPr>
        <p:spPr>
          <a:xfrm>
            <a:off x="1085850" y="3896390"/>
            <a:ext cx="120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98" name="main-easy">
            <a:extLst>
              <a:ext uri="{FF2B5EF4-FFF2-40B4-BE49-F238E27FC236}">
                <a16:creationId xmlns:a16="http://schemas.microsoft.com/office/drawing/2014/main" id="{68D3A46A-AB3E-4955-EB10-1061616B82EB}"/>
              </a:ext>
            </a:extLst>
          </p:cNvPr>
          <p:cNvSpPr>
            <a:spLocks/>
          </p:cNvSpPr>
          <p:nvPr/>
        </p:nvSpPr>
        <p:spPr>
          <a:xfrm>
            <a:off x="2533650" y="3857337"/>
            <a:ext cx="2057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 관리자</a:t>
            </a:r>
            <a:endParaRPr sz="142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" name="main-role">
            <a:extLst>
              <a:ext uri="{FF2B5EF4-FFF2-40B4-BE49-F238E27FC236}">
                <a16:creationId xmlns:a16="http://schemas.microsoft.com/office/drawing/2014/main" id="{CF93A840-D17C-461C-E415-970786D7875D}"/>
              </a:ext>
            </a:extLst>
          </p:cNvPr>
          <p:cNvSpPr>
            <a:spLocks/>
          </p:cNvSpPr>
          <p:nvPr/>
        </p:nvSpPr>
        <p:spPr>
          <a:xfrm>
            <a:off x="4933950" y="3770660"/>
            <a:ext cx="647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이해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실행계획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수립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검토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통합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Agent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Engine의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실제 실행을 위한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역할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2" name="tool-num">
            <a:extLst>
              <a:ext uri="{FF2B5EF4-FFF2-40B4-BE49-F238E27FC236}">
                <a16:creationId xmlns:a16="http://schemas.microsoft.com/office/drawing/2014/main" id="{BAFA7B61-64B9-6479-5EC4-16298DC47793}"/>
              </a:ext>
            </a:extLst>
          </p:cNvPr>
          <p:cNvSpPr>
            <a:spLocks/>
          </p:cNvSpPr>
          <p:nvPr/>
        </p:nvSpPr>
        <p:spPr>
          <a:xfrm>
            <a:off x="762000" y="460370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B3B3B3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04" name="tool-term">
            <a:extLst>
              <a:ext uri="{FF2B5EF4-FFF2-40B4-BE49-F238E27FC236}">
                <a16:creationId xmlns:a16="http://schemas.microsoft.com/office/drawing/2014/main" id="{679A028A-A18C-2F3A-59C3-DEF790C87941}"/>
              </a:ext>
            </a:extLst>
          </p:cNvPr>
          <p:cNvSpPr>
            <a:spLocks/>
          </p:cNvSpPr>
          <p:nvPr/>
        </p:nvSpPr>
        <p:spPr>
          <a:xfrm>
            <a:off x="1085850" y="4533126"/>
            <a:ext cx="125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 </a:t>
            </a: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06" name="tool-easy">
            <a:extLst>
              <a:ext uri="{FF2B5EF4-FFF2-40B4-BE49-F238E27FC236}">
                <a16:creationId xmlns:a16="http://schemas.microsoft.com/office/drawing/2014/main" id="{0AD7F5BE-EA63-F3A3-9969-7153AF412B7B}"/>
              </a:ext>
            </a:extLst>
          </p:cNvPr>
          <p:cNvSpPr>
            <a:spLocks/>
          </p:cNvSpPr>
          <p:nvPr/>
        </p:nvSpPr>
        <p:spPr>
          <a:xfrm>
            <a:off x="2533650" y="4531707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실무</a:t>
            </a:r>
            <a:r>
              <a:rPr sz="14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실행자</a:t>
            </a:r>
            <a:endParaRPr sz="142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tool-role">
            <a:extLst>
              <a:ext uri="{FF2B5EF4-FFF2-40B4-BE49-F238E27FC236}">
                <a16:creationId xmlns:a16="http://schemas.microsoft.com/office/drawing/2014/main" id="{465A617E-7778-4CF2-F0B2-7E5A54FD4A6E}"/>
              </a:ext>
            </a:extLst>
          </p:cNvPr>
          <p:cNvSpPr>
            <a:spLocks/>
          </p:cNvSpPr>
          <p:nvPr/>
        </p:nvSpPr>
        <p:spPr>
          <a:xfrm>
            <a:off x="4933949" y="4491702"/>
            <a:ext cx="5808813" cy="501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실제 업무를 바탕으로 만들어진 업무 단위 </a:t>
            </a:r>
            <a:r>
              <a:rPr lang="en-US" altLang="ko-KR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or Flow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단위 기능으로 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실제 업무를 수행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0" name="sub-num">
            <a:extLst>
              <a:ext uri="{FF2B5EF4-FFF2-40B4-BE49-F238E27FC236}">
                <a16:creationId xmlns:a16="http://schemas.microsoft.com/office/drawing/2014/main" id="{A080007D-00C8-E4D7-ACF3-CD1E8C5D89CE}"/>
              </a:ext>
            </a:extLst>
          </p:cNvPr>
          <p:cNvSpPr>
            <a:spLocks/>
          </p:cNvSpPr>
          <p:nvPr/>
        </p:nvSpPr>
        <p:spPr>
          <a:xfrm>
            <a:off x="762000" y="5259237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12" name="sub-term">
            <a:extLst>
              <a:ext uri="{FF2B5EF4-FFF2-40B4-BE49-F238E27FC236}">
                <a16:creationId xmlns:a16="http://schemas.microsoft.com/office/drawing/2014/main" id="{D97647E6-D34E-6AA0-4596-58497F3EC988}"/>
              </a:ext>
            </a:extLst>
          </p:cNvPr>
          <p:cNvSpPr>
            <a:spLocks/>
          </p:cNvSpPr>
          <p:nvPr/>
        </p:nvSpPr>
        <p:spPr>
          <a:xfrm>
            <a:off x="1123950" y="5211612"/>
            <a:ext cx="106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</a:t>
            </a:r>
          </a:p>
        </p:txBody>
      </p:sp>
      <p:sp>
        <p:nvSpPr>
          <p:cNvPr id="114" name="sub-easy">
            <a:extLst>
              <a:ext uri="{FF2B5EF4-FFF2-40B4-BE49-F238E27FC236}">
                <a16:creationId xmlns:a16="http://schemas.microsoft.com/office/drawing/2014/main" id="{145A41FE-3D4D-80BA-AFAD-9C2D9E28664E}"/>
              </a:ext>
            </a:extLst>
          </p:cNvPr>
          <p:cNvSpPr>
            <a:spLocks/>
          </p:cNvSpPr>
          <p:nvPr/>
        </p:nvSpPr>
        <p:spPr>
          <a:xfrm>
            <a:off x="2533650" y="5211612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전문</a:t>
            </a:r>
            <a:r>
              <a:rPr sz="13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담당자</a:t>
            </a:r>
            <a:endParaRPr sz="135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6" name="sub-role">
            <a:extLst>
              <a:ext uri="{FF2B5EF4-FFF2-40B4-BE49-F238E27FC236}">
                <a16:creationId xmlns:a16="http://schemas.microsoft.com/office/drawing/2014/main" id="{FEB00362-9FEE-DEA8-AD71-A9F7979087D6}"/>
              </a:ext>
            </a:extLst>
          </p:cNvPr>
          <p:cNvSpPr>
            <a:spLocks/>
          </p:cNvSpPr>
          <p:nvPr/>
        </p:nvSpPr>
        <p:spPr>
          <a:xfrm>
            <a:off x="4933950" y="5110827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전문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역할이나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독립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적인</a:t>
            </a:r>
            <a:r>
              <a:rPr lang="ko-KR" altLang="en-US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내용의 실행이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경우에</a:t>
            </a:r>
            <a:r>
              <a:rPr lang="en-US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Workflow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필수인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고정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계층은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아님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8" name="roles-flow">
            <a:extLst>
              <a:ext uri="{FF2B5EF4-FFF2-40B4-BE49-F238E27FC236}">
                <a16:creationId xmlns:a16="http://schemas.microsoft.com/office/drawing/2014/main" id="{96635C5F-8BE7-FFE8-61EF-9F24B32EC334}"/>
              </a:ext>
            </a:extLst>
          </p:cNvPr>
          <p:cNvSpPr>
            <a:spLocks/>
          </p:cNvSpPr>
          <p:nvPr/>
        </p:nvSpPr>
        <p:spPr>
          <a:xfrm>
            <a:off x="609600" y="5905500"/>
            <a:ext cx="10972800" cy="4572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120" name="roles-flow-title">
            <a:extLst>
              <a:ext uri="{FF2B5EF4-FFF2-40B4-BE49-F238E27FC236}">
                <a16:creationId xmlns:a16="http://schemas.microsoft.com/office/drawing/2014/main" id="{FBB23B8F-CFA6-613B-E761-70466DAD917D}"/>
              </a:ext>
            </a:extLst>
          </p:cNvPr>
          <p:cNvSpPr>
            <a:spLocks/>
          </p:cNvSpPr>
          <p:nvPr/>
        </p:nvSpPr>
        <p:spPr>
          <a:xfrm>
            <a:off x="838200" y="59531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작동 순서</a:t>
            </a:r>
          </a:p>
        </p:txBody>
      </p:sp>
      <p:sp>
        <p:nvSpPr>
          <p:cNvPr id="122" name="roles-flow-body">
            <a:extLst>
              <a:ext uri="{FF2B5EF4-FFF2-40B4-BE49-F238E27FC236}">
                <a16:creationId xmlns:a16="http://schemas.microsoft.com/office/drawing/2014/main" id="{61BE75B9-CF30-7378-C04D-2265361A42F1}"/>
              </a:ext>
            </a:extLst>
          </p:cNvPr>
          <p:cNvSpPr>
            <a:spLocks/>
          </p:cNvSpPr>
          <p:nvPr/>
        </p:nvSpPr>
        <p:spPr>
          <a:xfrm>
            <a:off x="2362200" y="595312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Skill·Metadata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참조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→ Main Agent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계획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Tool·Workflow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필요 시 </a:t>
            </a:r>
            <a:r>
              <a:rPr lang="en-US" altLang="ko-KR" sz="1163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Sub Agent)</a:t>
            </a:r>
            <a:r>
              <a:rPr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63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답변·보고서</a:t>
            </a:r>
            <a:r>
              <a:rPr 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63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생성</a:t>
            </a:r>
            <a:endParaRPr sz="1163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3052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8968FD93-F09D-FE7E-CDE4-7E48C8823651}"/>
              </a:ext>
            </a:extLst>
          </p:cNvPr>
          <p:cNvSpPr/>
          <p:nvPr/>
        </p:nvSpPr>
        <p:spPr>
          <a:xfrm>
            <a:off x="4378175" y="2022806"/>
            <a:ext cx="3419475" cy="24454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865B18DC-152F-3495-F362-EB99A10FFA90}"/>
              </a:ext>
            </a:extLst>
          </p:cNvPr>
          <p:cNvSpPr/>
          <p:nvPr/>
        </p:nvSpPr>
        <p:spPr>
          <a:xfrm>
            <a:off x="8083400" y="2022806"/>
            <a:ext cx="3419475" cy="24454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FDC70B43-40DA-F0CD-C70D-064E94EE8E93}"/>
              </a:ext>
            </a:extLst>
          </p:cNvPr>
          <p:cNvSpPr/>
          <p:nvPr/>
        </p:nvSpPr>
        <p:spPr>
          <a:xfrm>
            <a:off x="672950" y="2022806"/>
            <a:ext cx="3419475" cy="24454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header-A2">
            <a:extLst>
              <a:ext uri="{FF2B5EF4-FFF2-40B4-BE49-F238E27FC236}">
                <a16:creationId xmlns:a16="http://schemas.microsoft.com/office/drawing/2014/main" id="{EAA53BCD-813C-4660-ACE5-93BFAE73EF17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2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02. </a:t>
            </a:r>
            <a:r>
              <a:rPr lang="en-US" sz="12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Pilot Agent </a:t>
            </a:r>
            <a:r>
              <a:rPr lang="ko-KR" altLang="en-US" sz="12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12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추진</a:t>
            </a:r>
            <a:endParaRPr sz="12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" name="page-A2">
            <a:extLst>
              <a:ext uri="{FF2B5EF4-FFF2-40B4-BE49-F238E27FC236}">
                <a16:creationId xmlns:a16="http://schemas.microsoft.com/office/drawing/2014/main" id="{2B49A6A9-C0DA-475F-BAEC-01D2175C109D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A2</a:t>
            </a:r>
          </a:p>
        </p:txBody>
      </p:sp>
      <p:sp>
        <p:nvSpPr>
          <p:cNvPr id="3" name="header-rule-A2">
            <a:extLst>
              <a:ext uri="{FF2B5EF4-FFF2-40B4-BE49-F238E27FC236}">
                <a16:creationId xmlns:a16="http://schemas.microsoft.com/office/drawing/2014/main" id="{8EDFFF86-5A23-4095-AD0C-342A011D5064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header-rule-A2">
            <a:extLst>
              <a:ext uri="{FF2B5EF4-FFF2-40B4-BE49-F238E27FC236}">
                <a16:creationId xmlns:a16="http://schemas.microsoft.com/office/drawing/2014/main" id="{B60F27FC-A59B-5877-8606-220DC9E70E13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109" name="pilot-title">
            <a:extLst>
              <a:ext uri="{FF2B5EF4-FFF2-40B4-BE49-F238E27FC236}">
                <a16:creationId xmlns:a16="http://schemas.microsoft.com/office/drawing/2014/main" id="{4656FB46-972C-62C6-71AD-FB97E8DDA57F}"/>
              </a:ext>
            </a:extLst>
          </p:cNvPr>
          <p:cNvSpPr>
            <a:spLocks/>
          </p:cNvSpPr>
          <p:nvPr/>
        </p:nvSpPr>
        <p:spPr>
          <a:xfrm>
            <a:off x="609600" y="962025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대표 업무를 선정하여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업무로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검증한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뒤,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검증된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기능만</a:t>
            </a:r>
            <a:r>
              <a:rPr sz="20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확산</a:t>
            </a:r>
            <a:endParaRPr sz="20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1" name="pilot-subtitle">
            <a:extLst>
              <a:ext uri="{FF2B5EF4-FFF2-40B4-BE49-F238E27FC236}">
                <a16:creationId xmlns:a16="http://schemas.microsoft.com/office/drawing/2014/main" id="{6AE2ECDA-91C0-57AD-C0C2-2E7D7B14AE3C}"/>
              </a:ext>
            </a:extLst>
          </p:cNvPr>
          <p:cNvSpPr>
            <a:spLocks/>
          </p:cNvSpPr>
          <p:nvPr/>
        </p:nvSpPr>
        <p:spPr>
          <a:xfrm>
            <a:off x="609600" y="1381125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단순 </a:t>
            </a:r>
            <a:r>
              <a:rPr lang="en-US" altLang="ko-KR" sz="16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Agent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시연보다</a:t>
            </a:r>
            <a:r>
              <a:rPr lang="ko-KR" altLang="en-US"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사</a:t>
            </a:r>
            <a:r>
              <a:rPr lang="ko-KR" altLang="en-US"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용 및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측정이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업무를</a:t>
            </a:r>
            <a:r>
              <a:rPr sz="16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우선</a:t>
            </a:r>
            <a:endParaRPr sz="16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3" name="pilot-label">
            <a:extLst>
              <a:ext uri="{FF2B5EF4-FFF2-40B4-BE49-F238E27FC236}">
                <a16:creationId xmlns:a16="http://schemas.microsoft.com/office/drawing/2014/main" id="{A9FC3B3D-A1F9-8309-63FF-A018DBE5E6B5}"/>
              </a:ext>
            </a:extLst>
          </p:cNvPr>
          <p:cNvSpPr>
            <a:spLocks/>
          </p:cNvSpPr>
          <p:nvPr/>
        </p:nvSpPr>
        <p:spPr>
          <a:xfrm>
            <a:off x="576577" y="1651959"/>
            <a:ext cx="2047246" cy="290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단계별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추진과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]</a:t>
            </a:r>
          </a:p>
        </p:txBody>
      </p:sp>
      <p:sp>
        <p:nvSpPr>
          <p:cNvPr id="119" name="pilot-num-1">
            <a:extLst>
              <a:ext uri="{FF2B5EF4-FFF2-40B4-BE49-F238E27FC236}">
                <a16:creationId xmlns:a16="http://schemas.microsoft.com/office/drawing/2014/main" id="{48189D1C-F2D6-B676-A84A-33A6617A5516}"/>
              </a:ext>
            </a:extLst>
          </p:cNvPr>
          <p:cNvSpPr>
            <a:spLocks/>
          </p:cNvSpPr>
          <p:nvPr/>
        </p:nvSpPr>
        <p:spPr>
          <a:xfrm>
            <a:off x="839638" y="2017863"/>
            <a:ext cx="104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1" name="pilot-title-1">
            <a:extLst>
              <a:ext uri="{FF2B5EF4-FFF2-40B4-BE49-F238E27FC236}">
                <a16:creationId xmlns:a16="http://schemas.microsoft.com/office/drawing/2014/main" id="{B2A27136-5098-3446-F67F-FAD55E61E9E2}"/>
              </a:ext>
            </a:extLst>
          </p:cNvPr>
          <p:cNvSpPr>
            <a:spLocks/>
          </p:cNvSpPr>
          <p:nvPr/>
        </p:nvSpPr>
        <p:spPr>
          <a:xfrm>
            <a:off x="839638" y="2551263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공통 기반 준비</a:t>
            </a:r>
          </a:p>
        </p:txBody>
      </p:sp>
      <p:sp>
        <p:nvSpPr>
          <p:cNvPr id="123" name="pilot-main-1">
            <a:extLst>
              <a:ext uri="{FF2B5EF4-FFF2-40B4-BE49-F238E27FC236}">
                <a16:creationId xmlns:a16="http://schemas.microsoft.com/office/drawing/2014/main" id="{CA9EAB4A-4CAF-D472-CC01-CA2468C3E7AD}"/>
              </a:ext>
            </a:extLst>
          </p:cNvPr>
          <p:cNvSpPr>
            <a:spLocks/>
          </p:cNvSpPr>
          <p:nvPr/>
        </p:nvSpPr>
        <p:spPr>
          <a:xfrm>
            <a:off x="839638" y="2951313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 Engine·Profile</a:t>
            </a:r>
          </a:p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 활용 Tool·연결 기준</a:t>
            </a:r>
          </a:p>
        </p:txBody>
      </p:sp>
      <p:sp>
        <p:nvSpPr>
          <p:cNvPr id="125" name="pilot-rule-1">
            <a:extLst>
              <a:ext uri="{FF2B5EF4-FFF2-40B4-BE49-F238E27FC236}">
                <a16:creationId xmlns:a16="http://schemas.microsoft.com/office/drawing/2014/main" id="{CCBC0AC3-82C7-64FE-A55B-947918717FA7}"/>
              </a:ext>
            </a:extLst>
          </p:cNvPr>
          <p:cNvSpPr>
            <a:spLocks/>
          </p:cNvSpPr>
          <p:nvPr/>
        </p:nvSpPr>
        <p:spPr>
          <a:xfrm>
            <a:off x="839638" y="3618063"/>
            <a:ext cx="3143250" cy="190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127" name="pilot-check-label-1">
            <a:extLst>
              <a:ext uri="{FF2B5EF4-FFF2-40B4-BE49-F238E27FC236}">
                <a16:creationId xmlns:a16="http://schemas.microsoft.com/office/drawing/2014/main" id="{6EDAEBEB-DE44-47C6-4042-565CD7159D11}"/>
              </a:ext>
            </a:extLst>
          </p:cNvPr>
          <p:cNvSpPr>
            <a:spLocks/>
          </p:cNvSpPr>
          <p:nvPr/>
        </p:nvSpPr>
        <p:spPr>
          <a:xfrm>
            <a:off x="839638" y="3713313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129" name="pilot-check-1">
            <a:extLst>
              <a:ext uri="{FF2B5EF4-FFF2-40B4-BE49-F238E27FC236}">
                <a16:creationId xmlns:a16="http://schemas.microsoft.com/office/drawing/2014/main" id="{24052742-42D9-AF75-F7CC-6D56D425B6B3}"/>
              </a:ext>
            </a:extLst>
          </p:cNvPr>
          <p:cNvSpPr>
            <a:spLocks/>
          </p:cNvSpPr>
          <p:nvPr/>
        </p:nvSpPr>
        <p:spPr>
          <a:xfrm>
            <a:off x="839638" y="3980013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호출·권한·로그·오류 처리 작동</a:t>
            </a:r>
          </a:p>
        </p:txBody>
      </p:sp>
      <p:sp>
        <p:nvSpPr>
          <p:cNvPr id="131" name="pilot-num-2">
            <a:extLst>
              <a:ext uri="{FF2B5EF4-FFF2-40B4-BE49-F238E27FC236}">
                <a16:creationId xmlns:a16="http://schemas.microsoft.com/office/drawing/2014/main" id="{56C1A860-344D-D844-C647-DAA01ADD9CE4}"/>
              </a:ext>
            </a:extLst>
          </p:cNvPr>
          <p:cNvSpPr>
            <a:spLocks/>
          </p:cNvSpPr>
          <p:nvPr/>
        </p:nvSpPr>
        <p:spPr>
          <a:xfrm>
            <a:off x="4573438" y="2017863"/>
            <a:ext cx="104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3" name="pilot-title-2">
            <a:extLst>
              <a:ext uri="{FF2B5EF4-FFF2-40B4-BE49-F238E27FC236}">
                <a16:creationId xmlns:a16="http://schemas.microsoft.com/office/drawing/2014/main" id="{ADFB176A-CA54-F990-5F5D-CE3C6B6F89E8}"/>
              </a:ext>
            </a:extLst>
          </p:cNvPr>
          <p:cNvSpPr>
            <a:spLocks/>
          </p:cNvSpPr>
          <p:nvPr/>
        </p:nvSpPr>
        <p:spPr>
          <a:xfrm>
            <a:off x="4573438" y="2551263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8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8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Pilot </a:t>
            </a:r>
            <a:r>
              <a:rPr lang="ko-KR" altLang="en-US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구현</a:t>
            </a:r>
            <a:endParaRPr sz="18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5" name="pilot-main-2">
            <a:extLst>
              <a:ext uri="{FF2B5EF4-FFF2-40B4-BE49-F238E27FC236}">
                <a16:creationId xmlns:a16="http://schemas.microsoft.com/office/drawing/2014/main" id="{70695072-F0D4-57E5-9D03-3D7F4A154E14}"/>
              </a:ext>
            </a:extLst>
          </p:cNvPr>
          <p:cNvSpPr>
            <a:spLocks/>
          </p:cNvSpPr>
          <p:nvPr/>
        </p:nvSpPr>
        <p:spPr>
          <a:xfrm>
            <a:off x="4573438" y="2951313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2~3개 반복 업무 적용</a:t>
            </a:r>
          </a:p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담당자·데이터·비교 기준 확보</a:t>
            </a:r>
          </a:p>
        </p:txBody>
      </p:sp>
      <p:sp>
        <p:nvSpPr>
          <p:cNvPr id="137" name="pilot-rule-2">
            <a:extLst>
              <a:ext uri="{FF2B5EF4-FFF2-40B4-BE49-F238E27FC236}">
                <a16:creationId xmlns:a16="http://schemas.microsoft.com/office/drawing/2014/main" id="{C92E0588-AA58-DEB8-AFD2-A9CF84BE0AF6}"/>
              </a:ext>
            </a:extLst>
          </p:cNvPr>
          <p:cNvSpPr>
            <a:spLocks/>
          </p:cNvSpPr>
          <p:nvPr/>
        </p:nvSpPr>
        <p:spPr>
          <a:xfrm>
            <a:off x="4573438" y="3618063"/>
            <a:ext cx="3143250" cy="190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</p:sp>
      <p:sp>
        <p:nvSpPr>
          <p:cNvPr id="139" name="pilot-check-label-2">
            <a:extLst>
              <a:ext uri="{FF2B5EF4-FFF2-40B4-BE49-F238E27FC236}">
                <a16:creationId xmlns:a16="http://schemas.microsoft.com/office/drawing/2014/main" id="{E13DE7CC-4BFD-0B72-7448-A2E00AE844F0}"/>
              </a:ext>
            </a:extLst>
          </p:cNvPr>
          <p:cNvSpPr>
            <a:spLocks/>
          </p:cNvSpPr>
          <p:nvPr/>
        </p:nvSpPr>
        <p:spPr>
          <a:xfrm>
            <a:off x="4573438" y="3713313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141" name="pilot-check-2">
            <a:extLst>
              <a:ext uri="{FF2B5EF4-FFF2-40B4-BE49-F238E27FC236}">
                <a16:creationId xmlns:a16="http://schemas.microsoft.com/office/drawing/2014/main" id="{6C345207-DEA3-0C7F-CB10-832182EDFC7B}"/>
              </a:ext>
            </a:extLst>
          </p:cNvPr>
          <p:cNvSpPr>
            <a:spLocks/>
          </p:cNvSpPr>
          <p:nvPr/>
        </p:nvSpPr>
        <p:spPr>
          <a:xfrm>
            <a:off x="4573438" y="3980013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효과·품질·사용성 측정 가능</a:t>
            </a:r>
          </a:p>
        </p:txBody>
      </p:sp>
      <p:sp>
        <p:nvSpPr>
          <p:cNvPr id="143" name="pilot-num-3">
            <a:extLst>
              <a:ext uri="{FF2B5EF4-FFF2-40B4-BE49-F238E27FC236}">
                <a16:creationId xmlns:a16="http://schemas.microsoft.com/office/drawing/2014/main" id="{F14495A8-B96B-03EA-8187-723B956F1407}"/>
              </a:ext>
            </a:extLst>
          </p:cNvPr>
          <p:cNvSpPr>
            <a:spLocks/>
          </p:cNvSpPr>
          <p:nvPr/>
        </p:nvSpPr>
        <p:spPr>
          <a:xfrm>
            <a:off x="8307238" y="2017863"/>
            <a:ext cx="104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45" name="pilot-title-3">
            <a:extLst>
              <a:ext uri="{FF2B5EF4-FFF2-40B4-BE49-F238E27FC236}">
                <a16:creationId xmlns:a16="http://schemas.microsoft.com/office/drawing/2014/main" id="{A210F5AB-4B96-AD9D-84AC-664D248EFE4E}"/>
              </a:ext>
            </a:extLst>
          </p:cNvPr>
          <p:cNvSpPr>
            <a:spLocks/>
          </p:cNvSpPr>
          <p:nvPr/>
        </p:nvSpPr>
        <p:spPr>
          <a:xfrm>
            <a:off x="8307238" y="2551263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성과 기반 확산</a:t>
            </a:r>
          </a:p>
        </p:txBody>
      </p:sp>
      <p:sp>
        <p:nvSpPr>
          <p:cNvPr id="147" name="pilot-main-3">
            <a:extLst>
              <a:ext uri="{FF2B5EF4-FFF2-40B4-BE49-F238E27FC236}">
                <a16:creationId xmlns:a16="http://schemas.microsoft.com/office/drawing/2014/main" id="{10783162-F9B5-EA28-78E2-911E70458272}"/>
              </a:ext>
            </a:extLst>
          </p:cNvPr>
          <p:cNvSpPr>
            <a:spLocks/>
          </p:cNvSpPr>
          <p:nvPr/>
        </p:nvSpPr>
        <p:spPr>
          <a:xfrm>
            <a:off x="8307238" y="2951313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검증된 기능부터 구독 확대</a:t>
            </a:r>
          </a:p>
          <a:p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 책임·유지보수 기준 명확화</a:t>
            </a:r>
          </a:p>
        </p:txBody>
      </p:sp>
      <p:sp>
        <p:nvSpPr>
          <p:cNvPr id="149" name="pilot-rule-3">
            <a:extLst>
              <a:ext uri="{FF2B5EF4-FFF2-40B4-BE49-F238E27FC236}">
                <a16:creationId xmlns:a16="http://schemas.microsoft.com/office/drawing/2014/main" id="{910D8744-AB94-5937-CB1E-F95D1BB08669}"/>
              </a:ext>
            </a:extLst>
          </p:cNvPr>
          <p:cNvSpPr>
            <a:spLocks/>
          </p:cNvSpPr>
          <p:nvPr/>
        </p:nvSpPr>
        <p:spPr>
          <a:xfrm>
            <a:off x="8307238" y="3618063"/>
            <a:ext cx="3143250" cy="190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151" name="pilot-check-label-3">
            <a:extLst>
              <a:ext uri="{FF2B5EF4-FFF2-40B4-BE49-F238E27FC236}">
                <a16:creationId xmlns:a16="http://schemas.microsoft.com/office/drawing/2014/main" id="{A2616A49-1960-0E3B-DA92-C4D541A3F9D9}"/>
              </a:ext>
            </a:extLst>
          </p:cNvPr>
          <p:cNvSpPr>
            <a:spLocks/>
          </p:cNvSpPr>
          <p:nvPr/>
        </p:nvSpPr>
        <p:spPr>
          <a:xfrm>
            <a:off x="8307238" y="3713313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153" name="pilot-check-3">
            <a:extLst>
              <a:ext uri="{FF2B5EF4-FFF2-40B4-BE49-F238E27FC236}">
                <a16:creationId xmlns:a16="http://schemas.microsoft.com/office/drawing/2014/main" id="{A85E0FBE-DDFF-FED6-28CA-E6CA09AB579A}"/>
              </a:ext>
            </a:extLst>
          </p:cNvPr>
          <p:cNvSpPr>
            <a:spLocks/>
          </p:cNvSpPr>
          <p:nvPr/>
        </p:nvSpPr>
        <p:spPr>
          <a:xfrm>
            <a:off x="8307238" y="3980013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확산 효과가 운영 부담보다 큼</a:t>
            </a:r>
          </a:p>
        </p:txBody>
      </p:sp>
      <p:sp>
        <p:nvSpPr>
          <p:cNvPr id="155" name="metrics-label">
            <a:extLst>
              <a:ext uri="{FF2B5EF4-FFF2-40B4-BE49-F238E27FC236}">
                <a16:creationId xmlns:a16="http://schemas.microsoft.com/office/drawing/2014/main" id="{A17F78B7-47F8-CAC6-09DE-440D0DA3F75C}"/>
              </a:ext>
            </a:extLst>
          </p:cNvPr>
          <p:cNvSpPr>
            <a:spLocks/>
          </p:cNvSpPr>
          <p:nvPr/>
        </p:nvSpPr>
        <p:spPr>
          <a:xfrm>
            <a:off x="576577" y="4583142"/>
            <a:ext cx="1495245" cy="228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lang="en-US"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Agent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6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지표</a:t>
            </a:r>
            <a:r>
              <a:rPr sz="116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]</a:t>
            </a:r>
          </a:p>
        </p:txBody>
      </p:sp>
      <p:sp>
        <p:nvSpPr>
          <p:cNvPr id="157" name="metrics-top-rule">
            <a:extLst>
              <a:ext uri="{FF2B5EF4-FFF2-40B4-BE49-F238E27FC236}">
                <a16:creationId xmlns:a16="http://schemas.microsoft.com/office/drawing/2014/main" id="{4D9CBC60-6CCA-D197-8F12-0137285BD6F8}"/>
              </a:ext>
            </a:extLst>
          </p:cNvPr>
          <p:cNvSpPr>
            <a:spLocks/>
          </p:cNvSpPr>
          <p:nvPr/>
        </p:nvSpPr>
        <p:spPr>
          <a:xfrm>
            <a:off x="609600" y="4847685"/>
            <a:ext cx="10972800" cy="190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159" name="metrics-col-1">
            <a:extLst>
              <a:ext uri="{FF2B5EF4-FFF2-40B4-BE49-F238E27FC236}">
                <a16:creationId xmlns:a16="http://schemas.microsoft.com/office/drawing/2014/main" id="{777B84A5-EE9E-F696-36D8-FC66B0B88769}"/>
              </a:ext>
            </a:extLst>
          </p:cNvPr>
          <p:cNvSpPr>
            <a:spLocks/>
          </p:cNvSpPr>
          <p:nvPr/>
        </p:nvSpPr>
        <p:spPr>
          <a:xfrm>
            <a:off x="4038600" y="4974207"/>
            <a:ext cx="9525" cy="1800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161" name="metrics-col-2">
            <a:extLst>
              <a:ext uri="{FF2B5EF4-FFF2-40B4-BE49-F238E27FC236}">
                <a16:creationId xmlns:a16="http://schemas.microsoft.com/office/drawing/2014/main" id="{27DCE95D-2E0A-FC26-F7AC-F176AAE91E85}"/>
              </a:ext>
            </a:extLst>
          </p:cNvPr>
          <p:cNvSpPr>
            <a:spLocks/>
          </p:cNvSpPr>
          <p:nvPr/>
        </p:nvSpPr>
        <p:spPr>
          <a:xfrm>
            <a:off x="7772400" y="4974207"/>
            <a:ext cx="9525" cy="1800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</p:sp>
      <p:sp>
        <p:nvSpPr>
          <p:cNvPr id="163" name="metric-effect-title">
            <a:extLst>
              <a:ext uri="{FF2B5EF4-FFF2-40B4-BE49-F238E27FC236}">
                <a16:creationId xmlns:a16="http://schemas.microsoft.com/office/drawing/2014/main" id="{7EFBC922-5A22-BFCC-7DD1-FBD089BC80A5}"/>
              </a:ext>
            </a:extLst>
          </p:cNvPr>
          <p:cNvSpPr>
            <a:spLocks/>
          </p:cNvSpPr>
          <p:nvPr/>
        </p:nvSpPr>
        <p:spPr>
          <a:xfrm>
            <a:off x="838200" y="492388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165" name="metric-effect-body">
            <a:extLst>
              <a:ext uri="{FF2B5EF4-FFF2-40B4-BE49-F238E27FC236}">
                <a16:creationId xmlns:a16="http://schemas.microsoft.com/office/drawing/2014/main" id="{6EF07F5B-5B82-3A00-CD72-CE0E55C60229}"/>
              </a:ext>
            </a:extLst>
          </p:cNvPr>
          <p:cNvSpPr>
            <a:spLocks/>
          </p:cNvSpPr>
          <p:nvPr/>
        </p:nvSpPr>
        <p:spPr>
          <a:xfrm>
            <a:off x="1600200" y="492388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처리시간·반복 작업 감소</a:t>
            </a:r>
          </a:p>
        </p:txBody>
      </p:sp>
      <p:sp>
        <p:nvSpPr>
          <p:cNvPr id="167" name="metric-quality-title">
            <a:extLst>
              <a:ext uri="{FF2B5EF4-FFF2-40B4-BE49-F238E27FC236}">
                <a16:creationId xmlns:a16="http://schemas.microsoft.com/office/drawing/2014/main" id="{F0B0A068-2886-03B7-5DFA-5BC31DAC8D8C}"/>
              </a:ext>
            </a:extLst>
          </p:cNvPr>
          <p:cNvSpPr>
            <a:spLocks/>
          </p:cNvSpPr>
          <p:nvPr/>
        </p:nvSpPr>
        <p:spPr>
          <a:xfrm>
            <a:off x="4572000" y="492388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169" name="metric-quality-body">
            <a:extLst>
              <a:ext uri="{FF2B5EF4-FFF2-40B4-BE49-F238E27FC236}">
                <a16:creationId xmlns:a16="http://schemas.microsoft.com/office/drawing/2014/main" id="{60957A84-54CB-4D32-A497-051059AF8D65}"/>
              </a:ext>
            </a:extLst>
          </p:cNvPr>
          <p:cNvSpPr>
            <a:spLocks/>
          </p:cNvSpPr>
          <p:nvPr/>
        </p:nvSpPr>
        <p:spPr>
          <a:xfrm>
            <a:off x="5334000" y="492388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정확도·활용성·만족도</a:t>
            </a:r>
          </a:p>
        </p:txBody>
      </p:sp>
      <p:sp>
        <p:nvSpPr>
          <p:cNvPr id="171" name="metric-operation-title">
            <a:extLst>
              <a:ext uri="{FF2B5EF4-FFF2-40B4-BE49-F238E27FC236}">
                <a16:creationId xmlns:a16="http://schemas.microsoft.com/office/drawing/2014/main" id="{78D90DFE-1572-C5E5-4E24-6C70812AF422}"/>
              </a:ext>
            </a:extLst>
          </p:cNvPr>
          <p:cNvSpPr>
            <a:spLocks/>
          </p:cNvSpPr>
          <p:nvPr/>
        </p:nvSpPr>
        <p:spPr>
          <a:xfrm>
            <a:off x="8305800" y="492388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73" name="metric-operation-body">
            <a:extLst>
              <a:ext uri="{FF2B5EF4-FFF2-40B4-BE49-F238E27FC236}">
                <a16:creationId xmlns:a16="http://schemas.microsoft.com/office/drawing/2014/main" id="{A3258446-4FBC-8741-DB76-532D3A9DF13E}"/>
              </a:ext>
            </a:extLst>
          </p:cNvPr>
          <p:cNvSpPr>
            <a:spLocks/>
          </p:cNvSpPr>
          <p:nvPr/>
        </p:nvSpPr>
        <p:spPr>
          <a:xfrm>
            <a:off x="9067800" y="492388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권한</a:t>
            </a:r>
            <a:r>
              <a:rPr lang="en-US" altLang="ko-KR" sz="1238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38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사용이력</a:t>
            </a:r>
            <a:r>
              <a:rPr lang="en-US" altLang="ko-KR" sz="1238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238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유지보수</a:t>
            </a:r>
            <a:endParaRPr sz="1238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7" name="pilot-summary">
            <a:extLst>
              <a:ext uri="{FF2B5EF4-FFF2-40B4-BE49-F238E27FC236}">
                <a16:creationId xmlns:a16="http://schemas.microsoft.com/office/drawing/2014/main" id="{AF552CB4-8AEC-5529-A816-51F89FBDBC32}"/>
              </a:ext>
            </a:extLst>
          </p:cNvPr>
          <p:cNvSpPr>
            <a:spLocks/>
          </p:cNvSpPr>
          <p:nvPr/>
        </p:nvSpPr>
        <p:spPr>
          <a:xfrm>
            <a:off x="609600" y="5905500"/>
            <a:ext cx="10972800" cy="4572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</p:sp>
      <p:sp>
        <p:nvSpPr>
          <p:cNvPr id="179" name="pilot-summary-text">
            <a:extLst>
              <a:ext uri="{FF2B5EF4-FFF2-40B4-BE49-F238E27FC236}">
                <a16:creationId xmlns:a16="http://schemas.microsoft.com/office/drawing/2014/main" id="{1BA489EB-9621-2137-8FA6-D5541270A441}"/>
              </a:ext>
            </a:extLst>
          </p:cNvPr>
          <p:cNvSpPr>
            <a:spLocks/>
          </p:cNvSpPr>
          <p:nvPr/>
        </p:nvSpPr>
        <p:spPr>
          <a:xfrm>
            <a:off x="838200" y="5953125"/>
            <a:ext cx="1051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Pilot</a:t>
            </a:r>
            <a:r>
              <a:rPr lang="ko-KR" altLang="en-US"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구현의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목적은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시연이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기준과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13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13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313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48B5D2A5-2A33-43BD-F8AA-B09B47F62B49}"/>
              </a:ext>
            </a:extLst>
          </p:cNvPr>
          <p:cNvSpPr txBox="1"/>
          <p:nvPr/>
        </p:nvSpPr>
        <p:spPr>
          <a:xfrm>
            <a:off x="2139343" y="5408310"/>
            <a:ext cx="801533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Pilot Agent</a:t>
            </a:r>
            <a:r>
              <a:rPr lang="ko-KR" altLang="en-US" sz="17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측정 결과가 부족한 경우는 확산하지 않고 기준 보완과 </a:t>
            </a:r>
            <a:r>
              <a:rPr lang="ko-KR" altLang="en-US" sz="17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재검증</a:t>
            </a:r>
            <a:r>
              <a:rPr lang="ko-KR" altLang="en-US" sz="17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 우선</a:t>
            </a:r>
          </a:p>
        </p:txBody>
      </p:sp>
    </p:spTree>
    <p:extLst>
      <p:ext uri="{BB962C8B-B14F-4D97-AF65-F5344CB8AC3E}">
        <p14:creationId xmlns:p14="http://schemas.microsoft.com/office/powerpoint/2010/main" val="329461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948</Words>
  <Application>Microsoft Office PowerPoint</Application>
  <DocSecurity>0</DocSecurity>
  <PresentationFormat>와이드스크린</PresentationFormat>
  <Paragraphs>172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봉건 문</cp:lastModifiedBy>
  <cp:revision>18</cp:revision>
  <dcterms:created xsi:type="dcterms:W3CDTF">2026-07-19T09:28:24Z</dcterms:created>
  <dcterms:modified xsi:type="dcterms:W3CDTF">2026-07-19T14:21:01Z</dcterms:modified>
</cp:coreProperties>
</file>