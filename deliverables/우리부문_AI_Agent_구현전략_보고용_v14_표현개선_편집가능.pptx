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9E9"/>
    <a:srgbClr val="9A9A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708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ver-top-rule">
            <a:extLst>
              <a:ext uri="{FF2B5EF4-FFF2-40B4-BE49-F238E27FC236}">
                <a16:creationId xmlns:a16="http://schemas.microsoft.com/office/drawing/2014/main" id="{67EA9460-D132-413F-AEC8-7F666A7504B5}"/>
              </a:ext>
            </a:extLst>
          </p:cNvPr>
          <p:cNvSpPr>
            <a:spLocks/>
          </p:cNvSpPr>
          <p:nvPr/>
        </p:nvSpPr>
        <p:spPr>
          <a:xfrm>
            <a:off x="609600" y="476250"/>
            <a:ext cx="10972800" cy="19050"/>
          </a:xfrm>
          <a:prstGeom prst="rect">
            <a:avLst/>
          </a:prstGeom>
          <a:solidFill>
            <a:srgbClr val="121212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cover-kicker">
            <a:extLst>
              <a:ext uri="{FF2B5EF4-FFF2-40B4-BE49-F238E27FC236}">
                <a16:creationId xmlns:a16="http://schemas.microsoft.com/office/drawing/2014/main" id="{94EBCDBB-51A1-4D9E-B5A9-D588F032F945}"/>
              </a:ext>
            </a:extLst>
          </p:cNvPr>
          <p:cNvSpPr>
            <a:spLocks/>
          </p:cNvSpPr>
          <p:nvPr/>
        </p:nvSpPr>
        <p:spPr>
          <a:xfrm>
            <a:off x="609600" y="68580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DIVISION AI AGENT STRATEGY</a:t>
            </a: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78D10328-739D-4ACA-893F-8A9BDF2C41A9}"/>
              </a:ext>
            </a:extLst>
          </p:cNvPr>
          <p:cNvSpPr>
            <a:spLocks/>
          </p:cNvSpPr>
          <p:nvPr/>
        </p:nvSpPr>
        <p:spPr>
          <a:xfrm>
            <a:off x="609600" y="1466850"/>
            <a:ext cx="6210300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6000"/>
              </a:lnSpc>
              <a:buNone/>
              <a:defRPr sz="42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42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우리</a:t>
            </a:r>
            <a:r>
              <a:rPr sz="4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42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부문</a:t>
            </a:r>
            <a:endParaRPr sz="42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96000"/>
              </a:lnSpc>
              <a:buNone/>
              <a:defRPr sz="42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4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AI Agent </a:t>
            </a:r>
            <a:r>
              <a:rPr sz="42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구현</a:t>
            </a:r>
            <a:r>
              <a:rPr sz="4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42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전략</a:t>
            </a:r>
            <a:endParaRPr sz="42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3AB8242C-B753-4295-96A0-6106E94C36BC}"/>
              </a:ext>
            </a:extLst>
          </p:cNvPr>
          <p:cNvSpPr>
            <a:spLocks/>
          </p:cNvSpPr>
          <p:nvPr/>
        </p:nvSpPr>
        <p:spPr>
          <a:xfrm>
            <a:off x="647700" y="3276600"/>
            <a:ext cx="5810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  <a:defRPr sz="18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업무</a:t>
            </a:r>
            <a:r>
              <a:rPr sz="18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전문성은</a:t>
            </a:r>
            <a:r>
              <a:rPr sz="18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조직에</a:t>
            </a:r>
            <a:r>
              <a:rPr sz="18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,</a:t>
            </a:r>
          </a:p>
          <a:p>
            <a:pPr algn="l">
              <a:lnSpc>
                <a:spcPct val="115000"/>
              </a:lnSpc>
              <a:buNone/>
              <a:defRPr sz="18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공통</a:t>
            </a:r>
            <a:r>
              <a:rPr sz="18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Agent </a:t>
            </a:r>
            <a:r>
              <a:rPr sz="18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경험과</a:t>
            </a:r>
            <a:r>
              <a:rPr sz="18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연결</a:t>
            </a:r>
            <a:r>
              <a:rPr sz="18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기반은</a:t>
            </a:r>
            <a:r>
              <a:rPr sz="18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부문에</a:t>
            </a:r>
            <a:endParaRPr sz="18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cover-accent">
            <a:extLst>
              <a:ext uri="{FF2B5EF4-FFF2-40B4-BE49-F238E27FC236}">
                <a16:creationId xmlns:a16="http://schemas.microsoft.com/office/drawing/2014/main" id="{9959945D-272A-42AC-9674-EFAFA89C5A11}"/>
              </a:ext>
            </a:extLst>
          </p:cNvPr>
          <p:cNvSpPr>
            <a:spLocks/>
          </p:cNvSpPr>
          <p:nvPr/>
        </p:nvSpPr>
        <p:spPr>
          <a:xfrm>
            <a:off x="609600" y="4419600"/>
            <a:ext cx="857250" cy="57150"/>
          </a:xfrm>
          <a:prstGeom prst="rect">
            <a:avLst/>
          </a:prstGeom>
          <a:solidFill>
            <a:srgbClr val="121212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cover-statement">
            <a:extLst>
              <a:ext uri="{FF2B5EF4-FFF2-40B4-BE49-F238E27FC236}">
                <a16:creationId xmlns:a16="http://schemas.microsoft.com/office/drawing/2014/main" id="{C274E1DA-922D-408C-87AD-FA58E8CEDA8A}"/>
              </a:ext>
            </a:extLst>
          </p:cNvPr>
          <p:cNvSpPr>
            <a:spLocks/>
          </p:cNvSpPr>
          <p:nvPr/>
        </p:nvSpPr>
        <p:spPr>
          <a:xfrm>
            <a:off x="609600" y="4629150"/>
            <a:ext cx="600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조직 자율개발과 부문 공통 기반을 하나의 Agent 창구로 연결</a:t>
            </a:r>
          </a:p>
        </p:txBody>
      </p:sp>
      <p:sp>
        <p:nvSpPr>
          <p:cNvPr id="7" name="cover-right-panel">
            <a:extLst>
              <a:ext uri="{FF2B5EF4-FFF2-40B4-BE49-F238E27FC236}">
                <a16:creationId xmlns:a16="http://schemas.microsoft.com/office/drawing/2014/main" id="{67FDB034-370B-415E-AB72-2B5497675A1D}"/>
              </a:ext>
            </a:extLst>
          </p:cNvPr>
          <p:cNvSpPr>
            <a:spLocks/>
          </p:cNvSpPr>
          <p:nvPr/>
        </p:nvSpPr>
        <p:spPr>
          <a:xfrm>
            <a:off x="7239000" y="952500"/>
            <a:ext cx="4343400" cy="4857750"/>
          </a:xfrm>
          <a:prstGeom prst="rect">
            <a:avLst/>
          </a:prstGeom>
          <a:solidFill>
            <a:srgbClr val="30303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cover-right-ghost">
            <a:extLst>
              <a:ext uri="{FF2B5EF4-FFF2-40B4-BE49-F238E27FC236}">
                <a16:creationId xmlns:a16="http://schemas.microsoft.com/office/drawing/2014/main" id="{7EE9A043-AC42-4D1C-887A-D86C3DABBC05}"/>
              </a:ext>
            </a:extLst>
          </p:cNvPr>
          <p:cNvSpPr>
            <a:spLocks/>
          </p:cNvSpPr>
          <p:nvPr/>
        </p:nvSpPr>
        <p:spPr>
          <a:xfrm>
            <a:off x="7543800" y="1162050"/>
            <a:ext cx="3619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buNone/>
              <a:defRPr sz="70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70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9" name="cover-right-line-1">
            <a:extLst>
              <a:ext uri="{FF2B5EF4-FFF2-40B4-BE49-F238E27FC236}">
                <a16:creationId xmlns:a16="http://schemas.microsoft.com/office/drawing/2014/main" id="{18CC952B-0983-4478-A30B-FC0E534C9660}"/>
              </a:ext>
            </a:extLst>
          </p:cNvPr>
          <p:cNvSpPr>
            <a:spLocks/>
          </p:cNvSpPr>
          <p:nvPr/>
        </p:nvSpPr>
        <p:spPr>
          <a:xfrm>
            <a:off x="7620000" y="238125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ORGANIZATIONS</a:t>
            </a:r>
          </a:p>
        </p:txBody>
      </p:sp>
      <p:sp>
        <p:nvSpPr>
          <p:cNvPr id="10" name="cover-right-main-1">
            <a:extLst>
              <a:ext uri="{FF2B5EF4-FFF2-40B4-BE49-F238E27FC236}">
                <a16:creationId xmlns:a16="http://schemas.microsoft.com/office/drawing/2014/main" id="{C9EC881F-9298-4C58-B4CA-00C2CF5B75F4}"/>
              </a:ext>
            </a:extLst>
          </p:cNvPr>
          <p:cNvSpPr>
            <a:spLocks/>
          </p:cNvSpPr>
          <p:nvPr/>
        </p:nvSpPr>
        <p:spPr>
          <a:xfrm>
            <a:off x="7620000" y="2724150"/>
            <a:ext cx="34290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4000"/>
              </a:lnSpc>
              <a:buNone/>
              <a:defRPr sz="32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2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BUILD</a:t>
            </a:r>
          </a:p>
          <a:p>
            <a:pPr algn="l">
              <a:lnSpc>
                <a:spcPct val="94000"/>
              </a:lnSpc>
              <a:buNone/>
              <a:defRPr sz="32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2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THE WORK</a:t>
            </a:r>
          </a:p>
        </p:txBody>
      </p:sp>
      <p:sp>
        <p:nvSpPr>
          <p:cNvPr id="11" name="cover-panel-rule">
            <a:extLst>
              <a:ext uri="{FF2B5EF4-FFF2-40B4-BE49-F238E27FC236}">
                <a16:creationId xmlns:a16="http://schemas.microsoft.com/office/drawing/2014/main" id="{F65DD6CE-AD46-4436-ACF0-610D80BAC3B3}"/>
              </a:ext>
            </a:extLst>
          </p:cNvPr>
          <p:cNvSpPr>
            <a:spLocks/>
          </p:cNvSpPr>
          <p:nvPr/>
        </p:nvSpPr>
        <p:spPr>
          <a:xfrm>
            <a:off x="7620000" y="4000500"/>
            <a:ext cx="3429000" cy="19050"/>
          </a:xfrm>
          <a:prstGeom prst="rect">
            <a:avLst/>
          </a:prstGeom>
          <a:solidFill>
            <a:srgbClr val="77777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cover-right-line-2">
            <a:extLst>
              <a:ext uri="{FF2B5EF4-FFF2-40B4-BE49-F238E27FC236}">
                <a16:creationId xmlns:a16="http://schemas.microsoft.com/office/drawing/2014/main" id="{6DDAEAA9-054F-460E-A9AA-C5EEBCEDC95A}"/>
              </a:ext>
            </a:extLst>
          </p:cNvPr>
          <p:cNvSpPr>
            <a:spLocks/>
          </p:cNvSpPr>
          <p:nvPr/>
        </p:nvSpPr>
        <p:spPr>
          <a:xfrm>
            <a:off x="7620000" y="42291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DIVISION</a:t>
            </a:r>
          </a:p>
        </p:txBody>
      </p:sp>
      <p:sp>
        <p:nvSpPr>
          <p:cNvPr id="13" name="cover-right-main-2">
            <a:extLst>
              <a:ext uri="{FF2B5EF4-FFF2-40B4-BE49-F238E27FC236}">
                <a16:creationId xmlns:a16="http://schemas.microsoft.com/office/drawing/2014/main" id="{BF9FF6BD-C942-40B8-96D4-3E06A4AF59DD}"/>
              </a:ext>
            </a:extLst>
          </p:cNvPr>
          <p:cNvSpPr>
            <a:spLocks/>
          </p:cNvSpPr>
          <p:nvPr/>
        </p:nvSpPr>
        <p:spPr>
          <a:xfrm>
            <a:off x="7620000" y="45720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CONNECTS IT</a:t>
            </a:r>
          </a:p>
        </p:txBody>
      </p:sp>
      <p:sp>
        <p:nvSpPr>
          <p:cNvPr id="14" name="cover-right-note">
            <a:extLst>
              <a:ext uri="{FF2B5EF4-FFF2-40B4-BE49-F238E27FC236}">
                <a16:creationId xmlns:a16="http://schemas.microsoft.com/office/drawing/2014/main" id="{17870204-04F4-43CE-8600-9A3C02C162F6}"/>
              </a:ext>
            </a:extLst>
          </p:cNvPr>
          <p:cNvSpPr>
            <a:spLocks/>
          </p:cNvSpPr>
          <p:nvPr/>
        </p:nvSpPr>
        <p:spPr>
          <a:xfrm>
            <a:off x="7620000" y="52197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Tool · Skill · Profile · Agent Engine</a:t>
            </a:r>
          </a:p>
        </p:txBody>
      </p:sp>
      <p:sp>
        <p:nvSpPr>
          <p:cNvPr id="15" name="cover-date">
            <a:extLst>
              <a:ext uri="{FF2B5EF4-FFF2-40B4-BE49-F238E27FC236}">
                <a16:creationId xmlns:a16="http://schemas.microsoft.com/office/drawing/2014/main" id="{33A671B7-D39C-43F6-A02D-D778F11EB2D3}"/>
              </a:ext>
            </a:extLst>
          </p:cNvPr>
          <p:cNvSpPr>
            <a:spLocks/>
          </p:cNvSpPr>
          <p:nvPr/>
        </p:nvSpPr>
        <p:spPr>
          <a:xfrm>
            <a:off x="609600" y="61722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0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CONCEPT DIRECTION  |  2026.07</a:t>
            </a:r>
          </a:p>
        </p:txBody>
      </p:sp>
      <p:sp>
        <p:nvSpPr>
          <p:cNvPr id="16" name="cover-page">
            <a:extLst>
              <a:ext uri="{FF2B5EF4-FFF2-40B4-BE49-F238E27FC236}">
                <a16:creationId xmlns:a16="http://schemas.microsoft.com/office/drawing/2014/main" id="{DB7EDEE5-8246-4542-B3C6-3961BAD98F48}"/>
              </a:ext>
            </a:extLst>
          </p:cNvPr>
          <p:cNvSpPr>
            <a:spLocks/>
          </p:cNvSpPr>
          <p:nvPr/>
        </p:nvSpPr>
        <p:spPr>
          <a:xfrm>
            <a:off x="10934700" y="61722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buNone/>
              <a:defRPr sz="10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39675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header-02">
            <a:extLst>
              <a:ext uri="{FF2B5EF4-FFF2-40B4-BE49-F238E27FC236}">
                <a16:creationId xmlns:a16="http://schemas.microsoft.com/office/drawing/2014/main" id="{AD0FCC7E-874A-4FE7-BF6F-A03B5EC9CAE2}"/>
              </a:ext>
            </a:extLst>
          </p:cNvPr>
          <p:cNvSpPr>
            <a:spLocks/>
          </p:cNvSpPr>
          <p:nvPr/>
        </p:nvSpPr>
        <p:spPr>
          <a:xfrm>
            <a:off x="609600" y="266700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01. AI Agent 개발 추진 방향</a:t>
            </a:r>
          </a:p>
        </p:txBody>
      </p:sp>
      <p:sp>
        <p:nvSpPr>
          <p:cNvPr id="2" name="page-02">
            <a:extLst>
              <a:ext uri="{FF2B5EF4-FFF2-40B4-BE49-F238E27FC236}">
                <a16:creationId xmlns:a16="http://schemas.microsoft.com/office/drawing/2014/main" id="{C1099E15-F216-4A5E-8BFF-55642C15723E}"/>
              </a:ext>
            </a:extLst>
          </p:cNvPr>
          <p:cNvSpPr>
            <a:spLocks/>
          </p:cNvSpPr>
          <p:nvPr/>
        </p:nvSpPr>
        <p:spPr>
          <a:xfrm>
            <a:off x="10934700" y="266700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buNone/>
              <a:def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" name="header-rule-02">
            <a:extLst>
              <a:ext uri="{FF2B5EF4-FFF2-40B4-BE49-F238E27FC236}">
                <a16:creationId xmlns:a16="http://schemas.microsoft.com/office/drawing/2014/main" id="{65B99E47-1DCD-4EDC-9B9B-98A8110E80E8}"/>
              </a:ext>
            </a:extLst>
          </p:cNvPr>
          <p:cNvSpPr>
            <a:spLocks/>
          </p:cNvSpPr>
          <p:nvPr/>
        </p:nvSpPr>
        <p:spPr>
          <a:xfrm>
            <a:off x="609600" y="685800"/>
            <a:ext cx="10972800" cy="9525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direction-title">
            <a:extLst>
              <a:ext uri="{FF2B5EF4-FFF2-40B4-BE49-F238E27FC236}">
                <a16:creationId xmlns:a16="http://schemas.microsoft.com/office/drawing/2014/main" id="{0EE4AD85-567D-4346-B735-DC318EF3F380}"/>
              </a:ext>
            </a:extLst>
          </p:cNvPr>
          <p:cNvSpPr>
            <a:spLocks/>
          </p:cNvSpPr>
          <p:nvPr/>
        </p:nvSpPr>
        <p:spPr>
          <a:xfrm>
            <a:off x="609600" y="914577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325" b="1">
                <a:solidFill>
                  <a:srgbClr val="111A23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20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rgbClr val="111A2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중앙 집중 개발과 조직 자율 개발 방식은 선택의 요소가 아니라 역할의 분담 문제</a:t>
            </a:r>
          </a:p>
        </p:txBody>
      </p:sp>
      <p:sp>
        <p:nvSpPr>
          <p:cNvPr id="5" name="direction-subtitle">
            <a:extLst>
              <a:ext uri="{FF2B5EF4-FFF2-40B4-BE49-F238E27FC236}">
                <a16:creationId xmlns:a16="http://schemas.microsoft.com/office/drawing/2014/main" id="{D23DB692-FE81-4766-BDD5-2A7A5C039C1F}"/>
              </a:ext>
            </a:extLst>
          </p:cNvPr>
          <p:cNvSpPr>
            <a:spLocks/>
          </p:cNvSpPr>
          <p:nvPr/>
        </p:nvSpPr>
        <p:spPr>
          <a:xfrm>
            <a:off x="619125" y="1371777"/>
            <a:ext cx="10972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687684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6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중앙 조직의 전문 개발 역량과 개별 조직의 현업 지식</a:t>
            </a:r>
            <a:r>
              <a:rPr lang="en-US" altLang="ko-KR" sz="16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/</a:t>
            </a:r>
            <a:r>
              <a:rPr lang="ko-KR" altLang="en-US" sz="16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활용에 대한 장점을 결합하여 방향을 설정</a:t>
            </a:r>
          </a:p>
        </p:txBody>
      </p:sp>
      <p:sp>
        <p:nvSpPr>
          <p:cNvPr id="6" name="direction-divider">
            <a:extLst>
              <a:ext uri="{FF2B5EF4-FFF2-40B4-BE49-F238E27FC236}">
                <a16:creationId xmlns:a16="http://schemas.microsoft.com/office/drawing/2014/main" id="{77535A26-2567-4A24-93B1-C58016C0B4AC}"/>
              </a:ext>
            </a:extLst>
          </p:cNvPr>
          <p:cNvSpPr>
            <a:spLocks/>
          </p:cNvSpPr>
          <p:nvPr/>
        </p:nvSpPr>
        <p:spPr>
          <a:xfrm>
            <a:off x="6096000" y="1911468"/>
            <a:ext cx="9525" cy="2438400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central-num">
            <a:extLst>
              <a:ext uri="{FF2B5EF4-FFF2-40B4-BE49-F238E27FC236}">
                <a16:creationId xmlns:a16="http://schemas.microsoft.com/office/drawing/2014/main" id="{A2164939-814F-4FAE-847C-360D8BBA31C1}"/>
              </a:ext>
            </a:extLst>
          </p:cNvPr>
          <p:cNvSpPr>
            <a:spLocks/>
          </p:cNvSpPr>
          <p:nvPr/>
        </p:nvSpPr>
        <p:spPr>
          <a:xfrm>
            <a:off x="609600" y="2126772"/>
            <a:ext cx="95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375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8" name="central-eng">
            <a:extLst>
              <a:ext uri="{FF2B5EF4-FFF2-40B4-BE49-F238E27FC236}">
                <a16:creationId xmlns:a16="http://schemas.microsoft.com/office/drawing/2014/main" id="{A46339D9-11A5-4FFD-BB8B-1CB5C3CAE1C3}"/>
              </a:ext>
            </a:extLst>
          </p:cNvPr>
          <p:cNvSpPr>
            <a:spLocks/>
          </p:cNvSpPr>
          <p:nvPr/>
        </p:nvSpPr>
        <p:spPr>
          <a:xfrm>
            <a:off x="1581150" y="2131803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CENTRAL DEVELOPMENT</a:t>
            </a:r>
          </a:p>
        </p:txBody>
      </p:sp>
      <p:sp>
        <p:nvSpPr>
          <p:cNvPr id="9" name="central-title">
            <a:extLst>
              <a:ext uri="{FF2B5EF4-FFF2-40B4-BE49-F238E27FC236}">
                <a16:creationId xmlns:a16="http://schemas.microsoft.com/office/drawing/2014/main" id="{BCB76FE8-0E6D-4B17-B086-2CF7890BA946}"/>
              </a:ext>
            </a:extLst>
          </p:cNvPr>
          <p:cNvSpPr>
            <a:spLocks/>
          </p:cNvSpPr>
          <p:nvPr/>
        </p:nvSpPr>
        <p:spPr>
          <a:xfrm>
            <a:off x="1581150" y="2365794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1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중앙</a:t>
            </a:r>
            <a:r>
              <a:rPr sz="2175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2175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집중 개발</a:t>
            </a:r>
            <a:endParaRPr sz="2175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central-rule">
            <a:extLst>
              <a:ext uri="{FF2B5EF4-FFF2-40B4-BE49-F238E27FC236}">
                <a16:creationId xmlns:a16="http://schemas.microsoft.com/office/drawing/2014/main" id="{9A137424-5B6E-4D14-A364-6C613A40BEAD}"/>
              </a:ext>
            </a:extLst>
          </p:cNvPr>
          <p:cNvSpPr>
            <a:spLocks/>
          </p:cNvSpPr>
          <p:nvPr/>
        </p:nvSpPr>
        <p:spPr>
          <a:xfrm>
            <a:off x="609600" y="2768718"/>
            <a:ext cx="5124450" cy="38100"/>
          </a:xfrm>
          <a:prstGeom prst="rect">
            <a:avLst/>
          </a:prstGeom>
          <a:solidFill>
            <a:srgbClr val="30303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central-strength-label">
            <a:extLst>
              <a:ext uri="{FF2B5EF4-FFF2-40B4-BE49-F238E27FC236}">
                <a16:creationId xmlns:a16="http://schemas.microsoft.com/office/drawing/2014/main" id="{05A9F81A-5059-458F-98BC-B9D393B395E9}"/>
              </a:ext>
            </a:extLst>
          </p:cNvPr>
          <p:cNvSpPr>
            <a:spLocks/>
          </p:cNvSpPr>
          <p:nvPr/>
        </p:nvSpPr>
        <p:spPr>
          <a:xfrm>
            <a:off x="609600" y="3061027"/>
            <a:ext cx="93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6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장점</a:t>
            </a:r>
            <a:endParaRPr sz="16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central-strength">
            <a:extLst>
              <a:ext uri="{FF2B5EF4-FFF2-40B4-BE49-F238E27FC236}">
                <a16:creationId xmlns:a16="http://schemas.microsoft.com/office/drawing/2014/main" id="{D66A04D3-BD08-4862-A2DD-6B5C049AAF76}"/>
              </a:ext>
            </a:extLst>
          </p:cNvPr>
          <p:cNvSpPr>
            <a:spLocks/>
          </p:cNvSpPr>
          <p:nvPr/>
        </p:nvSpPr>
        <p:spPr>
          <a:xfrm>
            <a:off x="1590676" y="2880052"/>
            <a:ext cx="4267199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  <a:defRPr sz="142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40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최고</a:t>
            </a:r>
            <a:r>
              <a:rPr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수준</a:t>
            </a:r>
            <a:r>
              <a:rPr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개발역량</a:t>
            </a:r>
            <a:r>
              <a:rPr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집중</a:t>
            </a: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으로</a:t>
            </a:r>
            <a:r>
              <a:rPr 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 </a:t>
            </a: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완성도</a:t>
            </a:r>
            <a:r>
              <a:rPr lang="en-US" altLang="ko-KR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·</a:t>
            </a: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안정성 향상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  <a:defRPr sz="142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품질</a:t>
            </a:r>
            <a:r>
              <a:rPr lang="en-US" altLang="ko-KR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·</a:t>
            </a: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보안</a:t>
            </a:r>
            <a:r>
              <a:rPr lang="en-US" altLang="ko-KR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·</a:t>
            </a: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운영 기준을 일관되게 적용</a:t>
            </a:r>
            <a:endParaRPr sz="140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</a:endParaRPr>
          </a:p>
        </p:txBody>
      </p:sp>
      <p:sp>
        <p:nvSpPr>
          <p:cNvPr id="13" name="central-light-rule">
            <a:extLst>
              <a:ext uri="{FF2B5EF4-FFF2-40B4-BE49-F238E27FC236}">
                <a16:creationId xmlns:a16="http://schemas.microsoft.com/office/drawing/2014/main" id="{243BEDA0-50B3-4BE1-9DE9-5369CC7744D4}"/>
              </a:ext>
            </a:extLst>
          </p:cNvPr>
          <p:cNvSpPr>
            <a:spLocks/>
          </p:cNvSpPr>
          <p:nvPr/>
        </p:nvSpPr>
        <p:spPr>
          <a:xfrm>
            <a:off x="609600" y="3625968"/>
            <a:ext cx="5124450" cy="9525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central-gap-label">
            <a:extLst>
              <a:ext uri="{FF2B5EF4-FFF2-40B4-BE49-F238E27FC236}">
                <a16:creationId xmlns:a16="http://schemas.microsoft.com/office/drawing/2014/main" id="{83CDFF5B-E3E3-49B2-B3DD-097FC348F6D1}"/>
              </a:ext>
            </a:extLst>
          </p:cNvPr>
          <p:cNvSpPr>
            <a:spLocks/>
          </p:cNvSpPr>
          <p:nvPr/>
        </p:nvSpPr>
        <p:spPr>
          <a:xfrm>
            <a:off x="609600" y="3883143"/>
            <a:ext cx="93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6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단점</a:t>
            </a:r>
            <a:endParaRPr sz="16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77777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central-gap">
            <a:extLst>
              <a:ext uri="{FF2B5EF4-FFF2-40B4-BE49-F238E27FC236}">
                <a16:creationId xmlns:a16="http://schemas.microsoft.com/office/drawing/2014/main" id="{F37512E4-8270-4C00-9541-147C8780B91F}"/>
              </a:ext>
            </a:extLst>
          </p:cNvPr>
          <p:cNvSpPr>
            <a:spLocks/>
          </p:cNvSpPr>
          <p:nvPr/>
        </p:nvSpPr>
        <p:spPr>
          <a:xfrm>
            <a:off x="1590676" y="3702168"/>
            <a:ext cx="4286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  <a:defRPr sz="142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</a:rPr>
              <a:t>제한된 개발 인력으로 신속한 개발이 어려움</a:t>
            </a:r>
            <a:endParaRPr lang="en-US" altLang="ko-KR" sz="140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</a:endParaRP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  <a:defRPr sz="142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</a:rPr>
              <a:t>현업 요구가 그대로 반영되기 어려워 활용성 저하</a:t>
            </a:r>
          </a:p>
        </p:txBody>
      </p:sp>
      <p:sp>
        <p:nvSpPr>
          <p:cNvPr id="16" name="org-num">
            <a:extLst>
              <a:ext uri="{FF2B5EF4-FFF2-40B4-BE49-F238E27FC236}">
                <a16:creationId xmlns:a16="http://schemas.microsoft.com/office/drawing/2014/main" id="{3EE79DEB-CB05-4E32-B977-4C646C653C98}"/>
              </a:ext>
            </a:extLst>
          </p:cNvPr>
          <p:cNvSpPr>
            <a:spLocks/>
          </p:cNvSpPr>
          <p:nvPr/>
        </p:nvSpPr>
        <p:spPr>
          <a:xfrm>
            <a:off x="6343650" y="2126772"/>
            <a:ext cx="95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375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7" name="org-eng">
            <a:extLst>
              <a:ext uri="{FF2B5EF4-FFF2-40B4-BE49-F238E27FC236}">
                <a16:creationId xmlns:a16="http://schemas.microsoft.com/office/drawing/2014/main" id="{B7A52D58-EF91-4856-BECE-1E94B8EDE279}"/>
              </a:ext>
            </a:extLst>
          </p:cNvPr>
          <p:cNvSpPr>
            <a:spLocks/>
          </p:cNvSpPr>
          <p:nvPr/>
        </p:nvSpPr>
        <p:spPr>
          <a:xfrm>
            <a:off x="7315200" y="2131803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ORGANIZATIONAL DEVELOPMENT</a:t>
            </a:r>
          </a:p>
        </p:txBody>
      </p:sp>
      <p:sp>
        <p:nvSpPr>
          <p:cNvPr id="18" name="org-title">
            <a:extLst>
              <a:ext uri="{FF2B5EF4-FFF2-40B4-BE49-F238E27FC236}">
                <a16:creationId xmlns:a16="http://schemas.microsoft.com/office/drawing/2014/main" id="{C9814D90-F238-464B-8127-894350C8568C}"/>
              </a:ext>
            </a:extLst>
          </p:cNvPr>
          <p:cNvSpPr>
            <a:spLocks/>
          </p:cNvSpPr>
          <p:nvPr/>
        </p:nvSpPr>
        <p:spPr>
          <a:xfrm>
            <a:off x="7315200" y="2365794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1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조직</a:t>
            </a:r>
            <a:r>
              <a:rPr sz="2175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175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자율</a:t>
            </a:r>
            <a:r>
              <a:rPr sz="2175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175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개발</a:t>
            </a:r>
            <a:endParaRPr sz="2175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org-rule">
            <a:extLst>
              <a:ext uri="{FF2B5EF4-FFF2-40B4-BE49-F238E27FC236}">
                <a16:creationId xmlns:a16="http://schemas.microsoft.com/office/drawing/2014/main" id="{720EA80B-48BC-499E-8381-51A4FB5633F5}"/>
              </a:ext>
            </a:extLst>
          </p:cNvPr>
          <p:cNvSpPr>
            <a:spLocks/>
          </p:cNvSpPr>
          <p:nvPr/>
        </p:nvSpPr>
        <p:spPr>
          <a:xfrm>
            <a:off x="6343650" y="2768718"/>
            <a:ext cx="5238750" cy="38100"/>
          </a:xfrm>
          <a:prstGeom prst="rect">
            <a:avLst/>
          </a:prstGeom>
          <a:solidFill>
            <a:srgbClr val="77777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org-strength-label">
            <a:extLst>
              <a:ext uri="{FF2B5EF4-FFF2-40B4-BE49-F238E27FC236}">
                <a16:creationId xmlns:a16="http://schemas.microsoft.com/office/drawing/2014/main" id="{B90B2A44-9398-4AAE-9B32-2A3E823CB483}"/>
              </a:ext>
            </a:extLst>
          </p:cNvPr>
          <p:cNvSpPr>
            <a:spLocks/>
          </p:cNvSpPr>
          <p:nvPr/>
        </p:nvSpPr>
        <p:spPr>
          <a:xfrm>
            <a:off x="6343650" y="3061027"/>
            <a:ext cx="93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6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장점</a:t>
            </a:r>
            <a:endParaRPr sz="16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" name="org-strength">
            <a:extLst>
              <a:ext uri="{FF2B5EF4-FFF2-40B4-BE49-F238E27FC236}">
                <a16:creationId xmlns:a16="http://schemas.microsoft.com/office/drawing/2014/main" id="{6B74CF73-284F-463A-A6F1-021C36927432}"/>
              </a:ext>
            </a:extLst>
          </p:cNvPr>
          <p:cNvSpPr>
            <a:spLocks/>
          </p:cNvSpPr>
          <p:nvPr/>
        </p:nvSpPr>
        <p:spPr>
          <a:xfrm>
            <a:off x="7410450" y="2880052"/>
            <a:ext cx="4171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  <a:defRPr sz="142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40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필요</a:t>
            </a: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한 기능을 직접 신속하게 구현 및 개선</a:t>
            </a:r>
            <a:endParaRPr sz="140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</a:endParaRP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  <a:defRPr sz="142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40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업무</a:t>
            </a:r>
            <a:r>
              <a:rPr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맥락</a:t>
            </a:r>
            <a:r>
              <a:rPr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기반의</a:t>
            </a:r>
            <a:r>
              <a:rPr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높은</a:t>
            </a:r>
            <a:r>
              <a:rPr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현업</a:t>
            </a:r>
            <a:r>
              <a:rPr 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활용도와 적합성</a:t>
            </a:r>
            <a:endParaRPr sz="140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</a:endParaRPr>
          </a:p>
        </p:txBody>
      </p:sp>
      <p:sp>
        <p:nvSpPr>
          <p:cNvPr id="22" name="org-light-rule">
            <a:extLst>
              <a:ext uri="{FF2B5EF4-FFF2-40B4-BE49-F238E27FC236}">
                <a16:creationId xmlns:a16="http://schemas.microsoft.com/office/drawing/2014/main" id="{737353C8-754E-4B48-8E56-4D9EACA25BE7}"/>
              </a:ext>
            </a:extLst>
          </p:cNvPr>
          <p:cNvSpPr>
            <a:spLocks/>
          </p:cNvSpPr>
          <p:nvPr/>
        </p:nvSpPr>
        <p:spPr>
          <a:xfrm>
            <a:off x="6343650" y="3625968"/>
            <a:ext cx="5238750" cy="9525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org-gap-label">
            <a:extLst>
              <a:ext uri="{FF2B5EF4-FFF2-40B4-BE49-F238E27FC236}">
                <a16:creationId xmlns:a16="http://schemas.microsoft.com/office/drawing/2014/main" id="{8319E840-FE4A-43ED-AAC3-E63B47198C7F}"/>
              </a:ext>
            </a:extLst>
          </p:cNvPr>
          <p:cNvSpPr>
            <a:spLocks/>
          </p:cNvSpPr>
          <p:nvPr/>
        </p:nvSpPr>
        <p:spPr>
          <a:xfrm>
            <a:off x="6343650" y="3883143"/>
            <a:ext cx="93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6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단점</a:t>
            </a:r>
            <a:endParaRPr sz="16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77777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" name="org-gap">
            <a:extLst>
              <a:ext uri="{FF2B5EF4-FFF2-40B4-BE49-F238E27FC236}">
                <a16:creationId xmlns:a16="http://schemas.microsoft.com/office/drawing/2014/main" id="{C9E21E0F-F069-49FA-8380-9DC90AF04948}"/>
              </a:ext>
            </a:extLst>
          </p:cNvPr>
          <p:cNvSpPr>
            <a:spLocks/>
          </p:cNvSpPr>
          <p:nvPr/>
        </p:nvSpPr>
        <p:spPr>
          <a:xfrm>
            <a:off x="7410449" y="3702168"/>
            <a:ext cx="4280807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  <a:defRPr sz="142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</a:rPr>
              <a:t>개발자 수준 차이로 인한 편차와 중복 개발</a:t>
            </a:r>
            <a:endParaRPr lang="en-US" altLang="ko-KR" sz="140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</a:endParaRP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  <a:defRPr sz="142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4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분산된 구현 방식으로 연결</a:t>
            </a:r>
            <a:r>
              <a:rPr lang="en-US" altLang="ko-KR" sz="14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재사용의 어려움</a:t>
            </a:r>
            <a:endParaRPr sz="140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</a:endParaRPr>
          </a:p>
        </p:txBody>
      </p:sp>
      <p:sp>
        <p:nvSpPr>
          <p:cNvPr id="25" name="operating-model">
            <a:extLst>
              <a:ext uri="{FF2B5EF4-FFF2-40B4-BE49-F238E27FC236}">
                <a16:creationId xmlns:a16="http://schemas.microsoft.com/office/drawing/2014/main" id="{8EB98226-6F7C-4667-BE81-082AF91D7E38}"/>
              </a:ext>
            </a:extLst>
          </p:cNvPr>
          <p:cNvSpPr>
            <a:spLocks/>
          </p:cNvSpPr>
          <p:nvPr/>
        </p:nvSpPr>
        <p:spPr>
          <a:xfrm>
            <a:off x="609600" y="4953000"/>
            <a:ext cx="10972800" cy="1200150"/>
          </a:xfrm>
          <a:prstGeom prst="rect">
            <a:avLst/>
          </a:prstGeom>
          <a:solidFill>
            <a:srgbClr val="30303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operating-label">
            <a:extLst>
              <a:ext uri="{FF2B5EF4-FFF2-40B4-BE49-F238E27FC236}">
                <a16:creationId xmlns:a16="http://schemas.microsoft.com/office/drawing/2014/main" id="{983906D7-4196-4C60-B2F8-8B651493719F}"/>
              </a:ext>
            </a:extLst>
          </p:cNvPr>
          <p:cNvSpPr>
            <a:spLocks/>
          </p:cNvSpPr>
          <p:nvPr/>
        </p:nvSpPr>
        <p:spPr>
          <a:xfrm>
            <a:off x="1291318" y="5003866"/>
            <a:ext cx="9608457" cy="3619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</a:rPr>
              <a:t>공통 </a:t>
            </a:r>
            <a:r>
              <a:rPr lang="en-US" altLang="ko-KR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</a:rPr>
              <a:t>Agent Engine</a:t>
            </a: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</a:rPr>
              <a:t>과 연결 기반을 제공하고</a:t>
            </a:r>
            <a:r>
              <a:rPr lang="en-US" altLang="ko-KR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</a:rPr>
              <a:t>, </a:t>
            </a: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</a:rPr>
              <a:t>현업의 업무를 반영한 </a:t>
            </a:r>
            <a:r>
              <a:rPr lang="en-US" altLang="ko-KR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</a:rPr>
              <a:t>Tool</a:t>
            </a: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</a:rPr>
              <a:t>과 업무 </a:t>
            </a:r>
            <a:r>
              <a:rPr lang="en-US" altLang="ko-KR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</a:rPr>
              <a:t>Workflow</a:t>
            </a: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</a:rPr>
              <a:t>는 각 조직의 자율개발로 확장</a:t>
            </a:r>
          </a:p>
        </p:txBody>
      </p:sp>
      <p:sp>
        <p:nvSpPr>
          <p:cNvPr id="27" name="operating-left">
            <a:extLst>
              <a:ext uri="{FF2B5EF4-FFF2-40B4-BE49-F238E27FC236}">
                <a16:creationId xmlns:a16="http://schemas.microsoft.com/office/drawing/2014/main" id="{CF591C9A-2505-47D5-923D-E9B7D072CD89}"/>
              </a:ext>
            </a:extLst>
          </p:cNvPr>
          <p:cNvSpPr>
            <a:spLocks/>
          </p:cNvSpPr>
          <p:nvPr/>
        </p:nvSpPr>
        <p:spPr>
          <a:xfrm>
            <a:off x="857250" y="5410200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0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부문</a:t>
            </a:r>
            <a:r>
              <a:rPr sz="2025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25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공통</a:t>
            </a:r>
            <a:r>
              <a:rPr sz="2025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25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</a:t>
            </a:r>
            <a:endParaRPr sz="2025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" name="operating-left-sub">
            <a:extLst>
              <a:ext uri="{FF2B5EF4-FFF2-40B4-BE49-F238E27FC236}">
                <a16:creationId xmlns:a16="http://schemas.microsoft.com/office/drawing/2014/main" id="{818A8DFB-6531-4B51-B93B-23DA94BFCAC6}"/>
              </a:ext>
            </a:extLst>
          </p:cNvPr>
          <p:cNvSpPr>
            <a:spLocks/>
          </p:cNvSpPr>
          <p:nvPr/>
        </p:nvSpPr>
        <p:spPr>
          <a:xfrm>
            <a:off x="857250" y="57721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Agent Engine · P</a:t>
            </a:r>
            <a:r>
              <a:rPr lang="en-US"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latform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공통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활용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 Tool ·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연결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기준</a:t>
            </a:r>
            <a:endParaRPr sz="12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E9E9E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" name="operating-plus">
            <a:extLst>
              <a:ext uri="{FF2B5EF4-FFF2-40B4-BE49-F238E27FC236}">
                <a16:creationId xmlns:a16="http://schemas.microsoft.com/office/drawing/2014/main" id="{DEA8BFDC-4580-458D-89F3-4B9FC8E5456D}"/>
              </a:ext>
            </a:extLst>
          </p:cNvPr>
          <p:cNvSpPr>
            <a:spLocks/>
          </p:cNvSpPr>
          <p:nvPr/>
        </p:nvSpPr>
        <p:spPr>
          <a:xfrm>
            <a:off x="5734050" y="5410200"/>
            <a:ext cx="1066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34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defRPr>
            </a:pPr>
            <a:r>
              <a:rPr sz="345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30" name="operating-right">
            <a:extLst>
              <a:ext uri="{FF2B5EF4-FFF2-40B4-BE49-F238E27FC236}">
                <a16:creationId xmlns:a16="http://schemas.microsoft.com/office/drawing/2014/main" id="{4AF37FA7-EFFB-4552-8061-5625AE8D3CF3}"/>
              </a:ext>
            </a:extLst>
          </p:cNvPr>
          <p:cNvSpPr>
            <a:spLocks/>
          </p:cNvSpPr>
          <p:nvPr/>
        </p:nvSpPr>
        <p:spPr>
          <a:xfrm>
            <a:off x="7067550" y="5410200"/>
            <a:ext cx="361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0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조직 자율 개발</a:t>
            </a:r>
          </a:p>
        </p:txBody>
      </p:sp>
      <p:sp>
        <p:nvSpPr>
          <p:cNvPr id="31" name="operating-right-sub">
            <a:extLst>
              <a:ext uri="{FF2B5EF4-FFF2-40B4-BE49-F238E27FC236}">
                <a16:creationId xmlns:a16="http://schemas.microsoft.com/office/drawing/2014/main" id="{8F26DD9D-150D-4B01-A86D-1EEB56F72339}"/>
              </a:ext>
            </a:extLst>
          </p:cNvPr>
          <p:cNvSpPr>
            <a:spLocks/>
          </p:cNvSpPr>
          <p:nvPr/>
        </p:nvSpPr>
        <p:spPr>
          <a:xfrm>
            <a:off x="7067550" y="57721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업무 Tool · Skill · Workflow · 실사용 기반 개선</a:t>
            </a:r>
          </a:p>
        </p:txBody>
      </p:sp>
      <p:pic>
        <p:nvPicPr>
          <p:cNvPr id="66" name="그림 6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838700" y="5416680"/>
            <a:ext cx="628650" cy="606537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BAE224CA-6003-96D1-2C59-CB753F069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22630" y="5416680"/>
            <a:ext cx="633639" cy="59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180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3B307AB8-0345-6948-71B0-ED0FA8EB9F7B}"/>
              </a:ext>
            </a:extLst>
          </p:cNvPr>
          <p:cNvSpPr/>
          <p:nvPr/>
        </p:nvSpPr>
        <p:spPr>
          <a:xfrm>
            <a:off x="609600" y="2382512"/>
            <a:ext cx="7943852" cy="3886200"/>
          </a:xfrm>
          <a:prstGeom prst="roundRect">
            <a:avLst>
              <a:gd name="adj" fmla="val 8506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50800" dist="38100" dir="2700000" sx="99000" sy="99000" algn="tl" rotWithShape="0">
              <a:prstClr val="black">
                <a:alpha val="5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ED7A9F7-8F16-0C86-B28E-31E47318CCE3}"/>
              </a:ext>
            </a:extLst>
          </p:cNvPr>
          <p:cNvCxnSpPr>
            <a:cxnSpLocks/>
            <a:stCxn id="17" idx="3"/>
            <a:endCxn id="24" idx="1"/>
          </p:cNvCxnSpPr>
          <p:nvPr/>
        </p:nvCxnSpPr>
        <p:spPr>
          <a:xfrm>
            <a:off x="3156951" y="3590830"/>
            <a:ext cx="2815224" cy="31933"/>
          </a:xfrm>
          <a:prstGeom prst="straightConnector1">
            <a:avLst/>
          </a:prstGeom>
          <a:ln w="57150">
            <a:solidFill>
              <a:srgbClr val="9A9A9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header-03">
            <a:extLst>
              <a:ext uri="{FF2B5EF4-FFF2-40B4-BE49-F238E27FC236}">
                <a16:creationId xmlns:a16="http://schemas.microsoft.com/office/drawing/2014/main" id="{A3E27B24-E96F-438F-ACD7-E54FE1FFBC9E}"/>
              </a:ext>
            </a:extLst>
          </p:cNvPr>
          <p:cNvSpPr>
            <a:spLocks/>
          </p:cNvSpPr>
          <p:nvPr/>
        </p:nvSpPr>
        <p:spPr>
          <a:xfrm>
            <a:off x="609600" y="266700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02. 목표 운영 구조</a:t>
            </a:r>
          </a:p>
        </p:txBody>
      </p:sp>
      <p:sp>
        <p:nvSpPr>
          <p:cNvPr id="2" name="page-03">
            <a:extLst>
              <a:ext uri="{FF2B5EF4-FFF2-40B4-BE49-F238E27FC236}">
                <a16:creationId xmlns:a16="http://schemas.microsoft.com/office/drawing/2014/main" id="{6ABC854E-A017-4ABD-97B5-336C229FC53C}"/>
              </a:ext>
            </a:extLst>
          </p:cNvPr>
          <p:cNvSpPr>
            <a:spLocks/>
          </p:cNvSpPr>
          <p:nvPr/>
        </p:nvSpPr>
        <p:spPr>
          <a:xfrm>
            <a:off x="10934700" y="266700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buNone/>
              <a:def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" name="header-rule-03">
            <a:extLst>
              <a:ext uri="{FF2B5EF4-FFF2-40B4-BE49-F238E27FC236}">
                <a16:creationId xmlns:a16="http://schemas.microsoft.com/office/drawing/2014/main" id="{EF8503CB-40CE-48C1-A7E9-9AC743F7DB36}"/>
              </a:ext>
            </a:extLst>
          </p:cNvPr>
          <p:cNvSpPr>
            <a:spLocks/>
          </p:cNvSpPr>
          <p:nvPr/>
        </p:nvSpPr>
        <p:spPr>
          <a:xfrm>
            <a:off x="609600" y="685800"/>
            <a:ext cx="10972800" cy="9525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engine-drop">
            <a:extLst>
              <a:ext uri="{FF2B5EF4-FFF2-40B4-BE49-F238E27FC236}">
                <a16:creationId xmlns:a16="http://schemas.microsoft.com/office/drawing/2014/main" id="{1EB301F9-55C7-4E5D-971D-D784409F5D34}"/>
              </a:ext>
            </a:extLst>
          </p:cNvPr>
          <p:cNvSpPr>
            <a:spLocks/>
          </p:cNvSpPr>
          <p:nvPr/>
        </p:nvSpPr>
        <p:spPr>
          <a:xfrm>
            <a:off x="4572000" y="4033600"/>
            <a:ext cx="38100" cy="666750"/>
          </a:xfrm>
          <a:prstGeom prst="rect">
            <a:avLst/>
          </a:prstGeom>
          <a:solidFill>
            <a:srgbClr val="77777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engine-branch">
            <a:extLst>
              <a:ext uri="{FF2B5EF4-FFF2-40B4-BE49-F238E27FC236}">
                <a16:creationId xmlns:a16="http://schemas.microsoft.com/office/drawing/2014/main" id="{F94DF117-03BD-40CA-AC1B-03F6E1333F13}"/>
              </a:ext>
            </a:extLst>
          </p:cNvPr>
          <p:cNvSpPr>
            <a:spLocks/>
          </p:cNvSpPr>
          <p:nvPr/>
        </p:nvSpPr>
        <p:spPr>
          <a:xfrm>
            <a:off x="2286000" y="4674862"/>
            <a:ext cx="4572000" cy="38100"/>
          </a:xfrm>
          <a:prstGeom prst="rect">
            <a:avLst/>
          </a:prstGeom>
          <a:solidFill>
            <a:srgbClr val="77777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engine-branch-left">
            <a:extLst>
              <a:ext uri="{FF2B5EF4-FFF2-40B4-BE49-F238E27FC236}">
                <a16:creationId xmlns:a16="http://schemas.microsoft.com/office/drawing/2014/main" id="{771FC0C0-9937-4C79-B5C1-F9297D739A66}"/>
              </a:ext>
            </a:extLst>
          </p:cNvPr>
          <p:cNvSpPr>
            <a:spLocks/>
          </p:cNvSpPr>
          <p:nvPr/>
        </p:nvSpPr>
        <p:spPr>
          <a:xfrm>
            <a:off x="2286000" y="4674862"/>
            <a:ext cx="38100" cy="323850"/>
          </a:xfrm>
          <a:prstGeom prst="rect">
            <a:avLst/>
          </a:prstGeom>
          <a:solidFill>
            <a:srgbClr val="77777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engine-branch-right">
            <a:extLst>
              <a:ext uri="{FF2B5EF4-FFF2-40B4-BE49-F238E27FC236}">
                <a16:creationId xmlns:a16="http://schemas.microsoft.com/office/drawing/2014/main" id="{17A02935-58F4-4EE8-8E53-7F7875CFC569}"/>
              </a:ext>
            </a:extLst>
          </p:cNvPr>
          <p:cNvSpPr>
            <a:spLocks/>
          </p:cNvSpPr>
          <p:nvPr/>
        </p:nvSpPr>
        <p:spPr>
          <a:xfrm>
            <a:off x="6819900" y="4674862"/>
            <a:ext cx="38100" cy="323850"/>
          </a:xfrm>
          <a:prstGeom prst="rect">
            <a:avLst/>
          </a:prstGeom>
          <a:solidFill>
            <a:srgbClr val="77777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profile-node">
            <a:extLst>
              <a:ext uri="{FF2B5EF4-FFF2-40B4-BE49-F238E27FC236}">
                <a16:creationId xmlns:a16="http://schemas.microsoft.com/office/drawing/2014/main" id="{C7152579-4559-4BF4-9600-A16F7CEF2110}"/>
              </a:ext>
            </a:extLst>
          </p:cNvPr>
          <p:cNvSpPr>
            <a:spLocks/>
          </p:cNvSpPr>
          <p:nvPr/>
        </p:nvSpPr>
        <p:spPr>
          <a:xfrm>
            <a:off x="996951" y="3152680"/>
            <a:ext cx="2160000" cy="87630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profile-node-main">
            <a:extLst>
              <a:ext uri="{FF2B5EF4-FFF2-40B4-BE49-F238E27FC236}">
                <a16:creationId xmlns:a16="http://schemas.microsoft.com/office/drawing/2014/main" id="{FCD8715D-6AB0-499C-BC8A-F08A02F6F9CD}"/>
              </a:ext>
            </a:extLst>
          </p:cNvPr>
          <p:cNvSpPr>
            <a:spLocks/>
          </p:cNvSpPr>
          <p:nvPr/>
        </p:nvSpPr>
        <p:spPr>
          <a:xfrm>
            <a:off x="1127627" y="3441788"/>
            <a:ext cx="1898649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실행 영역 </a:t>
            </a:r>
            <a:r>
              <a:rPr lang="en-US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Profile</a:t>
            </a:r>
            <a:r>
              <a:rPr lang="ko-KR" altLang="en-US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구분</a:t>
            </a:r>
            <a:endParaRPr sz="15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" name="main-node">
            <a:extLst>
              <a:ext uri="{FF2B5EF4-FFF2-40B4-BE49-F238E27FC236}">
                <a16:creationId xmlns:a16="http://schemas.microsoft.com/office/drawing/2014/main" id="{D08C5811-0B4C-4D7D-9866-DAE3410195F1}"/>
              </a:ext>
            </a:extLst>
          </p:cNvPr>
          <p:cNvSpPr>
            <a:spLocks/>
          </p:cNvSpPr>
          <p:nvPr/>
        </p:nvSpPr>
        <p:spPr>
          <a:xfrm>
            <a:off x="3484563" y="3153938"/>
            <a:ext cx="2160000" cy="875042"/>
          </a:xfrm>
          <a:prstGeom prst="rect">
            <a:avLst/>
          </a:prstGeom>
          <a:solidFill>
            <a:srgbClr val="77777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main-node-main">
            <a:extLst>
              <a:ext uri="{FF2B5EF4-FFF2-40B4-BE49-F238E27FC236}">
                <a16:creationId xmlns:a16="http://schemas.microsoft.com/office/drawing/2014/main" id="{E706BBCC-934C-4B37-BA02-5EB414A3375E}"/>
              </a:ext>
            </a:extLst>
          </p:cNvPr>
          <p:cNvSpPr>
            <a:spLocks/>
          </p:cNvSpPr>
          <p:nvPr/>
        </p:nvSpPr>
        <p:spPr>
          <a:xfrm>
            <a:off x="3802563" y="3432263"/>
            <a:ext cx="152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Main Agent</a:t>
            </a:r>
          </a:p>
        </p:txBody>
      </p:sp>
      <p:sp>
        <p:nvSpPr>
          <p:cNvPr id="23" name="main-node-sub">
            <a:extLst>
              <a:ext uri="{FF2B5EF4-FFF2-40B4-BE49-F238E27FC236}">
                <a16:creationId xmlns:a16="http://schemas.microsoft.com/office/drawing/2014/main" id="{0C720B73-C1AC-4B05-BAB3-8A9FB138155C}"/>
              </a:ext>
            </a:extLst>
          </p:cNvPr>
          <p:cNvSpPr>
            <a:spLocks/>
          </p:cNvSpPr>
          <p:nvPr/>
        </p:nvSpPr>
        <p:spPr>
          <a:xfrm>
            <a:off x="3564439" y="3776425"/>
            <a:ext cx="2000248" cy="176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08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Metadata</a:t>
            </a:r>
            <a:r>
              <a:rPr lang="en-US"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탐색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/ 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Skill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참고</a:t>
            </a:r>
            <a:endParaRPr sz="11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E9E9E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" name="execute-node">
            <a:extLst>
              <a:ext uri="{FF2B5EF4-FFF2-40B4-BE49-F238E27FC236}">
                <a16:creationId xmlns:a16="http://schemas.microsoft.com/office/drawing/2014/main" id="{2691D86D-F6DA-4029-A8A3-CE8C2BE33610}"/>
              </a:ext>
            </a:extLst>
          </p:cNvPr>
          <p:cNvSpPr>
            <a:spLocks/>
          </p:cNvSpPr>
          <p:nvPr/>
        </p:nvSpPr>
        <p:spPr>
          <a:xfrm>
            <a:off x="5972175" y="3184613"/>
            <a:ext cx="2160000" cy="8763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execute-node-main">
            <a:extLst>
              <a:ext uri="{FF2B5EF4-FFF2-40B4-BE49-F238E27FC236}">
                <a16:creationId xmlns:a16="http://schemas.microsoft.com/office/drawing/2014/main" id="{6797DA4B-8BCB-46C3-BCBC-E1AE2A014B2A}"/>
              </a:ext>
            </a:extLst>
          </p:cNvPr>
          <p:cNvSpPr>
            <a:spLocks/>
          </p:cNvSpPr>
          <p:nvPr/>
        </p:nvSpPr>
        <p:spPr>
          <a:xfrm>
            <a:off x="6075862" y="3503558"/>
            <a:ext cx="1952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3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Tool </a:t>
            </a:r>
            <a:r>
              <a:rPr sz="13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직접</a:t>
            </a:r>
            <a:r>
              <a:rPr sz="13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실행</a:t>
            </a:r>
            <a:endParaRPr sz="13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05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3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Sub Agent </a:t>
            </a:r>
            <a:r>
              <a:rPr lang="ko-KR" altLang="en-US" sz="13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실행</a:t>
            </a:r>
            <a:r>
              <a:rPr sz="13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위임</a:t>
            </a:r>
            <a:endParaRPr sz="13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org-tools">
            <a:extLst>
              <a:ext uri="{FF2B5EF4-FFF2-40B4-BE49-F238E27FC236}">
                <a16:creationId xmlns:a16="http://schemas.microsoft.com/office/drawing/2014/main" id="{561E5DFA-29C0-4E69-A321-956F295A76EF}"/>
              </a:ext>
            </a:extLst>
          </p:cNvPr>
          <p:cNvSpPr>
            <a:spLocks/>
          </p:cNvSpPr>
          <p:nvPr/>
        </p:nvSpPr>
        <p:spPr>
          <a:xfrm>
            <a:off x="1066800" y="4998712"/>
            <a:ext cx="3162300" cy="666750"/>
          </a:xfrm>
          <a:prstGeom prst="rect">
            <a:avLst/>
          </a:prstGeom>
          <a:solidFill>
            <a:srgbClr val="48484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org-tools-title">
            <a:extLst>
              <a:ext uri="{FF2B5EF4-FFF2-40B4-BE49-F238E27FC236}">
                <a16:creationId xmlns:a16="http://schemas.microsoft.com/office/drawing/2014/main" id="{BD66369E-F4C0-456D-8183-1540D66324F6}"/>
              </a:ext>
            </a:extLst>
          </p:cNvPr>
          <p:cNvSpPr>
            <a:spLocks/>
          </p:cNvSpPr>
          <p:nvPr/>
        </p:nvSpPr>
        <p:spPr>
          <a:xfrm>
            <a:off x="1257300" y="5074912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조직</a:t>
            </a:r>
            <a:r>
              <a:rPr lang="en-US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</a:t>
            </a:r>
            <a:r>
              <a:rPr lang="en-US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특화 </a:t>
            </a:r>
            <a:r>
              <a:rPr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</a:t>
            </a:r>
            <a:r>
              <a:rPr lang="ko-KR" altLang="en-US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능</a:t>
            </a:r>
            <a:endParaRPr sz="15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" name="org-tools-sub">
            <a:extLst>
              <a:ext uri="{FF2B5EF4-FFF2-40B4-BE49-F238E27FC236}">
                <a16:creationId xmlns:a16="http://schemas.microsoft.com/office/drawing/2014/main" id="{367DEDFA-A92E-4721-8450-20339C7192A4}"/>
              </a:ext>
            </a:extLst>
          </p:cNvPr>
          <p:cNvSpPr>
            <a:spLocks/>
          </p:cNvSpPr>
          <p:nvPr/>
        </p:nvSpPr>
        <p:spPr>
          <a:xfrm>
            <a:off x="1127626" y="5377799"/>
            <a:ext cx="3101473" cy="205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12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각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조직</a:t>
            </a:r>
            <a:r>
              <a:rPr lang="ko-KR" altLang="en-US"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에서</a:t>
            </a:r>
            <a:r>
              <a:rPr lang="ko-KR" altLang="en-US" sz="11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개발·운영</a:t>
            </a:r>
            <a:r>
              <a:rPr lang="en-US"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, MCP </a:t>
            </a:r>
            <a:r>
              <a:rPr lang="ko-KR" altLang="en-US"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기반 공통 연결 형식</a:t>
            </a:r>
            <a:endParaRPr sz="11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E9E9E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0" name="common-tools">
            <a:extLst>
              <a:ext uri="{FF2B5EF4-FFF2-40B4-BE49-F238E27FC236}">
                <a16:creationId xmlns:a16="http://schemas.microsoft.com/office/drawing/2014/main" id="{E0D91F4D-FBE4-46EF-B4F6-11B6D39F2093}"/>
              </a:ext>
            </a:extLst>
          </p:cNvPr>
          <p:cNvSpPr>
            <a:spLocks/>
          </p:cNvSpPr>
          <p:nvPr/>
        </p:nvSpPr>
        <p:spPr>
          <a:xfrm>
            <a:off x="4914900" y="4998712"/>
            <a:ext cx="3162300" cy="666750"/>
          </a:xfrm>
          <a:prstGeom prst="rect">
            <a:avLst/>
          </a:prstGeom>
          <a:solidFill>
            <a:srgbClr val="77777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common-tools-title">
            <a:extLst>
              <a:ext uri="{FF2B5EF4-FFF2-40B4-BE49-F238E27FC236}">
                <a16:creationId xmlns:a16="http://schemas.microsoft.com/office/drawing/2014/main" id="{8722F6E0-94C5-4D98-B800-6992B59D9E76}"/>
              </a:ext>
            </a:extLst>
          </p:cNvPr>
          <p:cNvSpPr>
            <a:spLocks/>
          </p:cNvSpPr>
          <p:nvPr/>
        </p:nvSpPr>
        <p:spPr>
          <a:xfrm>
            <a:off x="5105400" y="5074912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부문 공통 활용 기능</a:t>
            </a:r>
          </a:p>
        </p:txBody>
      </p:sp>
      <p:sp>
        <p:nvSpPr>
          <p:cNvPr id="32" name="common-tools-sub">
            <a:extLst>
              <a:ext uri="{FF2B5EF4-FFF2-40B4-BE49-F238E27FC236}">
                <a16:creationId xmlns:a16="http://schemas.microsoft.com/office/drawing/2014/main" id="{5665250A-BE9C-4C57-BE42-C4AD608B1A20}"/>
              </a:ext>
            </a:extLst>
          </p:cNvPr>
          <p:cNvSpPr>
            <a:spLocks/>
          </p:cNvSpPr>
          <p:nvPr/>
        </p:nvSpPr>
        <p:spPr>
          <a:xfrm>
            <a:off x="5105400" y="5360662"/>
            <a:ext cx="2781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12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125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정리</a:t>
            </a:r>
            <a:r>
              <a:rPr lang="en-US" altLang="ko-KR" sz="1125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ko-KR" altLang="en-US" sz="1125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요약</a:t>
            </a:r>
            <a:r>
              <a:rPr sz="1125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 · HTML</a:t>
            </a:r>
            <a:r>
              <a:rPr lang="ko-KR" altLang="en-US" sz="1125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생성</a:t>
            </a:r>
            <a:r>
              <a:rPr sz="1125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 · PPT</a:t>
            </a:r>
            <a:r>
              <a:rPr lang="ko-KR" altLang="en-US" sz="1125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작성 </a:t>
            </a:r>
            <a:r>
              <a:rPr lang="en-US" altLang="ko-KR" sz="1125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Tool </a:t>
            </a:r>
            <a:r>
              <a:rPr lang="ko-KR" altLang="en-US" sz="1125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등</a:t>
            </a:r>
            <a:endParaRPr sz="1125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E9E9E9"/>
              </a:solidFill>
              <a:latin typeface="맑은 고딕"/>
              <a:ea typeface="맑은 고딕"/>
              <a:cs typeface="맑은 고딕"/>
            </a:endParaRP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848AA884-FC7E-7E58-3B32-F60D0D53F5F8}"/>
              </a:ext>
            </a:extLst>
          </p:cNvPr>
          <p:cNvGrpSpPr/>
          <p:nvPr/>
        </p:nvGrpSpPr>
        <p:grpSpPr>
          <a:xfrm>
            <a:off x="8769350" y="2529550"/>
            <a:ext cx="2432050" cy="285750"/>
            <a:chOff x="8915400" y="2408900"/>
            <a:chExt cx="2432050" cy="285750"/>
          </a:xfrm>
        </p:grpSpPr>
        <p:sp>
          <p:nvSpPr>
            <p:cNvPr id="35" name="benefit-num-0">
              <a:extLst>
                <a:ext uri="{FF2B5EF4-FFF2-40B4-BE49-F238E27FC236}">
                  <a16:creationId xmlns:a16="http://schemas.microsoft.com/office/drawing/2014/main" id="{321F3BAE-6058-4098-AE93-753861EC13E0}"/>
                </a:ext>
              </a:extLst>
            </p:cNvPr>
            <p:cNvSpPr>
              <a:spLocks/>
            </p:cNvSpPr>
            <p:nvPr/>
          </p:nvSpPr>
          <p:spPr>
            <a:xfrm>
              <a:off x="8915400" y="2408900"/>
              <a:ext cx="5334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8000"/>
                </a:lnSpc>
                <a:buNone/>
                <a:defRPr sz="1725" b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9A9A9A"/>
                  </a:solidFill>
                  <a:latin typeface="맑은 고딕"/>
                  <a:ea typeface="맑은 고딕"/>
                  <a:cs typeface="맑은 고딕"/>
                </a:defRPr>
              </a:pPr>
              <a:r>
                <a:rPr sz="1725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9A9A9A"/>
                  </a:solidFill>
                  <a:latin typeface="맑은 고딕"/>
                  <a:ea typeface="맑은 고딕"/>
                  <a:cs typeface="맑은 고딕"/>
                </a:rPr>
                <a:t>01</a:t>
              </a:r>
            </a:p>
          </p:txBody>
        </p:sp>
        <p:sp>
          <p:nvSpPr>
            <p:cNvPr id="36" name="benefit-heading-0">
              <a:extLst>
                <a:ext uri="{FF2B5EF4-FFF2-40B4-BE49-F238E27FC236}">
                  <a16:creationId xmlns:a16="http://schemas.microsoft.com/office/drawing/2014/main" id="{9C9C60AF-721E-4FFD-BC84-BDA054754D65}"/>
                </a:ext>
              </a:extLst>
            </p:cNvPr>
            <p:cNvSpPr>
              <a:spLocks/>
            </p:cNvSpPr>
            <p:nvPr/>
          </p:nvSpPr>
          <p:spPr>
            <a:xfrm>
              <a:off x="9290050" y="2408900"/>
              <a:ext cx="20574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8000"/>
                </a:lnSpc>
                <a:buNone/>
                <a:defRPr sz="1388" b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defRPr>
              </a:pPr>
              <a:r>
                <a:rPr lang="ko-KR" altLang="en-US" sz="1500" b="1" dirty="0" err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할루시네이션</a:t>
              </a:r>
              <a:r>
                <a:rPr sz="1500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  <a:r>
                <a:rPr sz="1500" b="1" dirty="0" err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감소</a:t>
              </a:r>
              <a:endParaRPr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endParaRPr>
            </a:p>
          </p:txBody>
        </p:sp>
      </p:grpSp>
      <p:sp>
        <p:nvSpPr>
          <p:cNvPr id="37" name="benefit-body-0">
            <a:extLst>
              <a:ext uri="{FF2B5EF4-FFF2-40B4-BE49-F238E27FC236}">
                <a16:creationId xmlns:a16="http://schemas.microsoft.com/office/drawing/2014/main" id="{C7DF4953-941A-4E19-A445-B1F185E5BF5C}"/>
              </a:ext>
            </a:extLst>
          </p:cNvPr>
          <p:cNvSpPr>
            <a:spLocks/>
          </p:cNvSpPr>
          <p:nvPr/>
        </p:nvSpPr>
        <p:spPr>
          <a:xfrm>
            <a:off x="8769350" y="282575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관련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없는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기능과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유사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후보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제외</a:t>
            </a:r>
            <a:endParaRPr sz="12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8" name="benefit-rule-0">
            <a:extLst>
              <a:ext uri="{FF2B5EF4-FFF2-40B4-BE49-F238E27FC236}">
                <a16:creationId xmlns:a16="http://schemas.microsoft.com/office/drawing/2014/main" id="{709D3ED7-B1F4-48BA-90F0-D30BBD8F5B8E}"/>
              </a:ext>
            </a:extLst>
          </p:cNvPr>
          <p:cNvSpPr>
            <a:spLocks/>
          </p:cNvSpPr>
          <p:nvPr/>
        </p:nvSpPr>
        <p:spPr>
          <a:xfrm>
            <a:off x="8769350" y="3244850"/>
            <a:ext cx="2667000" cy="9525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0E29E7DF-E679-DF92-7FD2-1DFCB48E3D78}"/>
              </a:ext>
            </a:extLst>
          </p:cNvPr>
          <p:cNvGrpSpPr/>
          <p:nvPr/>
        </p:nvGrpSpPr>
        <p:grpSpPr>
          <a:xfrm>
            <a:off x="8769350" y="3327400"/>
            <a:ext cx="2432050" cy="285750"/>
            <a:chOff x="8915400" y="3206750"/>
            <a:chExt cx="2432050" cy="285750"/>
          </a:xfrm>
        </p:grpSpPr>
        <p:sp>
          <p:nvSpPr>
            <p:cNvPr id="39" name="benefit-num-1">
              <a:extLst>
                <a:ext uri="{FF2B5EF4-FFF2-40B4-BE49-F238E27FC236}">
                  <a16:creationId xmlns:a16="http://schemas.microsoft.com/office/drawing/2014/main" id="{0637E93B-37E4-4DD8-AFAA-121554E0C685}"/>
                </a:ext>
              </a:extLst>
            </p:cNvPr>
            <p:cNvSpPr>
              <a:spLocks/>
            </p:cNvSpPr>
            <p:nvPr/>
          </p:nvSpPr>
          <p:spPr>
            <a:xfrm>
              <a:off x="8915400" y="3206750"/>
              <a:ext cx="5334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8000"/>
                </a:lnSpc>
                <a:buNone/>
                <a:defRPr sz="1725" b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9A9A9A"/>
                  </a:solidFill>
                  <a:latin typeface="맑은 고딕"/>
                  <a:ea typeface="맑은 고딕"/>
                  <a:cs typeface="맑은 고딕"/>
                </a:defRPr>
              </a:pPr>
              <a:r>
                <a:rPr sz="1725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9A9A9A"/>
                  </a:solidFill>
                  <a:latin typeface="맑은 고딕"/>
                  <a:ea typeface="맑은 고딕"/>
                  <a:cs typeface="맑은 고딕"/>
                </a:rPr>
                <a:t>02</a:t>
              </a:r>
            </a:p>
          </p:txBody>
        </p:sp>
        <p:sp>
          <p:nvSpPr>
            <p:cNvPr id="40" name="benefit-heading-1">
              <a:extLst>
                <a:ext uri="{FF2B5EF4-FFF2-40B4-BE49-F238E27FC236}">
                  <a16:creationId xmlns:a16="http://schemas.microsoft.com/office/drawing/2014/main" id="{2E50A162-2ABA-4CB8-9F71-85D40B7CF174}"/>
                </a:ext>
              </a:extLst>
            </p:cNvPr>
            <p:cNvSpPr>
              <a:spLocks/>
            </p:cNvSpPr>
            <p:nvPr/>
          </p:nvSpPr>
          <p:spPr>
            <a:xfrm>
              <a:off x="9290050" y="3206750"/>
              <a:ext cx="20574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8000"/>
                </a:lnSpc>
                <a:buNone/>
                <a:defRPr sz="1388" b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defRPr>
              </a:pPr>
              <a:r>
                <a:rPr sz="1500" b="1" dirty="0" err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토큰</a:t>
              </a:r>
              <a:r>
                <a:rPr lang="en-US" sz="1500" b="1" dirty="0" err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.</a:t>
              </a:r>
              <a:r>
                <a:rPr sz="1500" b="1" dirty="0" err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비용</a:t>
              </a:r>
              <a:r>
                <a:rPr sz="1500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  <a:r>
                <a:rPr sz="1500" b="1" dirty="0" err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절감</a:t>
              </a:r>
              <a:endParaRPr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endParaRPr>
            </a:p>
          </p:txBody>
        </p:sp>
      </p:grpSp>
      <p:sp>
        <p:nvSpPr>
          <p:cNvPr id="41" name="benefit-body-1">
            <a:extLst>
              <a:ext uri="{FF2B5EF4-FFF2-40B4-BE49-F238E27FC236}">
                <a16:creationId xmlns:a16="http://schemas.microsoft.com/office/drawing/2014/main" id="{5EACD132-EF89-4650-B1AC-ED76FBE836BD}"/>
              </a:ext>
            </a:extLst>
          </p:cNvPr>
          <p:cNvSpPr>
            <a:spLocks/>
          </p:cNvSpPr>
          <p:nvPr/>
        </p:nvSpPr>
        <p:spPr>
          <a:xfrm>
            <a:off x="8769350" y="3625850"/>
            <a:ext cx="2832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필요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정보만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LLM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Context에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단계적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전달</a:t>
            </a:r>
            <a:endParaRPr sz="12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2" name="benefit-rule-1">
            <a:extLst>
              <a:ext uri="{FF2B5EF4-FFF2-40B4-BE49-F238E27FC236}">
                <a16:creationId xmlns:a16="http://schemas.microsoft.com/office/drawing/2014/main" id="{AA9B10EE-BC4D-4FF4-B933-831B88CEDFF7}"/>
              </a:ext>
            </a:extLst>
          </p:cNvPr>
          <p:cNvSpPr>
            <a:spLocks/>
          </p:cNvSpPr>
          <p:nvPr/>
        </p:nvSpPr>
        <p:spPr>
          <a:xfrm>
            <a:off x="8769350" y="4044950"/>
            <a:ext cx="2667000" cy="9525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3AF4DA7B-B437-A30F-BC5C-CAAFAE5CEF13}"/>
              </a:ext>
            </a:extLst>
          </p:cNvPr>
          <p:cNvGrpSpPr/>
          <p:nvPr/>
        </p:nvGrpSpPr>
        <p:grpSpPr>
          <a:xfrm>
            <a:off x="8769350" y="4127500"/>
            <a:ext cx="2432050" cy="285750"/>
            <a:chOff x="8915400" y="4006850"/>
            <a:chExt cx="2432050" cy="285750"/>
          </a:xfrm>
        </p:grpSpPr>
        <p:sp>
          <p:nvSpPr>
            <p:cNvPr id="43" name="benefit-num-2">
              <a:extLst>
                <a:ext uri="{FF2B5EF4-FFF2-40B4-BE49-F238E27FC236}">
                  <a16:creationId xmlns:a16="http://schemas.microsoft.com/office/drawing/2014/main" id="{6B6F4E68-0A84-404C-BEA4-A10371EC3F79}"/>
                </a:ext>
              </a:extLst>
            </p:cNvPr>
            <p:cNvSpPr>
              <a:spLocks/>
            </p:cNvSpPr>
            <p:nvPr/>
          </p:nvSpPr>
          <p:spPr>
            <a:xfrm>
              <a:off x="8915400" y="4006850"/>
              <a:ext cx="5334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8000"/>
                </a:lnSpc>
                <a:buNone/>
                <a:defRPr sz="1725" b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9A9A9A"/>
                  </a:solidFill>
                  <a:latin typeface="맑은 고딕"/>
                  <a:ea typeface="맑은 고딕"/>
                  <a:cs typeface="맑은 고딕"/>
                </a:defRPr>
              </a:pPr>
              <a:r>
                <a:rPr sz="1725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9A9A9A"/>
                  </a:solidFill>
                  <a:latin typeface="맑은 고딕"/>
                  <a:ea typeface="맑은 고딕"/>
                  <a:cs typeface="맑은 고딕"/>
                </a:rPr>
                <a:t>03</a:t>
              </a:r>
            </a:p>
          </p:txBody>
        </p:sp>
        <p:sp>
          <p:nvSpPr>
            <p:cNvPr id="44" name="benefit-heading-2">
              <a:extLst>
                <a:ext uri="{FF2B5EF4-FFF2-40B4-BE49-F238E27FC236}">
                  <a16:creationId xmlns:a16="http://schemas.microsoft.com/office/drawing/2014/main" id="{1ACCA657-444B-44A8-BE08-C1D9406B32EC}"/>
                </a:ext>
              </a:extLst>
            </p:cNvPr>
            <p:cNvSpPr>
              <a:spLocks/>
            </p:cNvSpPr>
            <p:nvPr/>
          </p:nvSpPr>
          <p:spPr>
            <a:xfrm>
              <a:off x="9290050" y="4006850"/>
              <a:ext cx="20574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8000"/>
                </a:lnSpc>
                <a:buNone/>
                <a:defRPr sz="1388" b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defRPr>
              </a:pPr>
              <a:r>
                <a:rPr lang="ko-KR" altLang="en-US" sz="1500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실행 </a:t>
              </a:r>
              <a:r>
                <a:rPr sz="1500" b="1" dirty="0" err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속도</a:t>
              </a:r>
              <a:r>
                <a:rPr lang="en-US" sz="1500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  <a:r>
                <a:rPr lang="ko-KR" altLang="en-US" sz="1500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및 </a:t>
              </a:r>
              <a:r>
                <a:rPr sz="1500" b="1" dirty="0" err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일관성</a:t>
              </a:r>
              <a:endParaRPr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endParaRPr>
            </a:p>
          </p:txBody>
        </p:sp>
      </p:grpSp>
      <p:sp>
        <p:nvSpPr>
          <p:cNvPr id="45" name="benefit-body-2">
            <a:extLst>
              <a:ext uri="{FF2B5EF4-FFF2-40B4-BE49-F238E27FC236}">
                <a16:creationId xmlns:a16="http://schemas.microsoft.com/office/drawing/2014/main" id="{E8D15450-B4C0-493F-B3CE-B14B86C4237F}"/>
              </a:ext>
            </a:extLst>
          </p:cNvPr>
          <p:cNvSpPr>
            <a:spLocks/>
          </p:cNvSpPr>
          <p:nvPr/>
        </p:nvSpPr>
        <p:spPr>
          <a:xfrm>
            <a:off x="8769350" y="4425950"/>
            <a:ext cx="2940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비교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후보와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실행계획</a:t>
            </a:r>
            <a:r>
              <a:rPr lang="en-US" sz="12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생성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복잡도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축소</a:t>
            </a:r>
            <a:endParaRPr sz="12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6" name="benefit-rule-2">
            <a:extLst>
              <a:ext uri="{FF2B5EF4-FFF2-40B4-BE49-F238E27FC236}">
                <a16:creationId xmlns:a16="http://schemas.microsoft.com/office/drawing/2014/main" id="{9415CF4A-838D-43C1-B813-91F90FC2EAA5}"/>
              </a:ext>
            </a:extLst>
          </p:cNvPr>
          <p:cNvSpPr>
            <a:spLocks/>
          </p:cNvSpPr>
          <p:nvPr/>
        </p:nvSpPr>
        <p:spPr>
          <a:xfrm>
            <a:off x="8769350" y="4845050"/>
            <a:ext cx="2667000" cy="9525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BD26AACA-7F5D-DB46-D757-773247A1A2B3}"/>
              </a:ext>
            </a:extLst>
          </p:cNvPr>
          <p:cNvGrpSpPr/>
          <p:nvPr/>
        </p:nvGrpSpPr>
        <p:grpSpPr>
          <a:xfrm>
            <a:off x="8769350" y="4927600"/>
            <a:ext cx="2432050" cy="285750"/>
            <a:chOff x="8915400" y="4806950"/>
            <a:chExt cx="2432050" cy="285750"/>
          </a:xfrm>
        </p:grpSpPr>
        <p:sp>
          <p:nvSpPr>
            <p:cNvPr id="47" name="benefit-num-3">
              <a:extLst>
                <a:ext uri="{FF2B5EF4-FFF2-40B4-BE49-F238E27FC236}">
                  <a16:creationId xmlns:a16="http://schemas.microsoft.com/office/drawing/2014/main" id="{50D86040-9804-403D-B9E1-17B277B42F1E}"/>
                </a:ext>
              </a:extLst>
            </p:cNvPr>
            <p:cNvSpPr>
              <a:spLocks/>
            </p:cNvSpPr>
            <p:nvPr/>
          </p:nvSpPr>
          <p:spPr>
            <a:xfrm>
              <a:off x="8915400" y="4806950"/>
              <a:ext cx="5334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8000"/>
                </a:lnSpc>
                <a:buNone/>
                <a:defRPr sz="1725" b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9A9A9A"/>
                  </a:solidFill>
                  <a:latin typeface="맑은 고딕"/>
                  <a:ea typeface="맑은 고딕"/>
                  <a:cs typeface="맑은 고딕"/>
                </a:defRPr>
              </a:pPr>
              <a:r>
                <a:rPr sz="1725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9A9A9A"/>
                  </a:solidFill>
                  <a:latin typeface="맑은 고딕"/>
                  <a:ea typeface="맑은 고딕"/>
                  <a:cs typeface="맑은 고딕"/>
                </a:rPr>
                <a:t>04</a:t>
              </a:r>
            </a:p>
          </p:txBody>
        </p:sp>
        <p:sp>
          <p:nvSpPr>
            <p:cNvPr id="48" name="benefit-heading-3">
              <a:extLst>
                <a:ext uri="{FF2B5EF4-FFF2-40B4-BE49-F238E27FC236}">
                  <a16:creationId xmlns:a16="http://schemas.microsoft.com/office/drawing/2014/main" id="{08EE88BF-488E-4D21-9760-DA641489C995}"/>
                </a:ext>
              </a:extLst>
            </p:cNvPr>
            <p:cNvSpPr>
              <a:spLocks/>
            </p:cNvSpPr>
            <p:nvPr/>
          </p:nvSpPr>
          <p:spPr>
            <a:xfrm>
              <a:off x="9290050" y="4806950"/>
              <a:ext cx="20574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8000"/>
                </a:lnSpc>
                <a:buNone/>
                <a:defRPr sz="1388" b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defRPr>
              </a:pPr>
              <a:r>
                <a:rPr sz="1500" b="1" dirty="0" err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사용</a:t>
              </a:r>
              <a:r>
                <a:rPr lang="en-US" sz="1500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  <a:r>
                <a:rPr lang="ko-KR" altLang="en-US" sz="1500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및 </a:t>
              </a:r>
              <a:r>
                <a:rPr sz="1500" b="1" dirty="0" err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운영</a:t>
              </a:r>
              <a:r>
                <a:rPr sz="1500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  <a:r>
                <a:rPr sz="1500" b="1" dirty="0" err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단순화</a:t>
              </a:r>
              <a:endParaRPr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endParaRPr>
            </a:p>
          </p:txBody>
        </p:sp>
      </p:grpSp>
      <p:sp>
        <p:nvSpPr>
          <p:cNvPr id="49" name="benefit-body-3">
            <a:extLst>
              <a:ext uri="{FF2B5EF4-FFF2-40B4-BE49-F238E27FC236}">
                <a16:creationId xmlns:a16="http://schemas.microsoft.com/office/drawing/2014/main" id="{D89E1B78-F13A-4095-BE5F-83636ACF3EA6}"/>
              </a:ext>
            </a:extLst>
          </p:cNvPr>
          <p:cNvSpPr>
            <a:spLocks/>
          </p:cNvSpPr>
          <p:nvPr/>
        </p:nvSpPr>
        <p:spPr>
          <a:xfrm>
            <a:off x="8769350" y="522605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필요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기능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중심</a:t>
            </a:r>
            <a:r>
              <a:rPr lang="ko-KR" altLang="en-US" sz="12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사용</a:t>
            </a:r>
            <a:r>
              <a:rPr lang="en-US" altLang="ko-KR" sz="12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운영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책임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명확</a:t>
            </a:r>
            <a:endParaRPr sz="12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0" name="permission-rule">
            <a:extLst>
              <a:ext uri="{FF2B5EF4-FFF2-40B4-BE49-F238E27FC236}">
                <a16:creationId xmlns:a16="http://schemas.microsoft.com/office/drawing/2014/main" id="{53245A47-DC27-42E1-A4BF-D5B3DC22464D}"/>
              </a:ext>
            </a:extLst>
          </p:cNvPr>
          <p:cNvSpPr>
            <a:spLocks/>
          </p:cNvSpPr>
          <p:nvPr/>
        </p:nvSpPr>
        <p:spPr>
          <a:xfrm>
            <a:off x="8769350" y="5638800"/>
            <a:ext cx="2667000" cy="28575"/>
          </a:xfrm>
          <a:prstGeom prst="rect">
            <a:avLst/>
          </a:prstGeom>
          <a:solidFill>
            <a:srgbClr val="30303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permission-note">
            <a:extLst>
              <a:ext uri="{FF2B5EF4-FFF2-40B4-BE49-F238E27FC236}">
                <a16:creationId xmlns:a16="http://schemas.microsoft.com/office/drawing/2014/main" id="{CB2C565E-D3EA-46F5-9419-EE07C2940212}"/>
              </a:ext>
            </a:extLst>
          </p:cNvPr>
          <p:cNvSpPr>
            <a:spLocks/>
          </p:cNvSpPr>
          <p:nvPr/>
        </p:nvSpPr>
        <p:spPr>
          <a:xfrm>
            <a:off x="8769350" y="5698474"/>
            <a:ext cx="307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* </a:t>
            </a:r>
            <a:r>
              <a:rPr lang="ko-KR" altLang="en-US"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영역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Profile은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Agent의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탐색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범위만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제한</a:t>
            </a:r>
            <a:endParaRPr sz="11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2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1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실행 관련 권한은 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Tool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내부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기존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체계에서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판단</a:t>
            </a:r>
            <a:endParaRPr sz="11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6" name="direction-title">
            <a:extLst>
              <a:ext uri="{FF2B5EF4-FFF2-40B4-BE49-F238E27FC236}">
                <a16:creationId xmlns:a16="http://schemas.microsoft.com/office/drawing/2014/main" id="{82E88691-0BB7-A8F2-F5D5-472567A63FE4}"/>
              </a:ext>
            </a:extLst>
          </p:cNvPr>
          <p:cNvSpPr>
            <a:spLocks/>
          </p:cNvSpPr>
          <p:nvPr/>
        </p:nvSpPr>
        <p:spPr>
          <a:xfrm>
            <a:off x="609600" y="914577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325" b="1">
                <a:solidFill>
                  <a:srgbClr val="111A23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20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rgbClr val="111A2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하나의 </a:t>
            </a:r>
            <a:r>
              <a:rPr lang="en-US" altLang="ko-KR" sz="20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rgbClr val="111A2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Agent </a:t>
            </a:r>
            <a:r>
              <a:rPr lang="ko-KR" altLang="en-US" sz="20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rgbClr val="111A2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플랫폼을 활용하고 필요한 기능한 연결하여 각 영역에 필요한 </a:t>
            </a:r>
            <a:r>
              <a:rPr lang="en-US" altLang="ko-KR" sz="20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rgbClr val="111A2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Agent</a:t>
            </a:r>
            <a:r>
              <a:rPr lang="ko-KR" altLang="en-US" sz="20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rgbClr val="111A2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구현</a:t>
            </a:r>
          </a:p>
        </p:txBody>
      </p:sp>
      <p:sp>
        <p:nvSpPr>
          <p:cNvPr id="58" name="direction-subtitle">
            <a:extLst>
              <a:ext uri="{FF2B5EF4-FFF2-40B4-BE49-F238E27FC236}">
                <a16:creationId xmlns:a16="http://schemas.microsoft.com/office/drawing/2014/main" id="{2861406D-125D-43C3-56C8-1392314F625F}"/>
              </a:ext>
            </a:extLst>
          </p:cNvPr>
          <p:cNvSpPr>
            <a:spLocks/>
          </p:cNvSpPr>
          <p:nvPr/>
        </p:nvSpPr>
        <p:spPr>
          <a:xfrm>
            <a:off x="619125" y="1371777"/>
            <a:ext cx="10972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687684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6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조직별</a:t>
            </a:r>
            <a:r>
              <a:rPr lang="en-US" altLang="ko-KR" sz="16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/</a:t>
            </a:r>
            <a:r>
              <a:rPr lang="ko-KR" altLang="en-US" sz="16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개인별 </a:t>
            </a:r>
            <a:r>
              <a:rPr lang="en-US" altLang="ko-KR" sz="16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Profile</a:t>
            </a:r>
            <a:r>
              <a:rPr lang="ko-KR" altLang="en-US" sz="16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설정 기능을 통해 후보 범위를 제한하고 </a:t>
            </a:r>
            <a:r>
              <a:rPr lang="en-US" altLang="ko-KR" sz="16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Main Agent</a:t>
            </a:r>
            <a:r>
              <a:rPr lang="ko-KR" altLang="en-US" sz="16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가 실행 계획을 세우고 결과를 통합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3AB3504-730E-85B5-7ABF-77177EFF77AA}"/>
              </a:ext>
            </a:extLst>
          </p:cNvPr>
          <p:cNvSpPr txBox="1"/>
          <p:nvPr/>
        </p:nvSpPr>
        <p:spPr>
          <a:xfrm>
            <a:off x="1364256" y="3183283"/>
            <a:ext cx="1425390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  <a:cs typeface="맑은 고딕"/>
              </a:rPr>
              <a:t>① 업무 영역 설정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E7A9996-5394-2EEE-B720-9020F4DA1818}"/>
              </a:ext>
            </a:extLst>
          </p:cNvPr>
          <p:cNvSpPr txBox="1"/>
          <p:nvPr/>
        </p:nvSpPr>
        <p:spPr>
          <a:xfrm>
            <a:off x="605530" y="2078540"/>
            <a:ext cx="15888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08000"/>
              </a:lnSpc>
              <a:buNone/>
              <a:def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[ </a:t>
            </a:r>
            <a:r>
              <a:rPr lang="ko-KR" altLang="en-US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공통 플랫폼 구조 </a:t>
            </a:r>
            <a:r>
              <a:rPr lang="en-US" altLang="ko-KR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]</a:t>
            </a:r>
            <a:endParaRPr lang="ko-KR" altLang="en-US" sz="12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BDAF122-E8DC-FAE7-5BB1-E37F43A9F0D3}"/>
              </a:ext>
            </a:extLst>
          </p:cNvPr>
          <p:cNvSpPr txBox="1"/>
          <p:nvPr/>
        </p:nvSpPr>
        <p:spPr>
          <a:xfrm>
            <a:off x="8630133" y="2078540"/>
            <a:ext cx="222836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08000"/>
              </a:lnSpc>
              <a:buNone/>
              <a:def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[</a:t>
            </a:r>
            <a:r>
              <a:rPr lang="ko-KR" altLang="en-US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조직별</a:t>
            </a:r>
            <a:r>
              <a:rPr lang="en-US" altLang="ko-KR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ko-KR" altLang="en-US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개인별 </a:t>
            </a:r>
            <a:r>
              <a:rPr lang="en-US" altLang="ko-KR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Profile </a:t>
            </a:r>
            <a:r>
              <a:rPr lang="ko-KR" altLang="en-US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설정 </a:t>
            </a:r>
            <a:r>
              <a:rPr lang="en-US" altLang="ko-KR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]</a:t>
            </a:r>
            <a:endParaRPr lang="ko-KR" altLang="en-US" sz="12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main-node-sub">
            <a:extLst>
              <a:ext uri="{FF2B5EF4-FFF2-40B4-BE49-F238E27FC236}">
                <a16:creationId xmlns:a16="http://schemas.microsoft.com/office/drawing/2014/main" id="{8B91FFB1-0B4E-D964-070D-7B4082DE188E}"/>
              </a:ext>
            </a:extLst>
          </p:cNvPr>
          <p:cNvSpPr>
            <a:spLocks/>
          </p:cNvSpPr>
          <p:nvPr/>
        </p:nvSpPr>
        <p:spPr>
          <a:xfrm>
            <a:off x="1076827" y="3776425"/>
            <a:ext cx="2000248" cy="176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08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영역별 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Metadata</a:t>
            </a:r>
            <a:r>
              <a:rPr lang="en-US"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1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및 </a:t>
            </a:r>
            <a:r>
              <a:rPr lang="en-US" altLang="ko-KR" sz="11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Tool/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Skill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5D8E72-DE2C-564A-0F7B-583516E7F68B}"/>
              </a:ext>
            </a:extLst>
          </p:cNvPr>
          <p:cNvSpPr txBox="1"/>
          <p:nvPr/>
        </p:nvSpPr>
        <p:spPr>
          <a:xfrm>
            <a:off x="3609817" y="3183283"/>
            <a:ext cx="1909498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latin typeface="맑은 고딕"/>
                <a:ea typeface="맑은 고딕"/>
                <a:cs typeface="맑은 고딕"/>
              </a:rPr>
              <a:t>② 실행 판단 </a:t>
            </a:r>
            <a:r>
              <a:rPr lang="en-US" altLang="ko-KR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latin typeface="맑은 고딕"/>
                <a:ea typeface="맑은 고딕"/>
                <a:cs typeface="맑은 고딕"/>
              </a:rPr>
              <a:t>/ </a:t>
            </a:r>
            <a:r>
              <a:rPr lang="ko-KR" altLang="en-US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latin typeface="맑은 고딕"/>
                <a:ea typeface="맑은 고딕"/>
                <a:cs typeface="맑은 고딕"/>
              </a:rPr>
              <a:t>계획 수립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1F1350-D236-5CC2-56EC-2B8E60B12281}"/>
              </a:ext>
            </a:extLst>
          </p:cNvPr>
          <p:cNvSpPr txBox="1"/>
          <p:nvPr/>
        </p:nvSpPr>
        <p:spPr>
          <a:xfrm>
            <a:off x="6235284" y="3183283"/>
            <a:ext cx="1633782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  <a:cs typeface="맑은 고딕"/>
              </a:rPr>
              <a:t>③ 실행 및 결과 통합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A19CFA9-31C2-6C8A-B5E5-E0568944179B}"/>
              </a:ext>
            </a:extLst>
          </p:cNvPr>
          <p:cNvSpPr txBox="1"/>
          <p:nvPr/>
        </p:nvSpPr>
        <p:spPr>
          <a:xfrm>
            <a:off x="1749315" y="5798668"/>
            <a:ext cx="58503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Agent</a:t>
            </a:r>
            <a:r>
              <a:rPr lang="ko-KR" altLang="en-US" sz="13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가 탐색하고 선택할 수 있는 </a:t>
            </a:r>
            <a:r>
              <a:rPr lang="en-US" altLang="ko-KR" sz="13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Tool/Skill</a:t>
            </a:r>
            <a:r>
              <a:rPr lang="ko-KR" altLang="en-US" sz="13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의 범위를 필요한 영역으로 제한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874BD65-2FBF-5283-B302-32E5FF30E0C5}"/>
              </a:ext>
            </a:extLst>
          </p:cNvPr>
          <p:cNvSpPr txBox="1"/>
          <p:nvPr/>
        </p:nvSpPr>
        <p:spPr>
          <a:xfrm>
            <a:off x="1198228" y="2559481"/>
            <a:ext cx="676659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질문 이해  →  기능 탐색  →  실행</a:t>
            </a:r>
            <a:r>
              <a:rPr lang="en-US" altLang="ko-KR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계획 수립 →  </a:t>
            </a:r>
            <a:r>
              <a:rPr lang="en-US" altLang="ko-KR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Agent </a:t>
            </a:r>
            <a:r>
              <a:rPr lang="ko-KR" altLang="en-US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실행  →  결과 통합</a:t>
            </a:r>
          </a:p>
        </p:txBody>
      </p:sp>
    </p:spTree>
    <p:extLst>
      <p:ext uri="{BB962C8B-B14F-4D97-AF65-F5344CB8AC3E}">
        <p14:creationId xmlns:p14="http://schemas.microsoft.com/office/powerpoint/2010/main" val="1824950803"/>
      </p:ext>
    </p:extLst>
  </p:cSld>
  <p:clrMapOvr>
    <a:masterClrMapping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-04">
            <a:extLst xmlns:a="http://schemas.openxmlformats.org/drawingml/2006/main">
              <a:ext uri="{FF2B5EF4-FFF2-40B4-BE49-F238E27FC236}">
                <a16:creationId xmlns:a16="http://schemas.microsoft.com/office/drawing/2014/main" id="{B7846DBD-CE15-471B-B021-1FBAFAD132E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2667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03. Tool 설계와 개발 방식</a:t>
            </a:r>
          </a:p>
        </p:txBody>
      </p:sp>
      <p:sp>
        <p:nvSpPr>
          <p:cNvPr id="2" name="page-04">
            <a:extLst xmlns:a="http://schemas.openxmlformats.org/drawingml/2006/main">
              <a:ext uri="{FF2B5EF4-FFF2-40B4-BE49-F238E27FC236}">
                <a16:creationId xmlns:a16="http://schemas.microsoft.com/office/drawing/2014/main" id="{7E4998E4-3D0D-4F46-9B67-A8B24FA9DFE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934700" y="2667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" name="header-rule-04">
            <a:extLst xmlns:a="http://schemas.openxmlformats.org/drawingml/2006/main">
              <a:ext uri="{FF2B5EF4-FFF2-40B4-BE49-F238E27FC236}">
                <a16:creationId xmlns:a16="http://schemas.microsoft.com/office/drawing/2014/main" id="{48F12657-6C74-4A56-BBFF-7CE6522A398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68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implementation-title">
            <a:extLst xmlns:a="http://schemas.openxmlformats.org/drawingml/2006/main">
              <a:ext uri="{FF2B5EF4-FFF2-40B4-BE49-F238E27FC236}">
                <a16:creationId xmlns:a16="http://schemas.microsoft.com/office/drawing/2014/main" id="{AF73D056-7ED9-41E4-AF75-7DCA7FAE79C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96202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Tool 책임 범위를 먼저 정하고, 구현 방식은 복잡도에 맞춰 선택</a:t>
            </a:r>
          </a:p>
        </p:txBody>
      </p:sp>
      <p:sp>
        <p:nvSpPr>
          <p:cNvPr id="5" name="implementation-subtitle">
            <a:extLst xmlns:a="http://schemas.openxmlformats.org/drawingml/2006/main">
              <a:ext uri="{FF2B5EF4-FFF2-40B4-BE49-F238E27FC236}">
                <a16:creationId xmlns:a16="http://schemas.microsoft.com/office/drawing/2014/main" id="{E343A190-241C-4CFC-9AEA-4977630CB52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13811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8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38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기능을 잘게 나누기보다 순서·상태·권한·예외를 어디에서 책임질지 결정</a:t>
            </a:r>
          </a:p>
        </p:txBody>
      </p:sp>
      <p:sp>
        <p:nvSpPr>
          <p:cNvPr id="6" name="implementation-label">
            <a:extLst xmlns:a="http://schemas.openxmlformats.org/drawingml/2006/main">
              <a:ext uri="{FF2B5EF4-FFF2-40B4-BE49-F238E27FC236}">
                <a16:creationId xmlns:a16="http://schemas.microsoft.com/office/drawing/2014/main" id="{B9E8B4BB-4A5F-43E0-8490-4B434B08D9C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18954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[ 업무 특성에 따른 설계·구현 선택 ]</a:t>
            </a:r>
          </a:p>
        </p:txBody>
      </p:sp>
      <p:sp>
        <p:nvSpPr>
          <p:cNvPr id="7" name="matrix-header">
            <a:extLst xmlns:a="http://schemas.openxmlformats.org/drawingml/2006/main">
              <a:ext uri="{FF2B5EF4-FFF2-40B4-BE49-F238E27FC236}">
                <a16:creationId xmlns:a16="http://schemas.microsoft.com/office/drawing/2014/main" id="{EDDCE014-A2A2-44ED-9165-1CD78473212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2190750"/>
            <a:ext cx="1097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atrix-header-1">
            <a:extLst xmlns:a="http://schemas.openxmlformats.org/drawingml/2006/main">
              <a:ext uri="{FF2B5EF4-FFF2-40B4-BE49-F238E27FC236}">
                <a16:creationId xmlns:a16="http://schemas.microsoft.com/office/drawing/2014/main" id="{CEB0B97E-65F5-4343-AD8A-8D835E80EDE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62000" y="22288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9" name="matrix-header-2">
            <a:extLst xmlns:a="http://schemas.openxmlformats.org/drawingml/2006/main">
              <a:ext uri="{FF2B5EF4-FFF2-40B4-BE49-F238E27FC236}">
                <a16:creationId xmlns:a16="http://schemas.microsoft.com/office/drawing/2014/main" id="{8DDABE16-0242-4AE7-95B7-A99D142E3B5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09800" y="222885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 특성</a:t>
            </a:r>
          </a:p>
        </p:txBody>
      </p:sp>
      <p:sp>
        <p:nvSpPr>
          <p:cNvPr id="10" name="matrix-header-3">
            <a:extLst xmlns:a="http://schemas.openxmlformats.org/drawingml/2006/main">
              <a:ext uri="{FF2B5EF4-FFF2-40B4-BE49-F238E27FC236}">
                <a16:creationId xmlns:a16="http://schemas.microsoft.com/office/drawing/2014/main" id="{0E894C41-977C-4C9D-8FE7-DB8DA1FAE56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543550" y="22288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Tool 책임 범위</a:t>
            </a:r>
          </a:p>
        </p:txBody>
      </p:sp>
      <p:sp>
        <p:nvSpPr>
          <p:cNvPr id="11" name="matrix-header-4">
            <a:extLst xmlns:a="http://schemas.openxmlformats.org/drawingml/2006/main">
              <a:ext uri="{FF2B5EF4-FFF2-40B4-BE49-F238E27FC236}">
                <a16:creationId xmlns:a16="http://schemas.microsoft.com/office/drawing/2014/main" id="{C15E0CE1-7D7A-48CE-846B-88CEBCAFEF4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686800" y="22288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권장 구현</a:t>
            </a:r>
          </a:p>
        </p:txBody>
      </p:sp>
      <p:sp>
        <p:nvSpPr>
          <p:cNvPr id="12" name="matrix-row-1">
            <a:extLst xmlns:a="http://schemas.openxmlformats.org/drawingml/2006/main">
              <a:ext uri="{FF2B5EF4-FFF2-40B4-BE49-F238E27FC236}">
                <a16:creationId xmlns:a16="http://schemas.microsoft.com/office/drawing/2014/main" id="{3D3059AD-8BBF-46AC-A189-B00B237C672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2533650"/>
            <a:ext cx="10972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atrix-row-2">
            <a:extLst xmlns:a="http://schemas.openxmlformats.org/drawingml/2006/main">
              <a:ext uri="{FF2B5EF4-FFF2-40B4-BE49-F238E27FC236}">
                <a16:creationId xmlns:a16="http://schemas.microsoft.com/office/drawing/2014/main" id="{B8C8B603-1B86-4BBF-90A0-6BA1902BAC8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3371850"/>
            <a:ext cx="10972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atrix-row-3">
            <a:extLst xmlns:a="http://schemas.openxmlformats.org/drawingml/2006/main">
              <a:ext uri="{FF2B5EF4-FFF2-40B4-BE49-F238E27FC236}">
                <a16:creationId xmlns:a16="http://schemas.microsoft.com/office/drawing/2014/main" id="{C4071DCA-DF65-4E7B-BE7D-5D0393A1A26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4267200"/>
            <a:ext cx="10972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48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ow-rule-1">
            <a:extLst xmlns:a="http://schemas.openxmlformats.org/drawingml/2006/main">
              <a:ext uri="{FF2B5EF4-FFF2-40B4-BE49-F238E27FC236}">
                <a16:creationId xmlns:a16="http://schemas.microsoft.com/office/drawing/2014/main" id="{ECFA78A2-438E-4313-9B24-8203CE4E644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33623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ow-rule-2">
            <a:extLst xmlns:a="http://schemas.openxmlformats.org/drawingml/2006/main">
              <a:ext uri="{FF2B5EF4-FFF2-40B4-BE49-F238E27FC236}">
                <a16:creationId xmlns:a16="http://schemas.microsoft.com/office/drawing/2014/main" id="{20D5E8A6-501C-4CEC-A663-92B26BECD6A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4257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l-rule-1">
            <a:extLst xmlns:a="http://schemas.openxmlformats.org/drawingml/2006/main">
              <a:ext uri="{FF2B5EF4-FFF2-40B4-BE49-F238E27FC236}">
                <a16:creationId xmlns:a16="http://schemas.microsoft.com/office/drawing/2014/main" id="{AB24AA78-EC91-49F9-9BA5-E8F37424717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38350" y="2190750"/>
            <a:ext cx="95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l-rule-2">
            <a:extLst xmlns:a="http://schemas.openxmlformats.org/drawingml/2006/main">
              <a:ext uri="{FF2B5EF4-FFF2-40B4-BE49-F238E27FC236}">
                <a16:creationId xmlns:a16="http://schemas.microsoft.com/office/drawing/2014/main" id="{F4976F0E-DB2E-4235-9A42-056E396D0CD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372100" y="2190750"/>
            <a:ext cx="95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l-rule-3">
            <a:extLst xmlns:a="http://schemas.openxmlformats.org/drawingml/2006/main">
              <a:ext uri="{FF2B5EF4-FFF2-40B4-BE49-F238E27FC236}">
                <a16:creationId xmlns:a16="http://schemas.microsoft.com/office/drawing/2014/main" id="{2B539066-F669-4B7F-B026-27448704B18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515350" y="2190750"/>
            <a:ext cx="95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ow1-num">
            <a:extLst xmlns:a="http://schemas.openxmlformats.org/drawingml/2006/main">
              <a:ext uri="{FF2B5EF4-FFF2-40B4-BE49-F238E27FC236}">
                <a16:creationId xmlns:a16="http://schemas.microsoft.com/office/drawing/2014/main" id="{3DC49C6F-730C-4614-A541-26F4C94DD38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62000" y="2628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21" name="row1-label">
            <a:extLst xmlns:a="http://schemas.openxmlformats.org/drawingml/2006/main">
              <a:ext uri="{FF2B5EF4-FFF2-40B4-BE49-F238E27FC236}">
                <a16:creationId xmlns:a16="http://schemas.microsoft.com/office/drawing/2014/main" id="{48D45B2A-F3B3-4F44-9D9B-B664C3ADDCB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62050" y="2609850"/>
            <a:ext cx="78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독립 재사용</a:t>
            </a:r>
          </a:p>
        </p:txBody>
      </p:sp>
      <p:sp>
        <p:nvSpPr>
          <p:cNvPr id="22" name="row1-work">
            <a:extLst xmlns:a="http://schemas.openxmlformats.org/drawingml/2006/main">
              <a:ext uri="{FF2B5EF4-FFF2-40B4-BE49-F238E27FC236}">
                <a16:creationId xmlns:a16="http://schemas.microsoft.com/office/drawing/2014/main" id="{378E4AAA-E68D-4E17-A6EE-01C8302ADDB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09800" y="2571750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조회·계산·검증·변환처럼 독립 호출 가능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호출 순서와 상태 관리가 단순</a:t>
            </a:r>
          </a:p>
        </p:txBody>
      </p:sp>
      <p:sp>
        <p:nvSpPr>
          <p:cNvPr id="23" name="row1-tool">
            <a:extLst xmlns:a="http://schemas.openxmlformats.org/drawingml/2006/main">
              <a:ext uri="{FF2B5EF4-FFF2-40B4-BE49-F238E27FC236}">
                <a16:creationId xmlns:a16="http://schemas.microsoft.com/office/drawing/2014/main" id="{6908BCF1-750E-4631-AC12-07E1B916069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543550" y="2571750"/>
            <a:ext cx="2800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단위 기능 Tool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재사용성과 조합 유연성 우선</a:t>
            </a:r>
          </a:p>
        </p:txBody>
      </p:sp>
      <p:sp>
        <p:nvSpPr>
          <p:cNvPr id="24" name="row1-path">
            <a:extLst xmlns:a="http://schemas.openxmlformats.org/drawingml/2006/main">
              <a:ext uri="{FF2B5EF4-FFF2-40B4-BE49-F238E27FC236}">
                <a16:creationId xmlns:a16="http://schemas.microsoft.com/office/drawing/2014/main" id="{0063FD7B-6D80-4C58-A0DB-3621D35DA2A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686800" y="257175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Langflow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빠른 개발·공유·현업 실험</a:t>
            </a:r>
          </a:p>
        </p:txBody>
      </p:sp>
      <p:sp>
        <p:nvSpPr>
          <p:cNvPr id="25" name="row2-num">
            <a:extLst xmlns:a="http://schemas.openxmlformats.org/drawingml/2006/main">
              <a:ext uri="{FF2B5EF4-FFF2-40B4-BE49-F238E27FC236}">
                <a16:creationId xmlns:a16="http://schemas.microsoft.com/office/drawing/2014/main" id="{78AB17EF-4E37-44DC-95C0-AF46CE4EB1D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62000" y="34861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26" name="row2-label">
            <a:extLst xmlns:a="http://schemas.openxmlformats.org/drawingml/2006/main">
              <a:ext uri="{FF2B5EF4-FFF2-40B4-BE49-F238E27FC236}">
                <a16:creationId xmlns:a16="http://schemas.microsoft.com/office/drawing/2014/main" id="{51C18E0F-B632-4786-B0AC-3185A0C937E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62050" y="3467100"/>
            <a:ext cx="78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시각적 조합</a:t>
            </a:r>
          </a:p>
        </p:txBody>
      </p:sp>
      <p:sp>
        <p:nvSpPr>
          <p:cNvPr id="27" name="row2-work">
            <a:extLst xmlns:a="http://schemas.openxmlformats.org/drawingml/2006/main">
              <a:ext uri="{FF2B5EF4-FFF2-40B4-BE49-F238E27FC236}">
                <a16:creationId xmlns:a16="http://schemas.microsoft.com/office/drawing/2014/main" id="{D77518F6-FA74-4D70-9A09-FCEF202F0AA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09800" y="3409950"/>
            <a:ext cx="300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시각적 Flow에 특수 로직 일부 결합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표준 컴포넌트만으로 구현하기 어려움</a:t>
            </a:r>
          </a:p>
        </p:txBody>
      </p:sp>
      <p:sp>
        <p:nvSpPr>
          <p:cNvPr id="28" name="row2-tool">
            <a:extLst xmlns:a="http://schemas.openxmlformats.org/drawingml/2006/main">
              <a:ext uri="{FF2B5EF4-FFF2-40B4-BE49-F238E27FC236}">
                <a16:creationId xmlns:a16="http://schemas.microsoft.com/office/drawing/2014/main" id="{C2F68334-B532-451C-A821-586BFE42716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543550" y="3409950"/>
            <a:ext cx="2800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조합형 Tool·Workflow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Flow와 고유 로직의 역할 분리</a:t>
            </a:r>
          </a:p>
        </p:txBody>
      </p:sp>
      <p:sp>
        <p:nvSpPr>
          <p:cNvPr id="29" name="row2-path">
            <a:extLst xmlns:a="http://schemas.openxmlformats.org/drawingml/2006/main">
              <a:ext uri="{FF2B5EF4-FFF2-40B4-BE49-F238E27FC236}">
                <a16:creationId xmlns:a16="http://schemas.microsoft.com/office/drawing/2014/main" id="{322EF5F3-2628-43B5-9F28-821F4F2E8DA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686800" y="3409950"/>
            <a:ext cx="2724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Langflow + Custom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필요한 부분만 코드로 보완</a:t>
            </a:r>
          </a:p>
        </p:txBody>
      </p:sp>
      <p:sp>
        <p:nvSpPr>
          <p:cNvPr id="30" name="row3-num">
            <a:extLst xmlns:a="http://schemas.openxmlformats.org/drawingml/2006/main">
              <a:ext uri="{FF2B5EF4-FFF2-40B4-BE49-F238E27FC236}">
                <a16:creationId xmlns:a16="http://schemas.microsoft.com/office/drawing/2014/main" id="{C4883922-176F-48A5-97FF-68EFFFAD653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62000" y="44005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1" name="row3-label">
            <a:extLst xmlns:a="http://schemas.openxmlformats.org/drawingml/2006/main">
              <a:ext uri="{FF2B5EF4-FFF2-40B4-BE49-F238E27FC236}">
                <a16:creationId xmlns:a16="http://schemas.microsoft.com/office/drawing/2014/main" id="{5C69B091-3B3B-4A34-8F16-42874F7ACD2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62050" y="438150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복잡한 운영</a:t>
            </a:r>
          </a:p>
        </p:txBody>
      </p:sp>
      <p:sp>
        <p:nvSpPr>
          <p:cNvPr id="32" name="row3-work">
            <a:extLst xmlns:a="http://schemas.openxmlformats.org/drawingml/2006/main">
              <a:ext uri="{FF2B5EF4-FFF2-40B4-BE49-F238E27FC236}">
                <a16:creationId xmlns:a16="http://schemas.microsoft.com/office/drawing/2014/main" id="{8D9A56A8-6B4B-47A0-A879-9446C1E70A6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09800" y="4305300"/>
            <a:ext cx="3009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고정 순서·상태·권한·예외·성능이 중요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복잡한 실행을 AI 추론에 맡기기 어려움</a:t>
            </a:r>
          </a:p>
        </p:txBody>
      </p:sp>
      <p:sp>
        <p:nvSpPr>
          <p:cNvPr id="33" name="row3-tool">
            <a:extLst xmlns:a="http://schemas.openxmlformats.org/drawingml/2006/main">
              <a:ext uri="{FF2B5EF4-FFF2-40B4-BE49-F238E27FC236}">
                <a16:creationId xmlns:a16="http://schemas.microsoft.com/office/drawing/2014/main" id="{1C207991-8E64-4CE0-A0F2-6287B06AFD2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543550" y="4305300"/>
            <a:ext cx="2800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통합형 Tool·Code Workflow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전체 절차와 실패 복구까지 책임</a:t>
            </a:r>
          </a:p>
        </p:txBody>
      </p:sp>
      <p:sp>
        <p:nvSpPr>
          <p:cNvPr id="34" name="row3-path">
            <a:extLst xmlns:a="http://schemas.openxmlformats.org/drawingml/2006/main">
              <a:ext uri="{FF2B5EF4-FFF2-40B4-BE49-F238E27FC236}">
                <a16:creationId xmlns:a16="http://schemas.microsoft.com/office/drawing/2014/main" id="{44FC9E07-9295-404C-932F-3B629A6944E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686800" y="4305300"/>
            <a:ext cx="2724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Code + MCP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테스트·운영·성능 대응 중심</a:t>
            </a:r>
          </a:p>
        </p:txBody>
      </p:sp>
      <p:sp>
        <p:nvSpPr>
          <p:cNvPr id="35" name="design-warning">
            <a:extLst xmlns:a="http://schemas.openxmlformats.org/drawingml/2006/main">
              <a:ext uri="{FF2B5EF4-FFF2-40B4-BE49-F238E27FC236}">
                <a16:creationId xmlns:a16="http://schemas.microsoft.com/office/drawing/2014/main" id="{6B00FB07-A128-4C3B-8966-D3F26A892DA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53721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design-warning-accent">
            <a:extLst xmlns:a="http://schemas.openxmlformats.org/drawingml/2006/main">
              <a:ext uri="{FF2B5EF4-FFF2-40B4-BE49-F238E27FC236}">
                <a16:creationId xmlns:a16="http://schemas.microsoft.com/office/drawing/2014/main" id="{187AE530-2026-479C-B5DC-A83C410C707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53721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design-warning-title">
            <a:extLst xmlns:a="http://schemas.openxmlformats.org/drawingml/2006/main">
              <a:ext uri="{FF2B5EF4-FFF2-40B4-BE49-F238E27FC236}">
                <a16:creationId xmlns:a16="http://schemas.microsoft.com/office/drawing/2014/main" id="{1EF4F016-CE69-463D-B047-FB35481BF5C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0100" y="54102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23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잘게 쪼개는 것이 항상 좋은 설계는 아님</a:t>
            </a:r>
          </a:p>
        </p:txBody>
      </p:sp>
      <p:sp>
        <p:nvSpPr>
          <p:cNvPr id="38" name="design-warning-body">
            <a:extLst xmlns:a="http://schemas.openxmlformats.org/drawingml/2006/main">
              <a:ext uri="{FF2B5EF4-FFF2-40B4-BE49-F238E27FC236}">
                <a16:creationId xmlns:a16="http://schemas.microsoft.com/office/drawing/2014/main" id="{D01EAC74-EF33-41F1-B8C5-C8CF6FBA4D8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962400" y="54102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모델이 모든 순서·상태·예외를 추론할수록 오류 가능성과 운영 복잡도 증가</a:t>
            </a:r>
          </a:p>
        </p:txBody>
      </p:sp>
      <p:sp>
        <p:nvSpPr>
          <p:cNvPr id="39" name="common-edge">
            <a:extLst xmlns:a="http://schemas.openxmlformats.org/drawingml/2006/main">
              <a:ext uri="{FF2B5EF4-FFF2-40B4-BE49-F238E27FC236}">
                <a16:creationId xmlns:a16="http://schemas.microsoft.com/office/drawing/2014/main" id="{7D2F7AFF-1AF6-4F7A-B4DB-0DB534CD99D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590550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common-edge-title">
            <a:extLst xmlns:a="http://schemas.openxmlformats.org/drawingml/2006/main">
              <a:ext uri="{FF2B5EF4-FFF2-40B4-BE49-F238E27FC236}">
                <a16:creationId xmlns:a16="http://schemas.microsoft.com/office/drawing/2014/main" id="{F39EA89E-81FB-4B0E-9CFD-9968AF19A75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38200" y="59531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공통 Agent 연결 기준</a:t>
            </a:r>
          </a:p>
        </p:txBody>
      </p:sp>
      <p:sp>
        <p:nvSpPr>
          <p:cNvPr id="41" name="common-edge-body">
            <a:extLst xmlns:a="http://schemas.openxmlformats.org/drawingml/2006/main">
              <a:ext uri="{FF2B5EF4-FFF2-40B4-BE49-F238E27FC236}">
                <a16:creationId xmlns:a16="http://schemas.microsoft.com/office/drawing/2014/main" id="{027B27EE-9FC6-45CC-95D2-998178950A6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38500" y="5953125"/>
            <a:ext cx="807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MCP/동등 호출 · 기능 설명/고유 ID · 입력 · 상태/요약/상세 · 오류/경고/추적</a:t>
            </a:r>
          </a:p>
        </p:txBody>
      </p:sp>
    </p:spTree>
    <p:extLst>
      <p:ext uri="{BB962C8B-B14F-4D97-AF65-F5344CB8AC3E}">
        <p14:creationId xmlns:p14="http://schemas.microsoft.com/office/powerpoint/2010/main" val="8195691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header-A1">
            <a:extLst xmlns:a="http://schemas.openxmlformats.org/drawingml/2006/main">
              <a:ext uri="{FF2B5EF4-FFF2-40B4-BE49-F238E27FC236}">
                <a16:creationId xmlns:a16="http://schemas.microsoft.com/office/drawing/2014/main" id="{FBDF977D-BBC0-45BD-B106-8097928F6FB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2667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부록 01. 구성요소의 역할</a:t>
            </a:r>
          </a:p>
        </p:txBody>
      </p:sp>
      <p:sp>
        <p:nvSpPr>
          <p:cNvPr id="2" name="page-A1">
            <a:extLst xmlns:a="http://schemas.openxmlformats.org/drawingml/2006/main">
              <a:ext uri="{FF2B5EF4-FFF2-40B4-BE49-F238E27FC236}">
                <a16:creationId xmlns:a16="http://schemas.microsoft.com/office/drawing/2014/main" id="{5939EF7E-C308-4C60-A935-9D8FED0619C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934700" y="2667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A1</a:t>
            </a:r>
          </a:p>
        </p:txBody>
      </p:sp>
      <p:sp>
        <p:nvSpPr>
          <p:cNvPr id="3" name="header-rule-A1">
            <a:extLst xmlns:a="http://schemas.openxmlformats.org/drawingml/2006/main">
              <a:ext uri="{FF2B5EF4-FFF2-40B4-BE49-F238E27FC236}">
                <a16:creationId xmlns:a16="http://schemas.microsoft.com/office/drawing/2014/main" id="{BDC9982B-B749-4A54-8A58-20FA34F2925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68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oles-title">
            <a:extLst xmlns:a="http://schemas.openxmlformats.org/drawingml/2006/main">
              <a:ext uri="{FF2B5EF4-FFF2-40B4-BE49-F238E27FC236}">
                <a16:creationId xmlns:a16="http://schemas.microsoft.com/office/drawing/2014/main" id="{A2095C20-8916-4ADC-BF1C-9A0353EF2A6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96202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Agent 구성요소는 ‘판단 정보·조정 주체·실행 책임’으로 구분</a:t>
            </a:r>
          </a:p>
        </p:txBody>
      </p:sp>
      <p:sp>
        <p:nvSpPr>
          <p:cNvPr id="5" name="roles-subtitle">
            <a:extLst xmlns:a="http://schemas.openxmlformats.org/drawingml/2006/main">
              <a:ext uri="{FF2B5EF4-FFF2-40B4-BE49-F238E27FC236}">
                <a16:creationId xmlns:a16="http://schemas.microsoft.com/office/drawing/2014/main" id="{5C829930-6E18-49E2-952B-109B10E64D3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13811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8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38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모든 요소가 필수 계층이 아니라, 업무 복잡도에 따라 필요한 역할만 조합</a:t>
            </a:r>
          </a:p>
        </p:txBody>
      </p:sp>
      <p:sp>
        <p:nvSpPr>
          <p:cNvPr id="6" name="roles-label">
            <a:extLst xmlns:a="http://schemas.openxmlformats.org/drawingml/2006/main">
              <a:ext uri="{FF2B5EF4-FFF2-40B4-BE49-F238E27FC236}">
                <a16:creationId xmlns:a16="http://schemas.microsoft.com/office/drawing/2014/main" id="{F8349D0E-A197-4E09-A296-A6A24FEB619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18954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[ 구성요소를 쉽게 이해하면 ]</a:t>
            </a:r>
          </a:p>
        </p:txBody>
      </p:sp>
      <p:sp>
        <p:nvSpPr>
          <p:cNvPr id="7" name="roles-header">
            <a:extLst xmlns:a="http://schemas.openxmlformats.org/drawingml/2006/main">
              <a:ext uri="{FF2B5EF4-FFF2-40B4-BE49-F238E27FC236}">
                <a16:creationId xmlns:a16="http://schemas.microsoft.com/office/drawing/2014/main" id="{5F6117D7-F0EE-4128-9583-1F318333869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2190750"/>
            <a:ext cx="10972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oles-header-term">
            <a:extLst xmlns:a="http://schemas.openxmlformats.org/drawingml/2006/main">
              <a:ext uri="{FF2B5EF4-FFF2-40B4-BE49-F238E27FC236}">
                <a16:creationId xmlns:a16="http://schemas.microsoft.com/office/drawing/2014/main" id="{67702C85-9E3B-41EA-8DA3-F28A7FFDC10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62000" y="22193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구성요소</a:t>
            </a:r>
          </a:p>
        </p:txBody>
      </p:sp>
      <p:sp>
        <p:nvSpPr>
          <p:cNvPr id="9" name="roles-header-easy">
            <a:extLst xmlns:a="http://schemas.openxmlformats.org/drawingml/2006/main">
              <a:ext uri="{FF2B5EF4-FFF2-40B4-BE49-F238E27FC236}">
                <a16:creationId xmlns:a16="http://schemas.microsoft.com/office/drawing/2014/main" id="{D491E078-2811-4687-A831-303FF22BF0C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33650" y="221932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쉽게 말하면</a:t>
            </a:r>
          </a:p>
        </p:txBody>
      </p:sp>
      <p:sp>
        <p:nvSpPr>
          <p:cNvPr id="10" name="roles-header-role">
            <a:extLst xmlns:a="http://schemas.openxmlformats.org/drawingml/2006/main">
              <a:ext uri="{FF2B5EF4-FFF2-40B4-BE49-F238E27FC236}">
                <a16:creationId xmlns:a16="http://schemas.microsoft.com/office/drawing/2014/main" id="{F9D99371-D800-4775-9166-014E9AEE57F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33950" y="221932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실제 역할</a:t>
            </a:r>
          </a:p>
        </p:txBody>
      </p:sp>
      <p:sp>
        <p:nvSpPr>
          <p:cNvPr id="11" name="roles-row-skill">
            <a:extLst xmlns:a="http://schemas.openxmlformats.org/drawingml/2006/main">
              <a:ext uri="{FF2B5EF4-FFF2-40B4-BE49-F238E27FC236}">
                <a16:creationId xmlns:a16="http://schemas.microsoft.com/office/drawing/2014/main" id="{4FABAA41-5E88-41D4-919D-FC5B6493C14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2514600"/>
            <a:ext cx="10972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oles-row-meta">
            <a:extLst xmlns:a="http://schemas.openxmlformats.org/drawingml/2006/main">
              <a:ext uri="{FF2B5EF4-FFF2-40B4-BE49-F238E27FC236}">
                <a16:creationId xmlns:a16="http://schemas.microsoft.com/office/drawing/2014/main" id="{89EE5B0A-D8FF-4040-B3A8-2C910A6195B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3086100"/>
            <a:ext cx="10972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oles-row-main">
            <a:extLst xmlns:a="http://schemas.openxmlformats.org/drawingml/2006/main">
              <a:ext uri="{FF2B5EF4-FFF2-40B4-BE49-F238E27FC236}">
                <a16:creationId xmlns:a16="http://schemas.microsoft.com/office/drawing/2014/main" id="{0C1166FD-6407-4445-9135-4937217F54D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365760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oles-row-tool">
            <a:extLst xmlns:a="http://schemas.openxmlformats.org/drawingml/2006/main">
              <a:ext uri="{FF2B5EF4-FFF2-40B4-BE49-F238E27FC236}">
                <a16:creationId xmlns:a16="http://schemas.microsoft.com/office/drawing/2014/main" id="{9B9A42DA-BE62-4FB6-89A4-38883F1FBA3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440055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oles-row-sub">
            <a:extLst xmlns:a="http://schemas.openxmlformats.org/drawingml/2006/main">
              <a:ext uri="{FF2B5EF4-FFF2-40B4-BE49-F238E27FC236}">
                <a16:creationId xmlns:a16="http://schemas.microsoft.com/office/drawing/2014/main" id="{A6AD15F3-5632-4F35-8C5E-9D87118B3A7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514350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oles-col-1">
            <a:extLst xmlns:a="http://schemas.openxmlformats.org/drawingml/2006/main">
              <a:ext uri="{FF2B5EF4-FFF2-40B4-BE49-F238E27FC236}">
                <a16:creationId xmlns:a16="http://schemas.microsoft.com/office/drawing/2014/main" id="{3A58F533-0147-4B43-8302-4DAB10CE193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381250" y="2190750"/>
            <a:ext cx="9525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oles-col-2">
            <a:extLst xmlns:a="http://schemas.openxmlformats.org/drawingml/2006/main">
              <a:ext uri="{FF2B5EF4-FFF2-40B4-BE49-F238E27FC236}">
                <a16:creationId xmlns:a16="http://schemas.microsoft.com/office/drawing/2014/main" id="{FA181EFC-F230-4FA0-B038-5301E53C8CB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62500" y="2190750"/>
            <a:ext cx="9525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oles-row-rule-0">
            <a:extLst xmlns:a="http://schemas.openxmlformats.org/drawingml/2006/main">
              <a:ext uri="{FF2B5EF4-FFF2-40B4-BE49-F238E27FC236}">
                <a16:creationId xmlns:a16="http://schemas.microsoft.com/office/drawing/2014/main" id="{14B826DF-68DE-4B44-BD6E-8A77CAD0D7B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3086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oles-row-rule-1">
            <a:extLst xmlns:a="http://schemas.openxmlformats.org/drawingml/2006/main">
              <a:ext uri="{FF2B5EF4-FFF2-40B4-BE49-F238E27FC236}">
                <a16:creationId xmlns:a16="http://schemas.microsoft.com/office/drawing/2014/main" id="{B8089EAB-8D2B-482D-993C-D0F35A3DDD5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3657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oles-row-rule-2">
            <a:extLst xmlns:a="http://schemas.openxmlformats.org/drawingml/2006/main">
              <a:ext uri="{FF2B5EF4-FFF2-40B4-BE49-F238E27FC236}">
                <a16:creationId xmlns:a16="http://schemas.microsoft.com/office/drawing/2014/main" id="{97F80693-C074-4830-B437-5E63EC40911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4400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oles-row-rule-3">
            <a:extLst xmlns:a="http://schemas.openxmlformats.org/drawingml/2006/main">
              <a:ext uri="{FF2B5EF4-FFF2-40B4-BE49-F238E27FC236}">
                <a16:creationId xmlns:a16="http://schemas.microsoft.com/office/drawing/2014/main" id="{4245548B-7B23-456D-918B-066E293606A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5143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oles-row-rule-4">
            <a:extLst xmlns:a="http://schemas.openxmlformats.org/drawingml/2006/main">
              <a:ext uri="{FF2B5EF4-FFF2-40B4-BE49-F238E27FC236}">
                <a16:creationId xmlns:a16="http://schemas.microsoft.com/office/drawing/2014/main" id="{4045BE47-34A2-4D00-AC5F-8575A00FE38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5753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kill-num">
            <a:extLst xmlns:a="http://schemas.openxmlformats.org/drawingml/2006/main">
              <a:ext uri="{FF2B5EF4-FFF2-40B4-BE49-F238E27FC236}">
                <a16:creationId xmlns:a16="http://schemas.microsoft.com/office/drawing/2014/main" id="{565B42C9-20DD-454B-A4AB-93EF402C89D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62000" y="259080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24" name="skill-term">
            <a:extLst xmlns:a="http://schemas.openxmlformats.org/drawingml/2006/main">
              <a:ext uri="{FF2B5EF4-FFF2-40B4-BE49-F238E27FC236}">
                <a16:creationId xmlns:a16="http://schemas.microsoft.com/office/drawing/2014/main" id="{0C570116-0312-497F-A793-75C2DA5F05D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62050" y="25527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Skill</a:t>
            </a:r>
          </a:p>
        </p:txBody>
      </p:sp>
      <p:sp>
        <p:nvSpPr>
          <p:cNvPr id="25" name="skill-easy">
            <a:extLst xmlns:a="http://schemas.openxmlformats.org/drawingml/2006/main">
              <a:ext uri="{FF2B5EF4-FFF2-40B4-BE49-F238E27FC236}">
                <a16:creationId xmlns:a16="http://schemas.microsoft.com/office/drawing/2014/main" id="{643137EE-F2AC-4709-AECD-C1F8BAEC370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33650" y="25527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업무 절차서</a:t>
            </a:r>
          </a:p>
        </p:txBody>
      </p:sp>
      <p:sp>
        <p:nvSpPr>
          <p:cNvPr id="26" name="skill-role">
            <a:extLst xmlns:a="http://schemas.openxmlformats.org/drawingml/2006/main">
              <a:ext uri="{FF2B5EF4-FFF2-40B4-BE49-F238E27FC236}">
                <a16:creationId xmlns:a16="http://schemas.microsoft.com/office/drawing/2014/main" id="{67205615-DA60-48A0-BD69-410DFA8BCE1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33950" y="253365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특정 작업의 Workflow·판단 기준·주의사항 설명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Agent가 참고하는 절차 정보이며 실제 실행 주체는 아님</a:t>
            </a:r>
          </a:p>
        </p:txBody>
      </p:sp>
      <p:sp>
        <p:nvSpPr>
          <p:cNvPr id="27" name="meta-num">
            <a:extLst xmlns:a="http://schemas.openxmlformats.org/drawingml/2006/main">
              <a:ext uri="{FF2B5EF4-FFF2-40B4-BE49-F238E27FC236}">
                <a16:creationId xmlns:a16="http://schemas.microsoft.com/office/drawing/2014/main" id="{8949ECC7-85AE-4580-8F5E-3DEAA406BDD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62000" y="316230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28" name="meta-term">
            <a:extLst xmlns:a="http://schemas.openxmlformats.org/drawingml/2006/main">
              <a:ext uri="{FF2B5EF4-FFF2-40B4-BE49-F238E27FC236}">
                <a16:creationId xmlns:a16="http://schemas.microsoft.com/office/drawing/2014/main" id="{1E16C92D-6BA6-4DC6-8BD9-265AC5832DB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62050" y="31242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Metadata</a:t>
            </a:r>
          </a:p>
        </p:txBody>
      </p:sp>
      <p:sp>
        <p:nvSpPr>
          <p:cNvPr id="29" name="meta-easy">
            <a:extLst xmlns:a="http://schemas.openxmlformats.org/drawingml/2006/main">
              <a:ext uri="{FF2B5EF4-FFF2-40B4-BE49-F238E27FC236}">
                <a16:creationId xmlns:a16="http://schemas.microsoft.com/office/drawing/2014/main" id="{6012562F-C225-40F9-8391-A3AC96996E7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33650" y="31242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기능 안내표</a:t>
            </a:r>
          </a:p>
        </p:txBody>
      </p:sp>
      <p:sp>
        <p:nvSpPr>
          <p:cNvPr id="30" name="meta-role">
            <a:extLst xmlns:a="http://schemas.openxmlformats.org/drawingml/2006/main">
              <a:ext uri="{FF2B5EF4-FFF2-40B4-BE49-F238E27FC236}">
                <a16:creationId xmlns:a16="http://schemas.microsoft.com/office/drawing/2014/main" id="{F622B399-111B-4C85-9546-315442BEC0C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33950" y="310515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기능 설명·적용 영역·입출력·선택 조건 제공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Main Agent가 Tool 후보를 찾고 비교하는 기준</a:t>
            </a:r>
          </a:p>
        </p:txBody>
      </p:sp>
      <p:sp>
        <p:nvSpPr>
          <p:cNvPr id="31" name="main-num">
            <a:extLst xmlns:a="http://schemas.openxmlformats.org/drawingml/2006/main">
              <a:ext uri="{FF2B5EF4-FFF2-40B4-BE49-F238E27FC236}">
                <a16:creationId xmlns:a16="http://schemas.microsoft.com/office/drawing/2014/main" id="{CE3DC334-66FB-47CD-B7FF-960EB26D594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62000" y="377190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2" name="main-term">
            <a:extLst xmlns:a="http://schemas.openxmlformats.org/drawingml/2006/main">
              <a:ext uri="{FF2B5EF4-FFF2-40B4-BE49-F238E27FC236}">
                <a16:creationId xmlns:a16="http://schemas.microsoft.com/office/drawing/2014/main" id="{7A53F3D2-BD32-4A8B-85F3-B287F44623F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62050" y="37147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Main Agent</a:t>
            </a:r>
          </a:p>
        </p:txBody>
      </p:sp>
      <p:sp>
        <p:nvSpPr>
          <p:cNvPr id="33" name="main-easy">
            <a:extLst xmlns:a="http://schemas.openxmlformats.org/drawingml/2006/main">
              <a:ext uri="{FF2B5EF4-FFF2-40B4-BE49-F238E27FC236}">
                <a16:creationId xmlns:a16="http://schemas.microsoft.com/office/drawing/2014/main" id="{3747F9F1-9861-4D0F-934B-10CE85AAE12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33650" y="37147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조정자</a:t>
            </a:r>
          </a:p>
        </p:txBody>
      </p:sp>
      <p:sp>
        <p:nvSpPr>
          <p:cNvPr id="34" name="main-role">
            <a:extLst xmlns:a="http://schemas.openxmlformats.org/drawingml/2006/main">
              <a:ext uri="{FF2B5EF4-FFF2-40B4-BE49-F238E27FC236}">
                <a16:creationId xmlns:a16="http://schemas.microsoft.com/office/drawing/2014/main" id="{5A5ACDF7-3F31-4D51-8CB2-FD928BD7B9F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33950" y="3695700"/>
            <a:ext cx="647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질문 이해 → 기능 탐색 → 실행계획 수립 → 결과 검토·최종 통합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공통 Agent Engine의 핵심 조정 역할</a:t>
            </a:r>
          </a:p>
        </p:txBody>
      </p:sp>
      <p:sp>
        <p:nvSpPr>
          <p:cNvPr id="35" name="tool-num">
            <a:extLst xmlns:a="http://schemas.openxmlformats.org/drawingml/2006/main">
              <a:ext uri="{FF2B5EF4-FFF2-40B4-BE49-F238E27FC236}">
                <a16:creationId xmlns:a16="http://schemas.microsoft.com/office/drawing/2014/main" id="{57E66D9C-B032-425D-86AC-9A796030E69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62000" y="45148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6" name="tool-term">
            <a:extLst xmlns:a="http://schemas.openxmlformats.org/drawingml/2006/main">
              <a:ext uri="{FF2B5EF4-FFF2-40B4-BE49-F238E27FC236}">
                <a16:creationId xmlns:a16="http://schemas.microsoft.com/office/drawing/2014/main" id="{EE07E87D-23A5-42D2-A0C3-A489D22F866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85850" y="4457700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23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Tool·Workflow</a:t>
            </a:r>
          </a:p>
        </p:txBody>
      </p:sp>
      <p:sp>
        <p:nvSpPr>
          <p:cNvPr id="37" name="tool-easy">
            <a:extLst xmlns:a="http://schemas.openxmlformats.org/drawingml/2006/main">
              <a:ext uri="{FF2B5EF4-FFF2-40B4-BE49-F238E27FC236}">
                <a16:creationId xmlns:a16="http://schemas.microsoft.com/office/drawing/2014/main" id="{EF6AAA0D-82C6-4090-A035-2FF8F2812BA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33650" y="44577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실무 실행자</a:t>
            </a:r>
          </a:p>
        </p:txBody>
      </p:sp>
      <p:sp>
        <p:nvSpPr>
          <p:cNvPr id="38" name="tool-role">
            <a:extLst xmlns:a="http://schemas.openxmlformats.org/drawingml/2006/main">
              <a:ext uri="{FF2B5EF4-FFF2-40B4-BE49-F238E27FC236}">
                <a16:creationId xmlns:a16="http://schemas.microsoft.com/office/drawing/2014/main" id="{294687D7-4353-4A2B-A316-3EFFD484E0D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33950" y="4438650"/>
            <a:ext cx="647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DB·API·코드로 조회·분석·변경을 실제 수행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고정 순서·상태·권한·예외·실패 복구까지 책임</a:t>
            </a:r>
          </a:p>
        </p:txBody>
      </p:sp>
      <p:sp>
        <p:nvSpPr>
          <p:cNvPr id="39" name="sub-num">
            <a:extLst xmlns:a="http://schemas.openxmlformats.org/drawingml/2006/main">
              <a:ext uri="{FF2B5EF4-FFF2-40B4-BE49-F238E27FC236}">
                <a16:creationId xmlns:a16="http://schemas.microsoft.com/office/drawing/2014/main" id="{DD6E9B05-487E-43EE-81E6-79F662D417E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62000" y="525780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40" name="sub-term">
            <a:extLst xmlns:a="http://schemas.openxmlformats.org/drawingml/2006/main">
              <a:ext uri="{FF2B5EF4-FFF2-40B4-BE49-F238E27FC236}">
                <a16:creationId xmlns:a16="http://schemas.microsoft.com/office/drawing/2014/main" id="{5269B37C-FA93-4B0C-945B-734D21F6D22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62050" y="520065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8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38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Sub Agent</a:t>
            </a:r>
          </a:p>
        </p:txBody>
      </p:sp>
      <p:sp>
        <p:nvSpPr>
          <p:cNvPr id="41" name="sub-easy">
            <a:extLst xmlns:a="http://schemas.openxmlformats.org/drawingml/2006/main">
              <a:ext uri="{FF2B5EF4-FFF2-40B4-BE49-F238E27FC236}">
                <a16:creationId xmlns:a16="http://schemas.microsoft.com/office/drawing/2014/main" id="{7EFB793A-82D0-4735-A74B-1003E5DB2A7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33650" y="520065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전문 담당자</a:t>
            </a:r>
          </a:p>
        </p:txBody>
      </p:sp>
      <p:sp>
        <p:nvSpPr>
          <p:cNvPr id="42" name="sub-role">
            <a:extLst xmlns:a="http://schemas.openxmlformats.org/drawingml/2006/main">
              <a:ext uri="{FF2B5EF4-FFF2-40B4-BE49-F238E27FC236}">
                <a16:creationId xmlns:a16="http://schemas.microsoft.com/office/drawing/2014/main" id="{8582E298-A899-43FC-A2AD-3305A0D847A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33950" y="5162550"/>
            <a:ext cx="647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별도 전문 역할이나 독립 맥락이 필요한 경우에만 선택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모든 업무에 필수인 고정 계층은 아님</a:t>
            </a:r>
          </a:p>
        </p:txBody>
      </p:sp>
      <p:sp>
        <p:nvSpPr>
          <p:cNvPr id="43" name="roles-flow">
            <a:extLst xmlns:a="http://schemas.openxmlformats.org/drawingml/2006/main">
              <a:ext uri="{FF2B5EF4-FFF2-40B4-BE49-F238E27FC236}">
                <a16:creationId xmlns:a16="http://schemas.microsoft.com/office/drawing/2014/main" id="{879FA662-92AC-4FE9-831B-F2C65659FA7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590550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roles-flow-title">
            <a:extLst xmlns:a="http://schemas.openxmlformats.org/drawingml/2006/main">
              <a:ext uri="{FF2B5EF4-FFF2-40B4-BE49-F238E27FC236}">
                <a16:creationId xmlns:a16="http://schemas.microsoft.com/office/drawing/2014/main" id="{CBEEAFB1-1E66-486A-9D23-BD0DA1F976C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38200" y="5953125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작동 순서</a:t>
            </a:r>
          </a:p>
        </p:txBody>
      </p:sp>
      <p:sp>
        <p:nvSpPr>
          <p:cNvPr id="45" name="roles-flow-body">
            <a:extLst xmlns:a="http://schemas.openxmlformats.org/drawingml/2006/main">
              <a:ext uri="{FF2B5EF4-FFF2-40B4-BE49-F238E27FC236}">
                <a16:creationId xmlns:a16="http://schemas.microsoft.com/office/drawing/2014/main" id="{92BBAA6F-0154-455F-A57F-A7AA6FBE874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362200" y="5953125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질문 → Skill·Metadata 참조 → Main Agent 계획 → Tool·Workflow 실행 → 답변·보고서</a:t>
            </a:r>
          </a:p>
        </p:txBody>
      </p:sp>
    </p:spTree>
    <p:extLst>
      <p:ext uri="{BB962C8B-B14F-4D97-AF65-F5344CB8AC3E}">
        <p14:creationId xmlns:p14="http://schemas.microsoft.com/office/powerpoint/2010/main" val="8875263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header-A2">
            <a:extLst xmlns:a="http://schemas.openxmlformats.org/drawingml/2006/main">
              <a:ext uri="{FF2B5EF4-FFF2-40B4-BE49-F238E27FC236}">
                <a16:creationId xmlns:a16="http://schemas.microsoft.com/office/drawing/2014/main" id="{4B803552-C443-476B-BA6F-C2B3D25C733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2667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부록 02. 파일럿 추진</a:t>
            </a:r>
          </a:p>
        </p:txBody>
      </p:sp>
      <p:sp>
        <p:nvSpPr>
          <p:cNvPr id="2" name="page-A2">
            <a:extLst xmlns:a="http://schemas.openxmlformats.org/drawingml/2006/main">
              <a:ext uri="{FF2B5EF4-FFF2-40B4-BE49-F238E27FC236}">
                <a16:creationId xmlns:a16="http://schemas.microsoft.com/office/drawing/2014/main" id="{B81480B9-73E9-45C4-9643-A7E6AB136E1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934700" y="2667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A2</a:t>
            </a:r>
          </a:p>
        </p:txBody>
      </p:sp>
      <p:sp>
        <p:nvSpPr>
          <p:cNvPr id="3" name="header-rule-A2">
            <a:extLst xmlns:a="http://schemas.openxmlformats.org/drawingml/2006/main">
              <a:ext uri="{FF2B5EF4-FFF2-40B4-BE49-F238E27FC236}">
                <a16:creationId xmlns:a16="http://schemas.microsoft.com/office/drawing/2014/main" id="{3CF5B9BA-8BAA-4715-AE67-FD7F1978E5B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68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ilot-title">
            <a:extLst xmlns:a="http://schemas.openxmlformats.org/drawingml/2006/main">
              <a:ext uri="{FF2B5EF4-FFF2-40B4-BE49-F238E27FC236}">
                <a16:creationId xmlns:a16="http://schemas.microsoft.com/office/drawing/2014/main" id="{517C6F03-DB07-4F74-8D9A-F479E00FBBE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96202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22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2~3개 실제 업무로 운영 기준을 검증한 뒤, 검증된 기능만 확산</a:t>
            </a:r>
          </a:p>
        </p:txBody>
      </p:sp>
      <p:sp>
        <p:nvSpPr>
          <p:cNvPr id="5" name="pilot-subtitle">
            <a:extLst xmlns:a="http://schemas.openxmlformats.org/drawingml/2006/main">
              <a:ext uri="{FF2B5EF4-FFF2-40B4-BE49-F238E27FC236}">
                <a16:creationId xmlns:a16="http://schemas.microsoft.com/office/drawing/2014/main" id="{E61AE3AC-4819-4ED8-9653-AD5209FA598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13811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8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38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기술 시연보다 반복 사용·성과 측정이 가능한 업무를 우선</a:t>
            </a:r>
          </a:p>
        </p:txBody>
      </p:sp>
      <p:sp>
        <p:nvSpPr>
          <p:cNvPr id="6" name="pilot-label">
            <a:extLst xmlns:a="http://schemas.openxmlformats.org/drawingml/2006/main">
              <a:ext uri="{FF2B5EF4-FFF2-40B4-BE49-F238E27FC236}">
                <a16:creationId xmlns:a16="http://schemas.microsoft.com/office/drawing/2014/main" id="{AD7367E8-D3AC-4C78-9B87-A7936EEFAF1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1895475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[ 단계별 추진과 판단 기준 ]</a:t>
            </a:r>
          </a:p>
        </p:txBody>
      </p:sp>
      <p:sp>
        <p:nvSpPr>
          <p:cNvPr id="7" name="pilot-col-rule-1">
            <a:extLst xmlns:a="http://schemas.openxmlformats.org/drawingml/2006/main">
              <a:ext uri="{FF2B5EF4-FFF2-40B4-BE49-F238E27FC236}">
                <a16:creationId xmlns:a16="http://schemas.microsoft.com/office/drawing/2014/main" id="{048CD031-F9FA-4EA4-A6A3-4299E1F6A97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38600" y="2190750"/>
            <a:ext cx="95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ilot-col-rule-2">
            <a:extLst xmlns:a="http://schemas.openxmlformats.org/drawingml/2006/main">
              <a:ext uri="{FF2B5EF4-FFF2-40B4-BE49-F238E27FC236}">
                <a16:creationId xmlns:a16="http://schemas.microsoft.com/office/drawing/2014/main" id="{3478FBFD-FD82-45A4-85F5-CC317B212AA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772400" y="2190750"/>
            <a:ext cx="95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ilot-num-1">
            <a:extLst xmlns:a="http://schemas.openxmlformats.org/drawingml/2006/main">
              <a:ext uri="{FF2B5EF4-FFF2-40B4-BE49-F238E27FC236}">
                <a16:creationId xmlns:a16="http://schemas.microsoft.com/office/drawing/2014/main" id="{BFC3E7F0-2641-4387-85CC-5F51B1B73F2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213360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defRPr>
            </a:pPr>
            <a:r>
              <a:rPr sz="36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0" name="pilot-title-1">
            <a:extLst xmlns:a="http://schemas.openxmlformats.org/drawingml/2006/main">
              <a:ext uri="{FF2B5EF4-FFF2-40B4-BE49-F238E27FC236}">
                <a16:creationId xmlns:a16="http://schemas.microsoft.com/office/drawing/2014/main" id="{976DDECC-2C05-4217-8FD5-20278257AA5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2667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공통 기반 준비</a:t>
            </a:r>
          </a:p>
        </p:txBody>
      </p:sp>
      <p:sp>
        <p:nvSpPr>
          <p:cNvPr id="11" name="pilot-main-1">
            <a:extLst xmlns:a="http://schemas.openxmlformats.org/drawingml/2006/main">
              <a:ext uri="{FF2B5EF4-FFF2-40B4-BE49-F238E27FC236}">
                <a16:creationId xmlns:a16="http://schemas.microsoft.com/office/drawing/2014/main" id="{23BD9B79-AE49-4B9D-B957-10A267E53AD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3067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Agent Engine·Profile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공통 활용 Tool·연결 기준</a:t>
            </a:r>
          </a:p>
        </p:txBody>
      </p:sp>
      <p:sp>
        <p:nvSpPr>
          <p:cNvPr id="12" name="pilot-rule-1">
            <a:extLst xmlns:a="http://schemas.openxmlformats.org/drawingml/2006/main">
              <a:ext uri="{FF2B5EF4-FFF2-40B4-BE49-F238E27FC236}">
                <a16:creationId xmlns:a16="http://schemas.microsoft.com/office/drawing/2014/main" id="{636446ED-DBD2-46FA-B689-774A3452887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37338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ilot-check-label-1">
            <a:extLst xmlns:a="http://schemas.openxmlformats.org/drawingml/2006/main">
              <a:ext uri="{FF2B5EF4-FFF2-40B4-BE49-F238E27FC236}">
                <a16:creationId xmlns:a16="http://schemas.microsoft.com/office/drawing/2014/main" id="{64627C45-ACCB-43BD-96F2-553E0E11CA6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38290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확인 기준</a:t>
            </a:r>
          </a:p>
        </p:txBody>
      </p:sp>
      <p:sp>
        <p:nvSpPr>
          <p:cNvPr id="14" name="pilot-check-1">
            <a:extLst xmlns:a="http://schemas.openxmlformats.org/drawingml/2006/main">
              <a:ext uri="{FF2B5EF4-FFF2-40B4-BE49-F238E27FC236}">
                <a16:creationId xmlns:a16="http://schemas.microsoft.com/office/drawing/2014/main" id="{F6CA5067-6A86-4CAC-AB98-0FE970BF00E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4095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호출·권한·로그·오류 처리 작동</a:t>
            </a:r>
          </a:p>
        </p:txBody>
      </p:sp>
      <p:sp>
        <p:nvSpPr>
          <p:cNvPr id="15" name="pilot-num-2">
            <a:extLst xmlns:a="http://schemas.openxmlformats.org/drawingml/2006/main">
              <a:ext uri="{FF2B5EF4-FFF2-40B4-BE49-F238E27FC236}">
                <a16:creationId xmlns:a16="http://schemas.microsoft.com/office/drawing/2014/main" id="{ED5F781C-85AE-47D7-874E-9FF2696AEF9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43400" y="213360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36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6" name="pilot-title-2">
            <a:extLst xmlns:a="http://schemas.openxmlformats.org/drawingml/2006/main">
              <a:ext uri="{FF2B5EF4-FFF2-40B4-BE49-F238E27FC236}">
                <a16:creationId xmlns:a16="http://schemas.microsoft.com/office/drawing/2014/main" id="{BC281BA6-619E-4E6B-8025-730F0D7FA71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43400" y="2667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대표 업무 파일럿</a:t>
            </a:r>
          </a:p>
        </p:txBody>
      </p:sp>
      <p:sp>
        <p:nvSpPr>
          <p:cNvPr id="17" name="pilot-main-2">
            <a:extLst xmlns:a="http://schemas.openxmlformats.org/drawingml/2006/main">
              <a:ext uri="{FF2B5EF4-FFF2-40B4-BE49-F238E27FC236}">
                <a16:creationId xmlns:a16="http://schemas.microsoft.com/office/drawing/2014/main" id="{3B7B56E5-AEF2-4618-870B-C53B987AE97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43400" y="3067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2~3개 반복 업무 적용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담당자·데이터·비교 기준 확보</a:t>
            </a:r>
          </a:p>
        </p:txBody>
      </p:sp>
      <p:sp>
        <p:nvSpPr>
          <p:cNvPr id="18" name="pilot-rule-2">
            <a:extLst xmlns:a="http://schemas.openxmlformats.org/drawingml/2006/main">
              <a:ext uri="{FF2B5EF4-FFF2-40B4-BE49-F238E27FC236}">
                <a16:creationId xmlns:a16="http://schemas.microsoft.com/office/drawing/2014/main" id="{F18282EC-0509-433F-AEA5-69687C20A0C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43400" y="37338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ilot-check-label-2">
            <a:extLst xmlns:a="http://schemas.openxmlformats.org/drawingml/2006/main">
              <a:ext uri="{FF2B5EF4-FFF2-40B4-BE49-F238E27FC236}">
                <a16:creationId xmlns:a16="http://schemas.microsoft.com/office/drawing/2014/main" id="{BCA81B04-E805-4022-935D-E8A5EC32E2F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43400" y="38290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확인 기준</a:t>
            </a:r>
          </a:p>
        </p:txBody>
      </p:sp>
      <p:sp>
        <p:nvSpPr>
          <p:cNvPr id="20" name="pilot-check-2">
            <a:extLst xmlns:a="http://schemas.openxmlformats.org/drawingml/2006/main">
              <a:ext uri="{FF2B5EF4-FFF2-40B4-BE49-F238E27FC236}">
                <a16:creationId xmlns:a16="http://schemas.microsoft.com/office/drawing/2014/main" id="{46E511FD-5C24-4BDE-A285-4A87BA95BF4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43400" y="4095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효과·품질·사용성 측정 가능</a:t>
            </a:r>
          </a:p>
        </p:txBody>
      </p:sp>
      <p:sp>
        <p:nvSpPr>
          <p:cNvPr id="21" name="pilot-num-3">
            <a:extLst xmlns:a="http://schemas.openxmlformats.org/drawingml/2006/main">
              <a:ext uri="{FF2B5EF4-FFF2-40B4-BE49-F238E27FC236}">
                <a16:creationId xmlns:a16="http://schemas.microsoft.com/office/drawing/2014/main" id="{2D672497-A4E3-4994-A61B-3714C5CEB3F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77200" y="213360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36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2" name="pilot-title-3">
            <a:extLst xmlns:a="http://schemas.openxmlformats.org/drawingml/2006/main">
              <a:ext uri="{FF2B5EF4-FFF2-40B4-BE49-F238E27FC236}">
                <a16:creationId xmlns:a16="http://schemas.microsoft.com/office/drawing/2014/main" id="{EC1E2FD7-AE51-41D1-A2F7-2B08A28E834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77200" y="2667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성과 기반 확산</a:t>
            </a:r>
          </a:p>
        </p:txBody>
      </p:sp>
      <p:sp>
        <p:nvSpPr>
          <p:cNvPr id="23" name="pilot-main-3">
            <a:extLst xmlns:a="http://schemas.openxmlformats.org/drawingml/2006/main">
              <a:ext uri="{FF2B5EF4-FFF2-40B4-BE49-F238E27FC236}">
                <a16:creationId xmlns:a16="http://schemas.microsoft.com/office/drawing/2014/main" id="{FD13AED3-36A8-4A9A-AC69-2A575D80B9F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77200" y="3067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검증된 기능부터 구독 확대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운영 책임·유지보수 기준 명확화</a:t>
            </a:r>
          </a:p>
        </p:txBody>
      </p:sp>
      <p:sp>
        <p:nvSpPr>
          <p:cNvPr id="24" name="pilot-rule-3">
            <a:extLst xmlns:a="http://schemas.openxmlformats.org/drawingml/2006/main">
              <a:ext uri="{FF2B5EF4-FFF2-40B4-BE49-F238E27FC236}">
                <a16:creationId xmlns:a16="http://schemas.microsoft.com/office/drawing/2014/main" id="{D6A289EA-330A-46C0-A548-3C9590EF6B5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77200" y="37338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ilot-check-label-3">
            <a:extLst xmlns:a="http://schemas.openxmlformats.org/drawingml/2006/main">
              <a:ext uri="{FF2B5EF4-FFF2-40B4-BE49-F238E27FC236}">
                <a16:creationId xmlns:a16="http://schemas.microsoft.com/office/drawing/2014/main" id="{085DF3FE-CA3B-4ED6-B914-4DA9DEB315F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77200" y="38290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확인 기준</a:t>
            </a:r>
          </a:p>
        </p:txBody>
      </p:sp>
      <p:sp>
        <p:nvSpPr>
          <p:cNvPr id="26" name="pilot-check-3">
            <a:extLst xmlns:a="http://schemas.openxmlformats.org/drawingml/2006/main">
              <a:ext uri="{FF2B5EF4-FFF2-40B4-BE49-F238E27FC236}">
                <a16:creationId xmlns:a16="http://schemas.microsoft.com/office/drawing/2014/main" id="{8BD15FE8-E968-48A1-AEF3-A977C24A188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77200" y="4095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확산 효과가 운영 부담보다 큼</a:t>
            </a:r>
          </a:p>
        </p:txBody>
      </p:sp>
      <p:sp>
        <p:nvSpPr>
          <p:cNvPr id="27" name="metrics-label">
            <a:extLst xmlns:a="http://schemas.openxmlformats.org/drawingml/2006/main">
              <a:ext uri="{FF2B5EF4-FFF2-40B4-BE49-F238E27FC236}">
                <a16:creationId xmlns:a16="http://schemas.microsoft.com/office/drawing/2014/main" id="{626A006A-116B-465A-A0ED-A5504FD13D4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46291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[ 파일럿 검증 지표 ]</a:t>
            </a:r>
          </a:p>
        </p:txBody>
      </p:sp>
      <p:sp>
        <p:nvSpPr>
          <p:cNvPr id="28" name="metrics-top-rule">
            <a:extLst xmlns:a="http://schemas.openxmlformats.org/drawingml/2006/main">
              <a:ext uri="{FF2B5EF4-FFF2-40B4-BE49-F238E27FC236}">
                <a16:creationId xmlns:a16="http://schemas.microsoft.com/office/drawing/2014/main" id="{8966C77A-3B9A-45AE-A959-911DF6CD2BA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4933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metrics-col-1">
            <a:extLst xmlns:a="http://schemas.openxmlformats.org/drawingml/2006/main">
              <a:ext uri="{FF2B5EF4-FFF2-40B4-BE49-F238E27FC236}">
                <a16:creationId xmlns:a16="http://schemas.microsoft.com/office/drawing/2014/main" id="{C4AE426B-2EC4-4A61-B0EE-0D9B31DC5E7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38600" y="4933950"/>
            <a:ext cx="95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metrics-col-2">
            <a:extLst xmlns:a="http://schemas.openxmlformats.org/drawingml/2006/main">
              <a:ext uri="{FF2B5EF4-FFF2-40B4-BE49-F238E27FC236}">
                <a16:creationId xmlns:a16="http://schemas.microsoft.com/office/drawing/2014/main" id="{18940AF4-B79E-46DB-A4D0-21B37EEA276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772400" y="4933950"/>
            <a:ext cx="95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metric-effect-title">
            <a:extLst xmlns:a="http://schemas.openxmlformats.org/drawingml/2006/main">
              <a:ext uri="{FF2B5EF4-FFF2-40B4-BE49-F238E27FC236}">
                <a16:creationId xmlns:a16="http://schemas.microsoft.com/office/drawing/2014/main" id="{DE2490D4-9FC4-4AAF-9585-8561AA35A6F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38200" y="5010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효과</a:t>
            </a:r>
          </a:p>
        </p:txBody>
      </p:sp>
      <p:sp>
        <p:nvSpPr>
          <p:cNvPr id="32" name="metric-effect-body">
            <a:extLst xmlns:a="http://schemas.openxmlformats.org/drawingml/2006/main">
              <a:ext uri="{FF2B5EF4-FFF2-40B4-BE49-F238E27FC236}">
                <a16:creationId xmlns:a16="http://schemas.microsoft.com/office/drawing/2014/main" id="{3E678A8D-94DA-4E6A-ACA0-5CA584D5C1A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00200" y="50101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처리시간·반복 작업 감소</a:t>
            </a:r>
          </a:p>
        </p:txBody>
      </p:sp>
      <p:sp>
        <p:nvSpPr>
          <p:cNvPr id="33" name="metric-quality-title">
            <a:extLst xmlns:a="http://schemas.openxmlformats.org/drawingml/2006/main">
              <a:ext uri="{FF2B5EF4-FFF2-40B4-BE49-F238E27FC236}">
                <a16:creationId xmlns:a16="http://schemas.microsoft.com/office/drawing/2014/main" id="{BCC1F322-EBA7-4211-8AA0-F3FF820602D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72000" y="5010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품질</a:t>
            </a:r>
          </a:p>
        </p:txBody>
      </p:sp>
      <p:sp>
        <p:nvSpPr>
          <p:cNvPr id="34" name="metric-quality-body">
            <a:extLst xmlns:a="http://schemas.openxmlformats.org/drawingml/2006/main">
              <a:ext uri="{FF2B5EF4-FFF2-40B4-BE49-F238E27FC236}">
                <a16:creationId xmlns:a16="http://schemas.microsoft.com/office/drawing/2014/main" id="{6959751B-71B6-431D-BB85-E6644CE05D2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334000" y="50101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정확도·활용성·만족도</a:t>
            </a:r>
          </a:p>
        </p:txBody>
      </p:sp>
      <p:sp>
        <p:nvSpPr>
          <p:cNvPr id="35" name="metric-operation-title">
            <a:extLst xmlns:a="http://schemas.openxmlformats.org/drawingml/2006/main">
              <a:ext uri="{FF2B5EF4-FFF2-40B4-BE49-F238E27FC236}">
                <a16:creationId xmlns:a16="http://schemas.microsoft.com/office/drawing/2014/main" id="{41949CA6-D0F2-459C-AD42-DCE925F771D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305800" y="5010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36" name="metric-operation-body">
            <a:extLst xmlns:a="http://schemas.openxmlformats.org/drawingml/2006/main">
              <a:ext uri="{FF2B5EF4-FFF2-40B4-BE49-F238E27FC236}">
                <a16:creationId xmlns:a16="http://schemas.microsoft.com/office/drawing/2014/main" id="{60C94C11-EB76-4627-A369-CFFA5E237B8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67800" y="50101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권한·로그·책임·유지보수</a:t>
            </a:r>
          </a:p>
        </p:txBody>
      </p:sp>
      <p:sp>
        <p:nvSpPr>
          <p:cNvPr id="37" name="metrics-note">
            <a:extLst xmlns:a="http://schemas.openxmlformats.org/drawingml/2006/main">
              <a:ext uri="{FF2B5EF4-FFF2-40B4-BE49-F238E27FC236}">
                <a16:creationId xmlns:a16="http://schemas.microsoft.com/office/drawing/2014/main" id="{622A6752-59ED-4E16-AE6A-7A9B715FA43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53911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측정 결과가 부족하면 확산보다 기준 보완과 재검증 우선</a:t>
            </a:r>
          </a:p>
        </p:txBody>
      </p:sp>
      <p:sp>
        <p:nvSpPr>
          <p:cNvPr id="38" name="pilot-summary">
            <a:extLst xmlns:a="http://schemas.openxmlformats.org/drawingml/2006/main">
              <a:ext uri="{FF2B5EF4-FFF2-40B4-BE49-F238E27FC236}">
                <a16:creationId xmlns:a16="http://schemas.microsoft.com/office/drawing/2014/main" id="{68EA43F3-B586-4111-986A-4E5E6022455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590550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ilot-summary-text">
            <a:extLst xmlns:a="http://schemas.openxmlformats.org/drawingml/2006/main">
              <a:ext uri="{FF2B5EF4-FFF2-40B4-BE49-F238E27FC236}">
                <a16:creationId xmlns:a16="http://schemas.microsoft.com/office/drawing/2014/main" id="{AC17B7BF-B1DF-4273-9044-2AE09D9DCFC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38200" y="595312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1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파일럿의 목적은 기술 시연이 아니라, 반복 사용 가능한 운영 기준과 확산 근거 확보</a:t>
            </a:r>
          </a:p>
        </p:txBody>
      </p:sp>
    </p:spTree>
    <p:extLst>
      <p:ext uri="{BB962C8B-B14F-4D97-AF65-F5344CB8AC3E}">
        <p14:creationId xmlns:p14="http://schemas.microsoft.com/office/powerpoint/2010/main" val="17361781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840</Words>
  <Application>Microsoft Office PowerPoint</Application>
  <DocSecurity>0</DocSecurity>
  <PresentationFormat>와이드스크린</PresentationFormat>
  <Paragraphs>159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Calibri</vt:lpstr>
      <vt:lpstr>Wingdings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봉건 문</cp:lastModifiedBy>
  <cp:revision>12</cp:revision>
  <dcterms:created xsi:type="dcterms:W3CDTF">2026-07-19T09:28:24Z</dcterms:created>
  <dcterms:modified xsi:type="dcterms:W3CDTF">2026-07-19T13:17:24Z</dcterms:modified>
</cp:coreProperties>
</file>