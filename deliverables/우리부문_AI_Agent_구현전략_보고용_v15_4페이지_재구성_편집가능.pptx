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9E9"/>
    <a:srgbClr val="9A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ver-top-rule">
            <a:extLst>
              <a:ext uri="{FF2B5EF4-FFF2-40B4-BE49-F238E27FC236}">
                <a16:creationId xmlns:a16="http://schemas.microsoft.com/office/drawing/2014/main" id="{67EA9460-D132-413F-AEC8-7F666A7504B5}"/>
              </a:ext>
            </a:extLst>
          </p:cNvPr>
          <p:cNvSpPr>
            <a:spLocks/>
          </p:cNvSpPr>
          <p:nvPr/>
        </p:nvSpPr>
        <p:spPr>
          <a:xfrm>
            <a:off x="609600" y="476250"/>
            <a:ext cx="10972800" cy="19050"/>
          </a:xfrm>
          <a:prstGeom prst="rect">
            <a:avLst/>
          </a:prstGeom>
          <a:solidFill>
            <a:srgbClr val="12121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94EBCDBB-51A1-4D9E-B5A9-D588F032F945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DIVISION AI AGENT STRATEGY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78D10328-739D-4ACA-893F-8A9BDF2C41A9}"/>
              </a:ext>
            </a:extLst>
          </p:cNvPr>
          <p:cNvSpPr>
            <a:spLocks/>
          </p:cNvSpPr>
          <p:nvPr/>
        </p:nvSpPr>
        <p:spPr>
          <a:xfrm>
            <a:off x="609600" y="1466850"/>
            <a:ext cx="62103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6000"/>
              </a:lnSpc>
              <a:buNone/>
              <a:defRPr sz="4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우리</a:t>
            </a: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부문</a:t>
            </a:r>
            <a:endParaRPr sz="4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96000"/>
              </a:lnSpc>
              <a:buNone/>
              <a:defRPr sz="4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AI Agent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4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2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전략</a:t>
            </a:r>
            <a:endParaRPr sz="4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3AB8242C-B753-4295-96A0-6106E94C36BC}"/>
              </a:ext>
            </a:extLst>
          </p:cNvPr>
          <p:cNvSpPr>
            <a:spLocks/>
          </p:cNvSpPr>
          <p:nvPr/>
        </p:nvSpPr>
        <p:spPr>
          <a:xfrm>
            <a:off x="647700" y="327660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  <a:defRPr sz="18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전문성은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조직에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</a:t>
            </a:r>
          </a:p>
          <a:p>
            <a:pPr algn="l">
              <a:lnSpc>
                <a:spcPct val="115000"/>
              </a:lnSpc>
              <a:buNone/>
              <a:defRPr sz="18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Agent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경험과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기반은</a:t>
            </a:r>
            <a:r>
              <a:rPr sz="18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부문에</a:t>
            </a:r>
            <a:endParaRPr sz="18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cover-accent">
            <a:extLst>
              <a:ext uri="{FF2B5EF4-FFF2-40B4-BE49-F238E27FC236}">
                <a16:creationId xmlns:a16="http://schemas.microsoft.com/office/drawing/2014/main" id="{9959945D-272A-42AC-9674-EFAFA89C5A11}"/>
              </a:ext>
            </a:extLst>
          </p:cNvPr>
          <p:cNvSpPr>
            <a:spLocks/>
          </p:cNvSpPr>
          <p:nvPr/>
        </p:nvSpPr>
        <p:spPr>
          <a:xfrm>
            <a:off x="609600" y="4419600"/>
            <a:ext cx="857250" cy="57150"/>
          </a:xfrm>
          <a:prstGeom prst="rect">
            <a:avLst/>
          </a:prstGeom>
          <a:solidFill>
            <a:srgbClr val="12121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cover-statement">
            <a:extLst>
              <a:ext uri="{FF2B5EF4-FFF2-40B4-BE49-F238E27FC236}">
                <a16:creationId xmlns:a16="http://schemas.microsoft.com/office/drawing/2014/main" id="{C274E1DA-922D-408C-87AD-FA58E8CEDA8A}"/>
              </a:ext>
            </a:extLst>
          </p:cNvPr>
          <p:cNvSpPr>
            <a:spLocks/>
          </p:cNvSpPr>
          <p:nvPr/>
        </p:nvSpPr>
        <p:spPr>
          <a:xfrm>
            <a:off x="609600" y="4629150"/>
            <a:ext cx="600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조직 자율개발과 부문 공통 기반을 하나의 Agent 창구로 연결</a:t>
            </a:r>
          </a:p>
        </p:txBody>
      </p:sp>
      <p:sp>
        <p:nvSpPr>
          <p:cNvPr id="7" name="cover-right-panel">
            <a:extLst>
              <a:ext uri="{FF2B5EF4-FFF2-40B4-BE49-F238E27FC236}">
                <a16:creationId xmlns:a16="http://schemas.microsoft.com/office/drawing/2014/main" id="{67FDB034-370B-415E-AB72-2B5497675A1D}"/>
              </a:ext>
            </a:extLst>
          </p:cNvPr>
          <p:cNvSpPr>
            <a:spLocks/>
          </p:cNvSpPr>
          <p:nvPr/>
        </p:nvSpPr>
        <p:spPr>
          <a:xfrm>
            <a:off x="7239000" y="952500"/>
            <a:ext cx="4343400" cy="48577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over-right-ghost">
            <a:extLst>
              <a:ext uri="{FF2B5EF4-FFF2-40B4-BE49-F238E27FC236}">
                <a16:creationId xmlns:a16="http://schemas.microsoft.com/office/drawing/2014/main" id="{7EE9A043-AC42-4D1C-887A-D86C3DABBC05}"/>
              </a:ext>
            </a:extLst>
          </p:cNvPr>
          <p:cNvSpPr>
            <a:spLocks/>
          </p:cNvSpPr>
          <p:nvPr/>
        </p:nvSpPr>
        <p:spPr>
          <a:xfrm>
            <a:off x="7543800" y="1162050"/>
            <a:ext cx="3619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7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7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cover-right-line-1">
            <a:extLst>
              <a:ext uri="{FF2B5EF4-FFF2-40B4-BE49-F238E27FC236}">
                <a16:creationId xmlns:a16="http://schemas.microsoft.com/office/drawing/2014/main" id="{18CC952B-0983-4478-A30B-FC0E534C9660}"/>
              </a:ext>
            </a:extLst>
          </p:cNvPr>
          <p:cNvSpPr>
            <a:spLocks/>
          </p:cNvSpPr>
          <p:nvPr/>
        </p:nvSpPr>
        <p:spPr>
          <a:xfrm>
            <a:off x="7620000" y="23812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ORGANIZATIONS</a:t>
            </a:r>
          </a:p>
        </p:txBody>
      </p:sp>
      <p:sp>
        <p:nvSpPr>
          <p:cNvPr id="10" name="cover-right-main-1">
            <a:extLst>
              <a:ext uri="{FF2B5EF4-FFF2-40B4-BE49-F238E27FC236}">
                <a16:creationId xmlns:a16="http://schemas.microsoft.com/office/drawing/2014/main" id="{C9EC881F-9298-4C58-B4CA-00C2CF5B75F4}"/>
              </a:ext>
            </a:extLst>
          </p:cNvPr>
          <p:cNvSpPr>
            <a:spLocks/>
          </p:cNvSpPr>
          <p:nvPr/>
        </p:nvSpPr>
        <p:spPr>
          <a:xfrm>
            <a:off x="7620000" y="2724150"/>
            <a:ext cx="3429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BUILD</a:t>
            </a:r>
          </a:p>
          <a:p>
            <a:pPr algn="l">
              <a:lnSpc>
                <a:spcPct val="94000"/>
              </a:lnSpc>
              <a:buNone/>
              <a:def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2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THE WORK</a:t>
            </a:r>
          </a:p>
        </p:txBody>
      </p:sp>
      <p:sp>
        <p:nvSpPr>
          <p:cNvPr id="11" name="cover-panel-rule">
            <a:extLst>
              <a:ext uri="{FF2B5EF4-FFF2-40B4-BE49-F238E27FC236}">
                <a16:creationId xmlns:a16="http://schemas.microsoft.com/office/drawing/2014/main" id="{F65DD6CE-AD46-4436-ACF0-610D80BAC3B3}"/>
              </a:ext>
            </a:extLst>
          </p:cNvPr>
          <p:cNvSpPr>
            <a:spLocks/>
          </p:cNvSpPr>
          <p:nvPr/>
        </p:nvSpPr>
        <p:spPr>
          <a:xfrm>
            <a:off x="7620000" y="4000500"/>
            <a:ext cx="3429000" cy="190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cover-right-line-2">
            <a:extLst>
              <a:ext uri="{FF2B5EF4-FFF2-40B4-BE49-F238E27FC236}">
                <a16:creationId xmlns:a16="http://schemas.microsoft.com/office/drawing/2014/main" id="{6DDAEAA9-054F-460E-A9AA-C5EEBCEDC95A}"/>
              </a:ext>
            </a:extLst>
          </p:cNvPr>
          <p:cNvSpPr>
            <a:spLocks/>
          </p:cNvSpPr>
          <p:nvPr/>
        </p:nvSpPr>
        <p:spPr>
          <a:xfrm>
            <a:off x="7620000" y="4229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DIVISION</a:t>
            </a:r>
          </a:p>
        </p:txBody>
      </p:sp>
      <p:sp>
        <p:nvSpPr>
          <p:cNvPr id="13" name="cover-right-main-2">
            <a:extLst>
              <a:ext uri="{FF2B5EF4-FFF2-40B4-BE49-F238E27FC236}">
                <a16:creationId xmlns:a16="http://schemas.microsoft.com/office/drawing/2014/main" id="{BF9FF6BD-C942-40B8-96D4-3E06A4AF59DD}"/>
              </a:ext>
            </a:extLst>
          </p:cNvPr>
          <p:cNvSpPr>
            <a:spLocks/>
          </p:cNvSpPr>
          <p:nvPr/>
        </p:nvSpPr>
        <p:spPr>
          <a:xfrm>
            <a:off x="7620000" y="4572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CONNECTS IT</a:t>
            </a:r>
          </a:p>
        </p:txBody>
      </p:sp>
      <p:sp>
        <p:nvSpPr>
          <p:cNvPr id="14" name="cover-right-note">
            <a:extLst>
              <a:ext uri="{FF2B5EF4-FFF2-40B4-BE49-F238E27FC236}">
                <a16:creationId xmlns:a16="http://schemas.microsoft.com/office/drawing/2014/main" id="{17870204-04F4-43CE-8600-9A3C02C162F6}"/>
              </a:ext>
            </a:extLst>
          </p:cNvPr>
          <p:cNvSpPr>
            <a:spLocks/>
          </p:cNvSpPr>
          <p:nvPr/>
        </p:nvSpPr>
        <p:spPr>
          <a:xfrm>
            <a:off x="7620000" y="5219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Tool · Skill · Profile · Agent Engine</a:t>
            </a:r>
          </a:p>
        </p:txBody>
      </p:sp>
      <p:sp>
        <p:nvSpPr>
          <p:cNvPr id="15" name="cover-date">
            <a:extLst>
              <a:ext uri="{FF2B5EF4-FFF2-40B4-BE49-F238E27FC236}">
                <a16:creationId xmlns:a16="http://schemas.microsoft.com/office/drawing/2014/main" id="{33A671B7-D39C-43F6-A02D-D778F11EB2D3}"/>
              </a:ext>
            </a:extLst>
          </p:cNvPr>
          <p:cNvSpPr>
            <a:spLocks/>
          </p:cNvSpPr>
          <p:nvPr/>
        </p:nvSpPr>
        <p:spPr>
          <a:xfrm>
            <a:off x="609600" y="61722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CONCEPT DIRECTION  |  2026.07</a:t>
            </a:r>
          </a:p>
        </p:txBody>
      </p:sp>
      <p:sp>
        <p:nvSpPr>
          <p:cNvPr id="16" name="cover-page">
            <a:extLst>
              <a:ext uri="{FF2B5EF4-FFF2-40B4-BE49-F238E27FC236}">
                <a16:creationId xmlns:a16="http://schemas.microsoft.com/office/drawing/2014/main" id="{DB7EDEE5-8246-4542-B3C6-3961BAD98F48}"/>
              </a:ext>
            </a:extLst>
          </p:cNvPr>
          <p:cNvSpPr>
            <a:spLocks/>
          </p:cNvSpPr>
          <p:nvPr/>
        </p:nvSpPr>
        <p:spPr>
          <a:xfrm>
            <a:off x="10934700" y="61722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967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header-02">
            <a:extLst>
              <a:ext uri="{FF2B5EF4-FFF2-40B4-BE49-F238E27FC236}">
                <a16:creationId xmlns:a16="http://schemas.microsoft.com/office/drawing/2014/main" id="{AD0FCC7E-874A-4FE7-BF6F-A03B5EC9CAE2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01. AI Agent 개발 추진 방향</a:t>
            </a:r>
          </a:p>
        </p:txBody>
      </p:sp>
      <p:sp>
        <p:nvSpPr>
          <p:cNvPr id="2" name="page-02">
            <a:extLst>
              <a:ext uri="{FF2B5EF4-FFF2-40B4-BE49-F238E27FC236}">
                <a16:creationId xmlns:a16="http://schemas.microsoft.com/office/drawing/2014/main" id="{C1099E15-F216-4A5E-8BFF-55642C15723E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header-rule-02">
            <a:extLst>
              <a:ext uri="{FF2B5EF4-FFF2-40B4-BE49-F238E27FC236}">
                <a16:creationId xmlns:a16="http://schemas.microsoft.com/office/drawing/2014/main" id="{65B99E47-1DCD-4EDC-9B9B-98A8110E80E8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direction-title">
            <a:extLst>
              <a:ext uri="{FF2B5EF4-FFF2-40B4-BE49-F238E27FC236}">
                <a16:creationId xmlns:a16="http://schemas.microsoft.com/office/drawing/2014/main" id="{0EE4AD85-567D-4346-B735-DC318EF3F380}"/>
              </a:ext>
            </a:extLst>
          </p:cNvPr>
          <p:cNvSpPr>
            <a:spLocks/>
          </p:cNvSpPr>
          <p:nvPr/>
        </p:nvSpPr>
        <p:spPr>
          <a:xfrm>
            <a:off x="609600" y="914577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111A2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중앙 집중 개발과 조직 자율 개발 방식은 선택의 요소가 아니라 역할의 분담 문제</a:t>
            </a:r>
          </a:p>
        </p:txBody>
      </p:sp>
      <p:sp>
        <p:nvSpPr>
          <p:cNvPr id="5" name="direction-subtitle">
            <a:extLst>
              <a:ext uri="{FF2B5EF4-FFF2-40B4-BE49-F238E27FC236}">
                <a16:creationId xmlns:a16="http://schemas.microsoft.com/office/drawing/2014/main" id="{D23DB692-FE81-4766-BDD5-2A7A5C039C1F}"/>
              </a:ext>
            </a:extLst>
          </p:cNvPr>
          <p:cNvSpPr>
            <a:spLocks/>
          </p:cNvSpPr>
          <p:nvPr/>
        </p:nvSpPr>
        <p:spPr>
          <a:xfrm>
            <a:off x="619125" y="1371777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87684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중앙 조직의 전문 개발 역량과 개별 조직의 현업 지식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/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활용에 대한 장점을 결합하여 방향을 설정</a:t>
            </a:r>
          </a:p>
        </p:txBody>
      </p:sp>
      <p:sp>
        <p:nvSpPr>
          <p:cNvPr id="6" name="direction-divider">
            <a:extLst>
              <a:ext uri="{FF2B5EF4-FFF2-40B4-BE49-F238E27FC236}">
                <a16:creationId xmlns:a16="http://schemas.microsoft.com/office/drawing/2014/main" id="{77535A26-2567-4A24-93B1-C58016C0B4AC}"/>
              </a:ext>
            </a:extLst>
          </p:cNvPr>
          <p:cNvSpPr>
            <a:spLocks/>
          </p:cNvSpPr>
          <p:nvPr/>
        </p:nvSpPr>
        <p:spPr>
          <a:xfrm>
            <a:off x="6096000" y="1911468"/>
            <a:ext cx="9525" cy="2438400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entral-num">
            <a:extLst>
              <a:ext uri="{FF2B5EF4-FFF2-40B4-BE49-F238E27FC236}">
                <a16:creationId xmlns:a16="http://schemas.microsoft.com/office/drawing/2014/main" id="{A2164939-814F-4FAE-847C-360D8BBA31C1}"/>
              </a:ext>
            </a:extLst>
          </p:cNvPr>
          <p:cNvSpPr>
            <a:spLocks/>
          </p:cNvSpPr>
          <p:nvPr/>
        </p:nvSpPr>
        <p:spPr>
          <a:xfrm>
            <a:off x="609600" y="2126772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central-eng">
            <a:extLst>
              <a:ext uri="{FF2B5EF4-FFF2-40B4-BE49-F238E27FC236}">
                <a16:creationId xmlns:a16="http://schemas.microsoft.com/office/drawing/2014/main" id="{A46339D9-11A5-4FFD-BB8B-1CB5C3CAE1C3}"/>
              </a:ext>
            </a:extLst>
          </p:cNvPr>
          <p:cNvSpPr>
            <a:spLocks/>
          </p:cNvSpPr>
          <p:nvPr/>
        </p:nvSpPr>
        <p:spPr>
          <a:xfrm>
            <a:off x="1581150" y="2131803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CENTRAL DEVELOPMENT</a:t>
            </a:r>
          </a:p>
        </p:txBody>
      </p:sp>
      <p:sp>
        <p:nvSpPr>
          <p:cNvPr id="9" name="central-title">
            <a:extLst>
              <a:ext uri="{FF2B5EF4-FFF2-40B4-BE49-F238E27FC236}">
                <a16:creationId xmlns:a16="http://schemas.microsoft.com/office/drawing/2014/main" id="{BCB76FE8-0E6D-4B17-B086-2CF7890BA946}"/>
              </a:ext>
            </a:extLst>
          </p:cNvPr>
          <p:cNvSpPr>
            <a:spLocks/>
          </p:cNvSpPr>
          <p:nvPr/>
        </p:nvSpPr>
        <p:spPr>
          <a:xfrm>
            <a:off x="1581150" y="2365794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중앙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집중 개발</a:t>
            </a:r>
            <a:endParaRPr sz="21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central-rule">
            <a:extLst>
              <a:ext uri="{FF2B5EF4-FFF2-40B4-BE49-F238E27FC236}">
                <a16:creationId xmlns:a16="http://schemas.microsoft.com/office/drawing/2014/main" id="{9A137424-5B6E-4D14-A364-6C613A40BEAD}"/>
              </a:ext>
            </a:extLst>
          </p:cNvPr>
          <p:cNvSpPr>
            <a:spLocks/>
          </p:cNvSpPr>
          <p:nvPr/>
        </p:nvSpPr>
        <p:spPr>
          <a:xfrm>
            <a:off x="609600" y="2768718"/>
            <a:ext cx="5124450" cy="3810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entral-strength-label">
            <a:extLst>
              <a:ext uri="{FF2B5EF4-FFF2-40B4-BE49-F238E27FC236}">
                <a16:creationId xmlns:a16="http://schemas.microsoft.com/office/drawing/2014/main" id="{05A9F81A-5059-458F-98BC-B9D393B395E9}"/>
              </a:ext>
            </a:extLst>
          </p:cNvPr>
          <p:cNvSpPr>
            <a:spLocks/>
          </p:cNvSpPr>
          <p:nvPr/>
        </p:nvSpPr>
        <p:spPr>
          <a:xfrm>
            <a:off x="609600" y="3061027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장점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central-strength">
            <a:extLst>
              <a:ext uri="{FF2B5EF4-FFF2-40B4-BE49-F238E27FC236}">
                <a16:creationId xmlns:a16="http://schemas.microsoft.com/office/drawing/2014/main" id="{D66A04D3-BD08-4862-A2DD-6B5C049AAF76}"/>
              </a:ext>
            </a:extLst>
          </p:cNvPr>
          <p:cNvSpPr>
            <a:spLocks/>
          </p:cNvSpPr>
          <p:nvPr/>
        </p:nvSpPr>
        <p:spPr>
          <a:xfrm>
            <a:off x="1590676" y="2880052"/>
            <a:ext cx="4267199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최고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수준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개발역량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집중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으로</a:t>
            </a:r>
            <a:r>
              <a:rPr 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완성도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안정성 향상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품질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보안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운영 기준을 일관되게 적용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</p:txBody>
      </p:sp>
      <p:sp>
        <p:nvSpPr>
          <p:cNvPr id="13" name="central-light-rule">
            <a:extLst>
              <a:ext uri="{FF2B5EF4-FFF2-40B4-BE49-F238E27FC236}">
                <a16:creationId xmlns:a16="http://schemas.microsoft.com/office/drawing/2014/main" id="{243BEDA0-50B3-4BE1-9DE9-5369CC7744D4}"/>
              </a:ext>
            </a:extLst>
          </p:cNvPr>
          <p:cNvSpPr>
            <a:spLocks/>
          </p:cNvSpPr>
          <p:nvPr/>
        </p:nvSpPr>
        <p:spPr>
          <a:xfrm>
            <a:off x="609600" y="3625968"/>
            <a:ext cx="512445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entral-gap-label">
            <a:extLst>
              <a:ext uri="{FF2B5EF4-FFF2-40B4-BE49-F238E27FC236}">
                <a16:creationId xmlns:a16="http://schemas.microsoft.com/office/drawing/2014/main" id="{83CDFF5B-E3E3-49B2-B3DD-097FC348F6D1}"/>
              </a:ext>
            </a:extLst>
          </p:cNvPr>
          <p:cNvSpPr>
            <a:spLocks/>
          </p:cNvSpPr>
          <p:nvPr/>
        </p:nvSpPr>
        <p:spPr>
          <a:xfrm>
            <a:off x="609600" y="3883143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central-gap">
            <a:extLst>
              <a:ext uri="{FF2B5EF4-FFF2-40B4-BE49-F238E27FC236}">
                <a16:creationId xmlns:a16="http://schemas.microsoft.com/office/drawing/2014/main" id="{F37512E4-8270-4C00-9541-147C8780B91F}"/>
              </a:ext>
            </a:extLst>
          </p:cNvPr>
          <p:cNvSpPr>
            <a:spLocks/>
          </p:cNvSpPr>
          <p:nvPr/>
        </p:nvSpPr>
        <p:spPr>
          <a:xfrm>
            <a:off x="1590676" y="3702168"/>
            <a:ext cx="428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제한된 개발 인력으로 신속한 개발이 어려움</a:t>
            </a:r>
            <a:endParaRPr lang="en-US" altLang="ko-KR"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현업 요구가 그대로 반영되기 어려워 활용성 저하</a:t>
            </a:r>
          </a:p>
        </p:txBody>
      </p:sp>
      <p:sp>
        <p:nvSpPr>
          <p:cNvPr id="16" name="org-num">
            <a:extLst>
              <a:ext uri="{FF2B5EF4-FFF2-40B4-BE49-F238E27FC236}">
                <a16:creationId xmlns:a16="http://schemas.microsoft.com/office/drawing/2014/main" id="{3EE79DEB-CB05-4E32-B977-4C646C653C98}"/>
              </a:ext>
            </a:extLst>
          </p:cNvPr>
          <p:cNvSpPr>
            <a:spLocks/>
          </p:cNvSpPr>
          <p:nvPr/>
        </p:nvSpPr>
        <p:spPr>
          <a:xfrm>
            <a:off x="6343650" y="2126772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8000"/>
              </a:lnSpc>
              <a:buNone/>
              <a:defRPr sz="37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7" name="org-eng">
            <a:extLst>
              <a:ext uri="{FF2B5EF4-FFF2-40B4-BE49-F238E27FC236}">
                <a16:creationId xmlns:a16="http://schemas.microsoft.com/office/drawing/2014/main" id="{B7A52D58-EF91-4856-BECE-1E94B8EDE279}"/>
              </a:ext>
            </a:extLst>
          </p:cNvPr>
          <p:cNvSpPr>
            <a:spLocks/>
          </p:cNvSpPr>
          <p:nvPr/>
        </p:nvSpPr>
        <p:spPr>
          <a:xfrm>
            <a:off x="7315200" y="2131803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ORGANIZATIONAL DEVELOPMENT</a:t>
            </a:r>
          </a:p>
        </p:txBody>
      </p:sp>
      <p:sp>
        <p:nvSpPr>
          <p:cNvPr id="18" name="org-title">
            <a:extLst>
              <a:ext uri="{FF2B5EF4-FFF2-40B4-BE49-F238E27FC236}">
                <a16:creationId xmlns:a16="http://schemas.microsoft.com/office/drawing/2014/main" id="{C9814D90-F238-464B-8127-894350C8568C}"/>
              </a:ext>
            </a:extLst>
          </p:cNvPr>
          <p:cNvSpPr>
            <a:spLocks/>
          </p:cNvSpPr>
          <p:nvPr/>
        </p:nvSpPr>
        <p:spPr>
          <a:xfrm>
            <a:off x="7315200" y="2365794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자율</a:t>
            </a:r>
            <a:r>
              <a:rPr sz="217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7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217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rg-rule">
            <a:extLst>
              <a:ext uri="{FF2B5EF4-FFF2-40B4-BE49-F238E27FC236}">
                <a16:creationId xmlns:a16="http://schemas.microsoft.com/office/drawing/2014/main" id="{720EA80B-48BC-499E-8381-51A4FB5633F5}"/>
              </a:ext>
            </a:extLst>
          </p:cNvPr>
          <p:cNvSpPr>
            <a:spLocks/>
          </p:cNvSpPr>
          <p:nvPr/>
        </p:nvSpPr>
        <p:spPr>
          <a:xfrm>
            <a:off x="6343650" y="2768718"/>
            <a:ext cx="5238750" cy="3810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org-strength-label">
            <a:extLst>
              <a:ext uri="{FF2B5EF4-FFF2-40B4-BE49-F238E27FC236}">
                <a16:creationId xmlns:a16="http://schemas.microsoft.com/office/drawing/2014/main" id="{B90B2A44-9398-4AAE-9B32-2A3E823CB483}"/>
              </a:ext>
            </a:extLst>
          </p:cNvPr>
          <p:cNvSpPr>
            <a:spLocks/>
          </p:cNvSpPr>
          <p:nvPr/>
        </p:nvSpPr>
        <p:spPr>
          <a:xfrm>
            <a:off x="6343650" y="3061027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장점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rg-strength">
            <a:extLst>
              <a:ext uri="{FF2B5EF4-FFF2-40B4-BE49-F238E27FC236}">
                <a16:creationId xmlns:a16="http://schemas.microsoft.com/office/drawing/2014/main" id="{6B74CF73-284F-463A-A6F1-021C36927432}"/>
              </a:ext>
            </a:extLst>
          </p:cNvPr>
          <p:cNvSpPr>
            <a:spLocks/>
          </p:cNvSpPr>
          <p:nvPr/>
        </p:nvSpPr>
        <p:spPr>
          <a:xfrm>
            <a:off x="7410450" y="2880052"/>
            <a:ext cx="4171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필요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한 기능을 직접 신속하게 구현 및 개선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업무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맥락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기반의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높은</a:t>
            </a:r>
            <a:r>
              <a:rPr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현업</a:t>
            </a:r>
            <a:r>
              <a:rPr 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</a:rPr>
              <a:t>활용도와 적합성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</a:endParaRPr>
          </a:p>
        </p:txBody>
      </p:sp>
      <p:sp>
        <p:nvSpPr>
          <p:cNvPr id="22" name="org-light-rule">
            <a:extLst>
              <a:ext uri="{FF2B5EF4-FFF2-40B4-BE49-F238E27FC236}">
                <a16:creationId xmlns:a16="http://schemas.microsoft.com/office/drawing/2014/main" id="{737353C8-754E-4B48-8E56-4D9EACA25BE7}"/>
              </a:ext>
            </a:extLst>
          </p:cNvPr>
          <p:cNvSpPr>
            <a:spLocks/>
          </p:cNvSpPr>
          <p:nvPr/>
        </p:nvSpPr>
        <p:spPr>
          <a:xfrm>
            <a:off x="6343650" y="3625968"/>
            <a:ext cx="523875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org-gap-label">
            <a:extLst>
              <a:ext uri="{FF2B5EF4-FFF2-40B4-BE49-F238E27FC236}">
                <a16:creationId xmlns:a16="http://schemas.microsoft.com/office/drawing/2014/main" id="{8319E840-FE4A-43ED-AAC3-E63B47198C7F}"/>
              </a:ext>
            </a:extLst>
          </p:cNvPr>
          <p:cNvSpPr>
            <a:spLocks/>
          </p:cNvSpPr>
          <p:nvPr/>
        </p:nvSpPr>
        <p:spPr>
          <a:xfrm>
            <a:off x="6343650" y="3883143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6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단점</a:t>
            </a:r>
            <a:endParaRPr sz="16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77777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org-gap">
            <a:extLst>
              <a:ext uri="{FF2B5EF4-FFF2-40B4-BE49-F238E27FC236}">
                <a16:creationId xmlns:a16="http://schemas.microsoft.com/office/drawing/2014/main" id="{C9E21E0F-F069-49FA-8380-9DC90AF04948}"/>
              </a:ext>
            </a:extLst>
          </p:cNvPr>
          <p:cNvSpPr>
            <a:spLocks/>
          </p:cNvSpPr>
          <p:nvPr/>
        </p:nvSpPr>
        <p:spPr>
          <a:xfrm>
            <a:off x="7410449" y="3702168"/>
            <a:ext cx="4280807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</a:rPr>
              <a:t>개발자 수준 차이로 인한 편차와 중복 개발</a:t>
            </a:r>
            <a:endParaRPr lang="en-US" altLang="ko-KR"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§"/>
              <a:defRPr sz="14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분산된 구현 방식으로 연결</a:t>
            </a:r>
            <a:r>
              <a:rPr lang="en-US" altLang="ko-KR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재사용의 어려움</a:t>
            </a:r>
            <a:endParaRPr sz="140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</a:endParaRPr>
          </a:p>
        </p:txBody>
      </p:sp>
      <p:sp>
        <p:nvSpPr>
          <p:cNvPr id="25" name="operating-model">
            <a:extLst>
              <a:ext uri="{FF2B5EF4-FFF2-40B4-BE49-F238E27FC236}">
                <a16:creationId xmlns:a16="http://schemas.microsoft.com/office/drawing/2014/main" id="{8EB98226-6F7C-4667-BE81-082AF91D7E38}"/>
              </a:ext>
            </a:extLst>
          </p:cNvPr>
          <p:cNvSpPr>
            <a:spLocks/>
          </p:cNvSpPr>
          <p:nvPr/>
        </p:nvSpPr>
        <p:spPr>
          <a:xfrm>
            <a:off x="609600" y="4953000"/>
            <a:ext cx="10972800" cy="1200150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operating-label">
            <a:extLst>
              <a:ext uri="{FF2B5EF4-FFF2-40B4-BE49-F238E27FC236}">
                <a16:creationId xmlns:a16="http://schemas.microsoft.com/office/drawing/2014/main" id="{983906D7-4196-4C60-B2F8-8B651493719F}"/>
              </a:ext>
            </a:extLst>
          </p:cNvPr>
          <p:cNvSpPr>
            <a:spLocks/>
          </p:cNvSpPr>
          <p:nvPr/>
        </p:nvSpPr>
        <p:spPr>
          <a:xfrm>
            <a:off x="1291318" y="5003866"/>
            <a:ext cx="9608457" cy="361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공통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Agent Engine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과 연결 기반을 제공하고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현업의 업무를 반영한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Tool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과 업무 </a:t>
            </a:r>
            <a:r>
              <a:rPr lang="en-US" altLang="ko-KR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Workflow</a:t>
            </a:r>
            <a:r>
              <a:rPr lang="ko-KR" altLang="en-US" sz="14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</a:rPr>
              <a:t>는 각 조직의 자율개발로 확장</a:t>
            </a:r>
          </a:p>
        </p:txBody>
      </p:sp>
      <p:sp>
        <p:nvSpPr>
          <p:cNvPr id="27" name="operating-left">
            <a:extLst>
              <a:ext uri="{FF2B5EF4-FFF2-40B4-BE49-F238E27FC236}">
                <a16:creationId xmlns:a16="http://schemas.microsoft.com/office/drawing/2014/main" id="{CF591C9A-2505-47D5-923D-E9B7D072CD89}"/>
              </a:ext>
            </a:extLst>
          </p:cNvPr>
          <p:cNvSpPr>
            <a:spLocks/>
          </p:cNvSpPr>
          <p:nvPr/>
        </p:nvSpPr>
        <p:spPr>
          <a:xfrm>
            <a:off x="857250" y="541020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</a:t>
            </a:r>
            <a:r>
              <a:rPr sz="20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2025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25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</a:t>
            </a:r>
            <a:endParaRPr sz="2025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operating-left-sub">
            <a:extLst>
              <a:ext uri="{FF2B5EF4-FFF2-40B4-BE49-F238E27FC236}">
                <a16:creationId xmlns:a16="http://schemas.microsoft.com/office/drawing/2014/main" id="{818A8DFB-6531-4B51-B93B-23DA94BFCAC6}"/>
              </a:ext>
            </a:extLst>
          </p:cNvPr>
          <p:cNvSpPr>
            <a:spLocks/>
          </p:cNvSpPr>
          <p:nvPr/>
        </p:nvSpPr>
        <p:spPr>
          <a:xfrm>
            <a:off x="857250" y="57721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Agent Engine · P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latform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Tool ·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operating-plus">
            <a:extLst>
              <a:ext uri="{FF2B5EF4-FFF2-40B4-BE49-F238E27FC236}">
                <a16:creationId xmlns:a16="http://schemas.microsoft.com/office/drawing/2014/main" id="{DEA8BFDC-4580-458D-89F3-4B9FC8E5456D}"/>
              </a:ext>
            </a:extLst>
          </p:cNvPr>
          <p:cNvSpPr>
            <a:spLocks/>
          </p:cNvSpPr>
          <p:nvPr/>
        </p:nvSpPr>
        <p:spPr>
          <a:xfrm>
            <a:off x="5734050" y="5410200"/>
            <a:ext cx="1066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34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345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0" name="operating-right">
            <a:extLst>
              <a:ext uri="{FF2B5EF4-FFF2-40B4-BE49-F238E27FC236}">
                <a16:creationId xmlns:a16="http://schemas.microsoft.com/office/drawing/2014/main" id="{4AF37FA7-EFFB-4552-8061-5625AE8D3CF3}"/>
              </a:ext>
            </a:extLst>
          </p:cNvPr>
          <p:cNvSpPr>
            <a:spLocks/>
          </p:cNvSpPr>
          <p:nvPr/>
        </p:nvSpPr>
        <p:spPr>
          <a:xfrm>
            <a:off x="7067550" y="541020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 자율 개발</a:t>
            </a:r>
          </a:p>
        </p:txBody>
      </p:sp>
      <p:sp>
        <p:nvSpPr>
          <p:cNvPr id="31" name="operating-right-sub">
            <a:extLst>
              <a:ext uri="{FF2B5EF4-FFF2-40B4-BE49-F238E27FC236}">
                <a16:creationId xmlns:a16="http://schemas.microsoft.com/office/drawing/2014/main" id="{8F26DD9D-150D-4B01-A86D-1EEB56F72339}"/>
              </a:ext>
            </a:extLst>
          </p:cNvPr>
          <p:cNvSpPr>
            <a:spLocks/>
          </p:cNvSpPr>
          <p:nvPr/>
        </p:nvSpPr>
        <p:spPr>
          <a:xfrm>
            <a:off x="7067550" y="5772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업무 Tool · Skill · Workflow · 실사용 기반 개선</a:t>
            </a:r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38700" y="5416680"/>
            <a:ext cx="628650" cy="60653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AE224CA-6003-96D1-2C59-CB753F069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22630" y="5416680"/>
            <a:ext cx="633639" cy="5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8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B307AB8-0345-6948-71B0-ED0FA8EB9F7B}"/>
              </a:ext>
            </a:extLst>
          </p:cNvPr>
          <p:cNvSpPr/>
          <p:nvPr/>
        </p:nvSpPr>
        <p:spPr>
          <a:xfrm>
            <a:off x="609600" y="2382512"/>
            <a:ext cx="7943852" cy="3886200"/>
          </a:xfrm>
          <a:prstGeom prst="roundRect">
            <a:avLst>
              <a:gd name="adj" fmla="val 8506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sx="99000" sy="99000" algn="tl" rotWithShape="0">
              <a:prstClr val="black">
                <a:alpha val="5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ED7A9F7-8F16-0C86-B28E-31E47318CCE3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3156951" y="3590830"/>
            <a:ext cx="2815224" cy="31933"/>
          </a:xfrm>
          <a:prstGeom prst="straightConnector1">
            <a:avLst/>
          </a:prstGeom>
          <a:ln w="57150">
            <a:solidFill>
              <a:srgbClr val="9A9A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header-03">
            <a:extLst>
              <a:ext uri="{FF2B5EF4-FFF2-40B4-BE49-F238E27FC236}">
                <a16:creationId xmlns:a16="http://schemas.microsoft.com/office/drawing/2014/main" id="{A3E27B24-E96F-438F-ACD7-E54FE1FFBC9E}"/>
              </a:ext>
            </a:extLst>
          </p:cNvPr>
          <p:cNvSpPr>
            <a:spLocks/>
          </p:cNvSpPr>
          <p:nvPr/>
        </p:nvSpPr>
        <p:spPr>
          <a:xfrm>
            <a:off x="609600" y="2667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02. 목표 운영 구조</a:t>
            </a:r>
          </a:p>
        </p:txBody>
      </p:sp>
      <p:sp>
        <p:nvSpPr>
          <p:cNvPr id="2" name="page-03">
            <a:extLst>
              <a:ext uri="{FF2B5EF4-FFF2-40B4-BE49-F238E27FC236}">
                <a16:creationId xmlns:a16="http://schemas.microsoft.com/office/drawing/2014/main" id="{6ABC854E-A017-4ABD-97B5-336C229FC53C}"/>
              </a:ext>
            </a:extLst>
          </p:cNvPr>
          <p:cNvSpPr>
            <a:spLocks/>
          </p:cNvSpPr>
          <p:nvPr/>
        </p:nvSpPr>
        <p:spPr>
          <a:xfrm>
            <a:off x="109347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header-rule-03">
            <a:extLst>
              <a:ext uri="{FF2B5EF4-FFF2-40B4-BE49-F238E27FC236}">
                <a16:creationId xmlns:a16="http://schemas.microsoft.com/office/drawing/2014/main" id="{EF8503CB-40CE-48C1-A7E9-9AC743F7DB36}"/>
              </a:ext>
            </a:extLst>
          </p:cNvPr>
          <p:cNvSpPr>
            <a:spLocks/>
          </p:cNvSpPr>
          <p:nvPr/>
        </p:nvSpPr>
        <p:spPr>
          <a:xfrm>
            <a:off x="609600" y="685800"/>
            <a:ext cx="109728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engine-drop">
            <a:extLst>
              <a:ext uri="{FF2B5EF4-FFF2-40B4-BE49-F238E27FC236}">
                <a16:creationId xmlns:a16="http://schemas.microsoft.com/office/drawing/2014/main" id="{1EB301F9-55C7-4E5D-971D-D784409F5D34}"/>
              </a:ext>
            </a:extLst>
          </p:cNvPr>
          <p:cNvSpPr>
            <a:spLocks/>
          </p:cNvSpPr>
          <p:nvPr/>
        </p:nvSpPr>
        <p:spPr>
          <a:xfrm>
            <a:off x="4572000" y="4033600"/>
            <a:ext cx="38100" cy="6667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engine-branch">
            <a:extLst>
              <a:ext uri="{FF2B5EF4-FFF2-40B4-BE49-F238E27FC236}">
                <a16:creationId xmlns:a16="http://schemas.microsoft.com/office/drawing/2014/main" id="{F94DF117-03BD-40CA-AC1B-03F6E1333F13}"/>
              </a:ext>
            </a:extLst>
          </p:cNvPr>
          <p:cNvSpPr>
            <a:spLocks/>
          </p:cNvSpPr>
          <p:nvPr/>
        </p:nvSpPr>
        <p:spPr>
          <a:xfrm>
            <a:off x="2286000" y="4674862"/>
            <a:ext cx="4572000" cy="3810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engine-branch-left">
            <a:extLst>
              <a:ext uri="{FF2B5EF4-FFF2-40B4-BE49-F238E27FC236}">
                <a16:creationId xmlns:a16="http://schemas.microsoft.com/office/drawing/2014/main" id="{771FC0C0-9937-4C79-B5C1-F9297D739A66}"/>
              </a:ext>
            </a:extLst>
          </p:cNvPr>
          <p:cNvSpPr>
            <a:spLocks/>
          </p:cNvSpPr>
          <p:nvPr/>
        </p:nvSpPr>
        <p:spPr>
          <a:xfrm>
            <a:off x="2286000" y="4674862"/>
            <a:ext cx="38100" cy="3238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engine-branch-right">
            <a:extLst>
              <a:ext uri="{FF2B5EF4-FFF2-40B4-BE49-F238E27FC236}">
                <a16:creationId xmlns:a16="http://schemas.microsoft.com/office/drawing/2014/main" id="{17A02935-58F4-4EE8-8E53-7F7875CFC569}"/>
              </a:ext>
            </a:extLst>
          </p:cNvPr>
          <p:cNvSpPr>
            <a:spLocks/>
          </p:cNvSpPr>
          <p:nvPr/>
        </p:nvSpPr>
        <p:spPr>
          <a:xfrm>
            <a:off x="6819900" y="4674862"/>
            <a:ext cx="38100" cy="3238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rofile-node">
            <a:extLst>
              <a:ext uri="{FF2B5EF4-FFF2-40B4-BE49-F238E27FC236}">
                <a16:creationId xmlns:a16="http://schemas.microsoft.com/office/drawing/2014/main" id="{C7152579-4559-4BF4-9600-A16F7CEF2110}"/>
              </a:ext>
            </a:extLst>
          </p:cNvPr>
          <p:cNvSpPr>
            <a:spLocks/>
          </p:cNvSpPr>
          <p:nvPr/>
        </p:nvSpPr>
        <p:spPr>
          <a:xfrm>
            <a:off x="996951" y="3152680"/>
            <a:ext cx="2160000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rofile-node-main">
            <a:extLst>
              <a:ext uri="{FF2B5EF4-FFF2-40B4-BE49-F238E27FC236}">
                <a16:creationId xmlns:a16="http://schemas.microsoft.com/office/drawing/2014/main" id="{FCD8715D-6AB0-499C-BC8A-F08A02F6F9CD}"/>
              </a:ext>
            </a:extLst>
          </p:cNvPr>
          <p:cNvSpPr>
            <a:spLocks/>
          </p:cNvSpPr>
          <p:nvPr/>
        </p:nvSpPr>
        <p:spPr>
          <a:xfrm>
            <a:off x="1127627" y="3441788"/>
            <a:ext cx="189864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 영역 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Profile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구분</a:t>
            </a:r>
            <a:endParaRPr sz="15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main-node">
            <a:extLst>
              <a:ext uri="{FF2B5EF4-FFF2-40B4-BE49-F238E27FC236}">
                <a16:creationId xmlns:a16="http://schemas.microsoft.com/office/drawing/2014/main" id="{D08C5811-0B4C-4D7D-9866-DAE3410195F1}"/>
              </a:ext>
            </a:extLst>
          </p:cNvPr>
          <p:cNvSpPr>
            <a:spLocks/>
          </p:cNvSpPr>
          <p:nvPr/>
        </p:nvSpPr>
        <p:spPr>
          <a:xfrm>
            <a:off x="3484563" y="3153938"/>
            <a:ext cx="2160000" cy="875042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main-node-main">
            <a:extLst>
              <a:ext uri="{FF2B5EF4-FFF2-40B4-BE49-F238E27FC236}">
                <a16:creationId xmlns:a16="http://schemas.microsoft.com/office/drawing/2014/main" id="{E706BBCC-934C-4B37-BA02-5EB414A3375E}"/>
              </a:ext>
            </a:extLst>
          </p:cNvPr>
          <p:cNvSpPr>
            <a:spLocks/>
          </p:cNvSpPr>
          <p:nvPr/>
        </p:nvSpPr>
        <p:spPr>
          <a:xfrm>
            <a:off x="3802563" y="3432263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 Agent</a:t>
            </a:r>
          </a:p>
        </p:txBody>
      </p:sp>
      <p:sp>
        <p:nvSpPr>
          <p:cNvPr id="23" name="main-node-sub">
            <a:extLst>
              <a:ext uri="{FF2B5EF4-FFF2-40B4-BE49-F238E27FC236}">
                <a16:creationId xmlns:a16="http://schemas.microsoft.com/office/drawing/2014/main" id="{0C720B73-C1AC-4B05-BAB3-8A9FB138155C}"/>
              </a:ext>
            </a:extLst>
          </p:cNvPr>
          <p:cNvSpPr>
            <a:spLocks/>
          </p:cNvSpPr>
          <p:nvPr/>
        </p:nvSpPr>
        <p:spPr>
          <a:xfrm>
            <a:off x="3564439" y="3776425"/>
            <a:ext cx="2000248" cy="1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Metadata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Skill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참고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execute-node">
            <a:extLst>
              <a:ext uri="{FF2B5EF4-FFF2-40B4-BE49-F238E27FC236}">
                <a16:creationId xmlns:a16="http://schemas.microsoft.com/office/drawing/2014/main" id="{2691D86D-F6DA-4029-A8A3-CE8C2BE33610}"/>
              </a:ext>
            </a:extLst>
          </p:cNvPr>
          <p:cNvSpPr>
            <a:spLocks/>
          </p:cNvSpPr>
          <p:nvPr/>
        </p:nvSpPr>
        <p:spPr>
          <a:xfrm>
            <a:off x="5972175" y="3184613"/>
            <a:ext cx="2160000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execute-node-main">
            <a:extLst>
              <a:ext uri="{FF2B5EF4-FFF2-40B4-BE49-F238E27FC236}">
                <a16:creationId xmlns:a16="http://schemas.microsoft.com/office/drawing/2014/main" id="{6797DA4B-8BCB-46C3-BCBC-E1AE2A014B2A}"/>
              </a:ext>
            </a:extLst>
          </p:cNvPr>
          <p:cNvSpPr>
            <a:spLocks/>
          </p:cNvSpPr>
          <p:nvPr/>
        </p:nvSpPr>
        <p:spPr>
          <a:xfrm>
            <a:off x="6075862" y="3503558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</a:t>
            </a:r>
            <a:endParaRPr sz="13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5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Sub Agent </a:t>
            </a:r>
            <a:r>
              <a:rPr lang="ko-KR" altLang="en-US"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3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위임</a:t>
            </a:r>
            <a:endParaRPr sz="13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12121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org-tools">
            <a:extLst>
              <a:ext uri="{FF2B5EF4-FFF2-40B4-BE49-F238E27FC236}">
                <a16:creationId xmlns:a16="http://schemas.microsoft.com/office/drawing/2014/main" id="{561E5DFA-29C0-4E69-A321-956F295A76EF}"/>
              </a:ext>
            </a:extLst>
          </p:cNvPr>
          <p:cNvSpPr>
            <a:spLocks/>
          </p:cNvSpPr>
          <p:nvPr/>
        </p:nvSpPr>
        <p:spPr>
          <a:xfrm>
            <a:off x="1066800" y="4998712"/>
            <a:ext cx="3162300" cy="666750"/>
          </a:xfrm>
          <a:prstGeom prst="rect">
            <a:avLst/>
          </a:prstGeom>
          <a:solidFill>
            <a:srgbClr val="48484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org-tools-title">
            <a:extLst>
              <a:ext uri="{FF2B5EF4-FFF2-40B4-BE49-F238E27FC236}">
                <a16:creationId xmlns:a16="http://schemas.microsoft.com/office/drawing/2014/main" id="{BD66369E-F4C0-456D-8183-1540D66324F6}"/>
              </a:ext>
            </a:extLst>
          </p:cNvPr>
          <p:cNvSpPr>
            <a:spLocks/>
          </p:cNvSpPr>
          <p:nvPr/>
        </p:nvSpPr>
        <p:spPr>
          <a:xfrm>
            <a:off x="1257300" y="507491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특화 </a:t>
            </a:r>
            <a:r>
              <a: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능</a:t>
            </a:r>
            <a:endParaRPr sz="15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org-tools-sub">
            <a:extLst>
              <a:ext uri="{FF2B5EF4-FFF2-40B4-BE49-F238E27FC236}">
                <a16:creationId xmlns:a16="http://schemas.microsoft.com/office/drawing/2014/main" id="{367DEDFA-A92E-4721-8450-20339C7192A4}"/>
              </a:ext>
            </a:extLst>
          </p:cNvPr>
          <p:cNvSpPr>
            <a:spLocks/>
          </p:cNvSpPr>
          <p:nvPr/>
        </p:nvSpPr>
        <p:spPr>
          <a:xfrm>
            <a:off x="1127626" y="5377799"/>
            <a:ext cx="3101473" cy="205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각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조직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개발·운영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, MCP 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기반 공통 연결 형식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common-tools">
            <a:extLst>
              <a:ext uri="{FF2B5EF4-FFF2-40B4-BE49-F238E27FC236}">
                <a16:creationId xmlns:a16="http://schemas.microsoft.com/office/drawing/2014/main" id="{E0D91F4D-FBE4-46EF-B4F6-11B6D39F2093}"/>
              </a:ext>
            </a:extLst>
          </p:cNvPr>
          <p:cNvSpPr>
            <a:spLocks/>
          </p:cNvSpPr>
          <p:nvPr/>
        </p:nvSpPr>
        <p:spPr>
          <a:xfrm>
            <a:off x="4914900" y="4998712"/>
            <a:ext cx="3162300" cy="666750"/>
          </a:xfrm>
          <a:prstGeom prst="rect">
            <a:avLst/>
          </a:prstGeom>
          <a:solidFill>
            <a:srgbClr val="77777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common-tools-title">
            <a:extLst>
              <a:ext uri="{FF2B5EF4-FFF2-40B4-BE49-F238E27FC236}">
                <a16:creationId xmlns:a16="http://schemas.microsoft.com/office/drawing/2014/main" id="{8722F6E0-94C5-4D98-B800-6992B59D9E76}"/>
              </a:ext>
            </a:extLst>
          </p:cNvPr>
          <p:cNvSpPr>
            <a:spLocks/>
          </p:cNvSpPr>
          <p:nvPr/>
        </p:nvSpPr>
        <p:spPr>
          <a:xfrm>
            <a:off x="5105400" y="5074912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 공통 활용 기능</a:t>
            </a:r>
          </a:p>
        </p:txBody>
      </p:sp>
      <p:sp>
        <p:nvSpPr>
          <p:cNvPr id="32" name="common-tools-sub">
            <a:extLst>
              <a:ext uri="{FF2B5EF4-FFF2-40B4-BE49-F238E27FC236}">
                <a16:creationId xmlns:a16="http://schemas.microsoft.com/office/drawing/2014/main" id="{5665250A-BE9C-4C57-BE42-C4AD608B1A20}"/>
              </a:ext>
            </a:extLst>
          </p:cNvPr>
          <p:cNvSpPr>
            <a:spLocks/>
          </p:cNvSpPr>
          <p:nvPr/>
        </p:nvSpPr>
        <p:spPr>
          <a:xfrm>
            <a:off x="5105400" y="5360662"/>
            <a:ext cx="2781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25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정리</a:t>
            </a:r>
            <a:r>
              <a:rPr lang="en-US" altLang="ko-KR" sz="1125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요약</a:t>
            </a:r>
            <a:r>
              <a:rPr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HTML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생성</a:t>
            </a:r>
            <a:r>
              <a:rPr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 · PPT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작성 </a:t>
            </a:r>
            <a:r>
              <a:rPr lang="en-US" altLang="ko-KR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lang="ko-KR" altLang="en-US" sz="1125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등</a:t>
            </a:r>
            <a:endParaRPr sz="1125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E9E9E9"/>
              </a:solidFill>
              <a:latin typeface="맑은 고딕"/>
              <a:ea typeface="맑은 고딕"/>
              <a:cs typeface="맑은 고딕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48AA884-FC7E-7E58-3B32-F60D0D53F5F8}"/>
              </a:ext>
            </a:extLst>
          </p:cNvPr>
          <p:cNvGrpSpPr/>
          <p:nvPr/>
        </p:nvGrpSpPr>
        <p:grpSpPr>
          <a:xfrm>
            <a:off x="8769350" y="2529550"/>
            <a:ext cx="2432050" cy="285750"/>
            <a:chOff x="8915400" y="2408900"/>
            <a:chExt cx="2432050" cy="285750"/>
          </a:xfrm>
        </p:grpSpPr>
        <p:sp>
          <p:nvSpPr>
            <p:cNvPr id="35" name="benefit-num-0">
              <a:extLst>
                <a:ext uri="{FF2B5EF4-FFF2-40B4-BE49-F238E27FC236}">
                  <a16:creationId xmlns:a16="http://schemas.microsoft.com/office/drawing/2014/main" id="{321F3BAE-6058-4098-AE93-753861EC13E0}"/>
                </a:ext>
              </a:extLst>
            </p:cNvPr>
            <p:cNvSpPr>
              <a:spLocks/>
            </p:cNvSpPr>
            <p:nvPr/>
          </p:nvSpPr>
          <p:spPr>
            <a:xfrm>
              <a:off x="8915400" y="240890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01</a:t>
              </a:r>
            </a:p>
          </p:txBody>
        </p:sp>
        <p:sp>
          <p:nvSpPr>
            <p:cNvPr id="36" name="benefit-heading-0">
              <a:extLst>
                <a:ext uri="{FF2B5EF4-FFF2-40B4-BE49-F238E27FC236}">
                  <a16:creationId xmlns:a16="http://schemas.microsoft.com/office/drawing/2014/main" id="{9C9C60AF-721E-4FFD-BC84-BDA054754D65}"/>
                </a:ext>
              </a:extLst>
            </p:cNvPr>
            <p:cNvSpPr>
              <a:spLocks/>
            </p:cNvSpPr>
            <p:nvPr/>
          </p:nvSpPr>
          <p:spPr>
            <a:xfrm>
              <a:off x="9290050" y="240890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할루시네이션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감소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37" name="benefit-body-0">
            <a:extLst>
              <a:ext uri="{FF2B5EF4-FFF2-40B4-BE49-F238E27FC236}">
                <a16:creationId xmlns:a16="http://schemas.microsoft.com/office/drawing/2014/main" id="{C7DF4953-941A-4E19-A445-B1F185E5BF5C}"/>
              </a:ext>
            </a:extLst>
          </p:cNvPr>
          <p:cNvSpPr>
            <a:spLocks/>
          </p:cNvSpPr>
          <p:nvPr/>
        </p:nvSpPr>
        <p:spPr>
          <a:xfrm>
            <a:off x="8769350" y="28257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기능과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유사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제외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benefit-rule-0">
            <a:extLst>
              <a:ext uri="{FF2B5EF4-FFF2-40B4-BE49-F238E27FC236}">
                <a16:creationId xmlns:a16="http://schemas.microsoft.com/office/drawing/2014/main" id="{709D3ED7-B1F4-48BA-90F0-D30BBD8F5B8E}"/>
              </a:ext>
            </a:extLst>
          </p:cNvPr>
          <p:cNvSpPr>
            <a:spLocks/>
          </p:cNvSpPr>
          <p:nvPr/>
        </p:nvSpPr>
        <p:spPr>
          <a:xfrm>
            <a:off x="8769350" y="32448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E29E7DF-E679-DF92-7FD2-1DFCB48E3D78}"/>
              </a:ext>
            </a:extLst>
          </p:cNvPr>
          <p:cNvGrpSpPr/>
          <p:nvPr/>
        </p:nvGrpSpPr>
        <p:grpSpPr>
          <a:xfrm>
            <a:off x="8769350" y="3327400"/>
            <a:ext cx="2432050" cy="285750"/>
            <a:chOff x="8915400" y="3206750"/>
            <a:chExt cx="2432050" cy="285750"/>
          </a:xfrm>
        </p:grpSpPr>
        <p:sp>
          <p:nvSpPr>
            <p:cNvPr id="39" name="benefit-num-1">
              <a:extLst>
                <a:ext uri="{FF2B5EF4-FFF2-40B4-BE49-F238E27FC236}">
                  <a16:creationId xmlns:a16="http://schemas.microsoft.com/office/drawing/2014/main" id="{0637E93B-37E4-4DD8-AFAA-121554E0C685}"/>
                </a:ext>
              </a:extLst>
            </p:cNvPr>
            <p:cNvSpPr>
              <a:spLocks/>
            </p:cNvSpPr>
            <p:nvPr/>
          </p:nvSpPr>
          <p:spPr>
            <a:xfrm>
              <a:off x="8915400" y="32067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02</a:t>
              </a:r>
            </a:p>
          </p:txBody>
        </p:sp>
        <p:sp>
          <p:nvSpPr>
            <p:cNvPr id="40" name="benefit-heading-1">
              <a:extLst>
                <a:ext uri="{FF2B5EF4-FFF2-40B4-BE49-F238E27FC236}">
                  <a16:creationId xmlns:a16="http://schemas.microsoft.com/office/drawing/2014/main" id="{2E50A162-2ABA-4CB8-9F71-85D40B7CF174}"/>
                </a:ext>
              </a:extLst>
            </p:cNvPr>
            <p:cNvSpPr>
              <a:spLocks/>
            </p:cNvSpPr>
            <p:nvPr/>
          </p:nvSpPr>
          <p:spPr>
            <a:xfrm>
              <a:off x="9290050" y="32067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토큰</a:t>
              </a:r>
              <a:r>
                <a:rPr lang="en-US"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.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비용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절감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1" name="benefit-body-1">
            <a:extLst>
              <a:ext uri="{FF2B5EF4-FFF2-40B4-BE49-F238E27FC236}">
                <a16:creationId xmlns:a16="http://schemas.microsoft.com/office/drawing/2014/main" id="{5EACD132-EF89-4650-B1AC-ED76FBE836BD}"/>
              </a:ext>
            </a:extLst>
          </p:cNvPr>
          <p:cNvSpPr>
            <a:spLocks/>
          </p:cNvSpPr>
          <p:nvPr/>
        </p:nvSpPr>
        <p:spPr>
          <a:xfrm>
            <a:off x="8769350" y="3625850"/>
            <a:ext cx="2832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정보만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LLM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Context에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단계적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전달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benefit-rule-1">
            <a:extLst>
              <a:ext uri="{FF2B5EF4-FFF2-40B4-BE49-F238E27FC236}">
                <a16:creationId xmlns:a16="http://schemas.microsoft.com/office/drawing/2014/main" id="{AA9B10EE-BC4D-4FF4-B933-831B88CEDFF7}"/>
              </a:ext>
            </a:extLst>
          </p:cNvPr>
          <p:cNvSpPr>
            <a:spLocks/>
          </p:cNvSpPr>
          <p:nvPr/>
        </p:nvSpPr>
        <p:spPr>
          <a:xfrm>
            <a:off x="8769350" y="40449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AF4DA7B-B437-A30F-BC5C-CAAFAE5CEF13}"/>
              </a:ext>
            </a:extLst>
          </p:cNvPr>
          <p:cNvGrpSpPr/>
          <p:nvPr/>
        </p:nvGrpSpPr>
        <p:grpSpPr>
          <a:xfrm>
            <a:off x="8769350" y="4127500"/>
            <a:ext cx="2432050" cy="285750"/>
            <a:chOff x="8915400" y="4006850"/>
            <a:chExt cx="2432050" cy="285750"/>
          </a:xfrm>
        </p:grpSpPr>
        <p:sp>
          <p:nvSpPr>
            <p:cNvPr id="43" name="benefit-num-2">
              <a:extLst>
                <a:ext uri="{FF2B5EF4-FFF2-40B4-BE49-F238E27FC236}">
                  <a16:creationId xmlns:a16="http://schemas.microsoft.com/office/drawing/2014/main" id="{6B6F4E68-0A84-404C-BEA4-A10371EC3F79}"/>
                </a:ext>
              </a:extLst>
            </p:cNvPr>
            <p:cNvSpPr>
              <a:spLocks/>
            </p:cNvSpPr>
            <p:nvPr/>
          </p:nvSpPr>
          <p:spPr>
            <a:xfrm>
              <a:off x="8915400" y="40068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03</a:t>
              </a:r>
            </a:p>
          </p:txBody>
        </p:sp>
        <p:sp>
          <p:nvSpPr>
            <p:cNvPr id="44" name="benefit-heading-2">
              <a:extLst>
                <a:ext uri="{FF2B5EF4-FFF2-40B4-BE49-F238E27FC236}">
                  <a16:creationId xmlns:a16="http://schemas.microsoft.com/office/drawing/2014/main" id="{1ACCA657-444B-44A8-BE08-C1D9406B32EC}"/>
                </a:ext>
              </a:extLst>
            </p:cNvPr>
            <p:cNvSpPr>
              <a:spLocks/>
            </p:cNvSpPr>
            <p:nvPr/>
          </p:nvSpPr>
          <p:spPr>
            <a:xfrm>
              <a:off x="9290050" y="40068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실행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속도</a:t>
              </a:r>
              <a:r>
                <a:rPr 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및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일관성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5" name="benefit-body-2">
            <a:extLst>
              <a:ext uri="{FF2B5EF4-FFF2-40B4-BE49-F238E27FC236}">
                <a16:creationId xmlns:a16="http://schemas.microsoft.com/office/drawing/2014/main" id="{E8D15450-B4C0-493F-B3CE-B14B86C4237F}"/>
              </a:ext>
            </a:extLst>
          </p:cNvPr>
          <p:cNvSpPr>
            <a:spLocks/>
          </p:cNvSpPr>
          <p:nvPr/>
        </p:nvSpPr>
        <p:spPr>
          <a:xfrm>
            <a:off x="8769350" y="4425950"/>
            <a:ext cx="294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후보와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실행계획</a:t>
            </a:r>
            <a:r>
              <a:rPr 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생성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복잡도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축소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benefit-rule-2">
            <a:extLst>
              <a:ext uri="{FF2B5EF4-FFF2-40B4-BE49-F238E27FC236}">
                <a16:creationId xmlns:a16="http://schemas.microsoft.com/office/drawing/2014/main" id="{9415CF4A-838D-43C1-B813-91F90FC2EAA5}"/>
              </a:ext>
            </a:extLst>
          </p:cNvPr>
          <p:cNvSpPr>
            <a:spLocks/>
          </p:cNvSpPr>
          <p:nvPr/>
        </p:nvSpPr>
        <p:spPr>
          <a:xfrm>
            <a:off x="8769350" y="4845050"/>
            <a:ext cx="2667000" cy="9525"/>
          </a:xfrm>
          <a:prstGeom prst="rect">
            <a:avLst/>
          </a:prstGeom>
          <a:solidFill>
            <a:srgbClr val="D8D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D26AACA-7F5D-DB46-D757-773247A1A2B3}"/>
              </a:ext>
            </a:extLst>
          </p:cNvPr>
          <p:cNvGrpSpPr/>
          <p:nvPr/>
        </p:nvGrpSpPr>
        <p:grpSpPr>
          <a:xfrm>
            <a:off x="8769350" y="4927600"/>
            <a:ext cx="2432050" cy="285750"/>
            <a:chOff x="8915400" y="4806950"/>
            <a:chExt cx="2432050" cy="285750"/>
          </a:xfrm>
        </p:grpSpPr>
        <p:sp>
          <p:nvSpPr>
            <p:cNvPr id="47" name="benefit-num-3">
              <a:extLst>
                <a:ext uri="{FF2B5EF4-FFF2-40B4-BE49-F238E27FC236}">
                  <a16:creationId xmlns:a16="http://schemas.microsoft.com/office/drawing/2014/main" id="{50D86040-9804-403D-B9E1-17B277B42F1E}"/>
                </a:ext>
              </a:extLst>
            </p:cNvPr>
            <p:cNvSpPr>
              <a:spLocks/>
            </p:cNvSpPr>
            <p:nvPr/>
          </p:nvSpPr>
          <p:spPr>
            <a:xfrm>
              <a:off x="8915400" y="4806950"/>
              <a:ext cx="533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725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725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9A9A9A"/>
                  </a:solidFill>
                  <a:latin typeface="맑은 고딕"/>
                  <a:ea typeface="맑은 고딕"/>
                  <a:cs typeface="맑은 고딕"/>
                </a:rPr>
                <a:t>04</a:t>
              </a:r>
            </a:p>
          </p:txBody>
        </p:sp>
        <p:sp>
          <p:nvSpPr>
            <p:cNvPr id="48" name="benefit-heading-3">
              <a:extLst>
                <a:ext uri="{FF2B5EF4-FFF2-40B4-BE49-F238E27FC236}">
                  <a16:creationId xmlns:a16="http://schemas.microsoft.com/office/drawing/2014/main" id="{08EE88BF-488E-4D21-9760-DA641489C995}"/>
                </a:ext>
              </a:extLst>
            </p:cNvPr>
            <p:cNvSpPr>
              <a:spLocks/>
            </p:cNvSpPr>
            <p:nvPr/>
          </p:nvSpPr>
          <p:spPr>
            <a:xfrm>
              <a:off x="9290050" y="4806950"/>
              <a:ext cx="2057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08000"/>
                </a:lnSpc>
                <a:buNone/>
                <a:defRPr sz="1388" b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defRPr>
              </a:pP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사용</a:t>
              </a:r>
              <a:r>
                <a:rPr 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lang="ko-KR" altLang="en-US"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및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운영</a:t>
              </a:r>
              <a:r>
                <a:rPr sz="1500" b="1" dirty="0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1500" b="1" dirty="0" err="1">
                  <a:ln w="7144">
                    <a:solidFill>
                      <a:srgbClr val="FFFFFF">
                        <a:alpha val="0"/>
                      </a:srgbClr>
                    </a:solidFill>
                    <a:prstDash val="solid"/>
                  </a:ln>
                  <a:solidFill>
                    <a:srgbClr val="121212"/>
                  </a:solidFill>
                  <a:latin typeface="맑은 고딕"/>
                  <a:ea typeface="맑은 고딕"/>
                  <a:cs typeface="맑은 고딕"/>
                </a:rPr>
                <a:t>단순화</a:t>
              </a:r>
              <a:endParaRPr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endParaRPr>
            </a:p>
          </p:txBody>
        </p:sp>
      </p:grpSp>
      <p:sp>
        <p:nvSpPr>
          <p:cNvPr id="49" name="benefit-body-3">
            <a:extLst>
              <a:ext uri="{FF2B5EF4-FFF2-40B4-BE49-F238E27FC236}">
                <a16:creationId xmlns:a16="http://schemas.microsoft.com/office/drawing/2014/main" id="{D89E1B78-F13A-4095-BE5F-83636ACF3EA6}"/>
              </a:ext>
            </a:extLst>
          </p:cNvPr>
          <p:cNvSpPr>
            <a:spLocks/>
          </p:cNvSpPr>
          <p:nvPr/>
        </p:nvSpPr>
        <p:spPr>
          <a:xfrm>
            <a:off x="8769350" y="52260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lang="ko-KR" altLang="en-US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사용</a:t>
            </a:r>
            <a:r>
              <a:rPr lang="en-US" altLang="ko-KR" sz="12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운영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책임</a:t>
            </a:r>
            <a:r>
              <a:rPr sz="12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명확</a:t>
            </a:r>
            <a:endParaRPr sz="12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0" name="permission-rule">
            <a:extLst>
              <a:ext uri="{FF2B5EF4-FFF2-40B4-BE49-F238E27FC236}">
                <a16:creationId xmlns:a16="http://schemas.microsoft.com/office/drawing/2014/main" id="{53245A47-DC27-42E1-A4BF-D5B3DC22464D}"/>
              </a:ext>
            </a:extLst>
          </p:cNvPr>
          <p:cNvSpPr>
            <a:spLocks/>
          </p:cNvSpPr>
          <p:nvPr/>
        </p:nvSpPr>
        <p:spPr>
          <a:xfrm>
            <a:off x="8769350" y="5638800"/>
            <a:ext cx="2667000" cy="28575"/>
          </a:xfrm>
          <a:prstGeom prst="rect">
            <a:avLst/>
          </a:prstGeom>
          <a:solidFill>
            <a:srgbClr val="30303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permission-note">
            <a:extLst>
              <a:ext uri="{FF2B5EF4-FFF2-40B4-BE49-F238E27FC236}">
                <a16:creationId xmlns:a16="http://schemas.microsoft.com/office/drawing/2014/main" id="{CB2C565E-D3EA-46F5-9419-EE07C2940212}"/>
              </a:ext>
            </a:extLst>
          </p:cNvPr>
          <p:cNvSpPr>
            <a:spLocks/>
          </p:cNvSpPr>
          <p:nvPr/>
        </p:nvSpPr>
        <p:spPr>
          <a:xfrm>
            <a:off x="8769350" y="5698474"/>
            <a:ext cx="307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* </a:t>
            </a: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영역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Profile은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Agent의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탐색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범위만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실행 관련 권한은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Tool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체계에서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판단</a:t>
            </a:r>
            <a:endParaRPr sz="1100" b="0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rgbClr val="4848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direction-title">
            <a:extLst>
              <a:ext uri="{FF2B5EF4-FFF2-40B4-BE49-F238E27FC236}">
                <a16:creationId xmlns:a16="http://schemas.microsoft.com/office/drawing/2014/main" id="{82E88691-0BB7-A8F2-F5D5-472567A63FE4}"/>
              </a:ext>
            </a:extLst>
          </p:cNvPr>
          <p:cNvSpPr>
            <a:spLocks/>
          </p:cNvSpPr>
          <p:nvPr/>
        </p:nvSpPr>
        <p:spPr>
          <a:xfrm>
            <a:off x="609600" y="914577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325" b="1">
                <a:solidFill>
                  <a:srgbClr val="111A2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하나의 </a:t>
            </a:r>
            <a:r>
              <a:rPr lang="en-US" altLang="ko-KR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Agent </a:t>
            </a: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플랫폼을 활용하고 필요한 기능한 연결하여 각 영역에 필요한 </a:t>
            </a:r>
            <a:r>
              <a:rPr lang="en-US" altLang="ko-KR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Agent</a:t>
            </a:r>
            <a:r>
              <a:rPr lang="ko-KR" altLang="en-US" sz="20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rgbClr val="111A2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구현</a:t>
            </a:r>
          </a:p>
        </p:txBody>
      </p:sp>
      <p:sp>
        <p:nvSpPr>
          <p:cNvPr id="58" name="direction-subtitle">
            <a:extLst>
              <a:ext uri="{FF2B5EF4-FFF2-40B4-BE49-F238E27FC236}">
                <a16:creationId xmlns:a16="http://schemas.microsoft.com/office/drawing/2014/main" id="{2861406D-125D-43C3-56C8-1392314F625F}"/>
              </a:ext>
            </a:extLst>
          </p:cNvPr>
          <p:cNvSpPr>
            <a:spLocks/>
          </p:cNvSpPr>
          <p:nvPr/>
        </p:nvSpPr>
        <p:spPr>
          <a:xfrm>
            <a:off x="619125" y="1371777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87684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조직별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/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개인별 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Profile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설정 기능을 통해 후보 범위를 제한하고 </a:t>
            </a:r>
            <a:r>
              <a:rPr lang="en-US" altLang="ko-KR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Main Agent</a:t>
            </a:r>
            <a:r>
              <a:rPr lang="ko-KR" altLang="en-US" sz="16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KR"/>
              </a:rPr>
              <a:t>가 실행 계획을 세우고 결과를 통합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AB3504-730E-85B5-7ABF-77177EFF77AA}"/>
              </a:ext>
            </a:extLst>
          </p:cNvPr>
          <p:cNvSpPr txBox="1"/>
          <p:nvPr/>
        </p:nvSpPr>
        <p:spPr>
          <a:xfrm>
            <a:off x="1364256" y="3183283"/>
            <a:ext cx="142539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  <a:cs typeface="맑은 고딕"/>
              </a:rPr>
              <a:t>① 업무 영역 설정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7A9996-5394-2EEE-B720-9020F4DA1818}"/>
              </a:ext>
            </a:extLst>
          </p:cNvPr>
          <p:cNvSpPr txBox="1"/>
          <p:nvPr/>
        </p:nvSpPr>
        <p:spPr>
          <a:xfrm>
            <a:off x="605530" y="2078540"/>
            <a:ext cx="158889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[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공통 플랫폼 구조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]</a:t>
            </a:r>
            <a:endParaRPr lang="ko-KR" altLang="en-US" sz="1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DAF122-E8DC-FAE7-5BB1-E37F43A9F0D3}"/>
              </a:ext>
            </a:extLst>
          </p:cNvPr>
          <p:cNvSpPr txBox="1"/>
          <p:nvPr/>
        </p:nvSpPr>
        <p:spPr>
          <a:xfrm>
            <a:off x="8630133" y="2078540"/>
            <a:ext cx="222836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조직별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개인별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Profile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설정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]</a:t>
            </a:r>
            <a:endParaRPr lang="ko-KR" altLang="en-US" sz="1200" b="1" dirty="0">
              <a:ln w="7144">
                <a:solidFill>
                  <a:srgbClr val="FFFFFF"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main-node-sub">
            <a:extLst>
              <a:ext uri="{FF2B5EF4-FFF2-40B4-BE49-F238E27FC236}">
                <a16:creationId xmlns:a16="http://schemas.microsoft.com/office/drawing/2014/main" id="{8B91FFB1-0B4E-D964-070D-7B4082DE188E}"/>
              </a:ext>
            </a:extLst>
          </p:cNvPr>
          <p:cNvSpPr>
            <a:spLocks/>
          </p:cNvSpPr>
          <p:nvPr/>
        </p:nvSpPr>
        <p:spPr>
          <a:xfrm>
            <a:off x="1076827" y="3776425"/>
            <a:ext cx="2000248" cy="176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영역별 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Metadata</a:t>
            </a:r>
            <a:r>
              <a:rPr lang="en-US"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lang="en-US" altLang="ko-KR" sz="11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Tool/</a:t>
            </a:r>
            <a:r>
              <a:rPr sz="1100" b="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D8E72-DE2C-564A-0F7B-583516E7F68B}"/>
              </a:ext>
            </a:extLst>
          </p:cNvPr>
          <p:cNvSpPr txBox="1"/>
          <p:nvPr/>
        </p:nvSpPr>
        <p:spPr>
          <a:xfrm>
            <a:off x="3609817" y="3183283"/>
            <a:ext cx="190949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② 실행 판단 </a:t>
            </a:r>
            <a:r>
              <a:rPr lang="en-US" altLang="ko-KR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1F1350-D236-5CC2-56EC-2B8E60B12281}"/>
              </a:ext>
            </a:extLst>
          </p:cNvPr>
          <p:cNvSpPr txBox="1"/>
          <p:nvPr/>
        </p:nvSpPr>
        <p:spPr>
          <a:xfrm>
            <a:off x="6235284" y="3183283"/>
            <a:ext cx="163378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12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  <a:cs typeface="맑은 고딕"/>
              </a:rPr>
              <a:t>③ 실행 및 결과 통합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19CFA9-31C2-6C8A-B5E5-E0568944179B}"/>
              </a:ext>
            </a:extLst>
          </p:cNvPr>
          <p:cNvSpPr txBox="1"/>
          <p:nvPr/>
        </p:nvSpPr>
        <p:spPr>
          <a:xfrm>
            <a:off x="1749315" y="5798668"/>
            <a:ext cx="585038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Agent</a:t>
            </a:r>
            <a:r>
              <a:rPr lang="ko-KR" altLang="en-US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가 탐색하고 선택할 수 있는 </a:t>
            </a:r>
            <a:r>
              <a:rPr lang="en-US" altLang="ko-KR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Tool/Skill</a:t>
            </a:r>
            <a:r>
              <a:rPr lang="ko-KR" altLang="en-US" sz="1300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의 범위를 필요한 영역으로 제한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74BD65-2FBF-5283-B302-32E5FF30E0C5}"/>
              </a:ext>
            </a:extLst>
          </p:cNvPr>
          <p:cNvSpPr txBox="1"/>
          <p:nvPr/>
        </p:nvSpPr>
        <p:spPr>
          <a:xfrm>
            <a:off x="1198228" y="2559481"/>
            <a:ext cx="67665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질문 이해  →  기능 탐색  →  실행</a:t>
            </a:r>
            <a:r>
              <a:rPr lang="en-US" altLang="ko-KR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계획 수립 →  </a:t>
            </a:r>
            <a:r>
              <a:rPr lang="en-US" altLang="ko-KR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Agent </a:t>
            </a:r>
            <a:r>
              <a:rPr lang="ko-KR" altLang="en-US" sz="1500" b="1" dirty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  <a:cs typeface="맑은 고딕"/>
              </a:rPr>
              <a:t>실행  →  결과 통합</a:t>
            </a:r>
          </a:p>
        </p:txBody>
      </p:sp>
    </p:spTree>
    <p:extLst>
      <p:ext uri="{BB962C8B-B14F-4D97-AF65-F5344CB8AC3E}">
        <p14:creationId xmlns:p14="http://schemas.microsoft.com/office/powerpoint/2010/main" val="1824950803"/>
      </p:ext>
    </p:extLst>
  </p:cSld>
  <p:clrMapOvr>
    <a:masterClrMapping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header-04">
            <a:extLst xmlns:a="http://schemas.openxmlformats.org/drawingml/2006/main">
              <a:ext uri="{FF2B5EF4-FFF2-40B4-BE49-F238E27FC236}">
                <a16:creationId xmlns:a16="http://schemas.microsoft.com/office/drawing/2014/main" id="{5A747F31-ED4B-4DBF-B66B-9A2756A6CC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03. Tool 설계와 개발 방식</a:t>
            </a:r>
          </a:p>
        </p:txBody>
      </p:sp>
      <p:sp>
        <p:nvSpPr>
          <p:cNvPr id="2" name="page-04">
            <a:extLst xmlns:a="http://schemas.openxmlformats.org/drawingml/2006/main">
              <a:ext uri="{FF2B5EF4-FFF2-40B4-BE49-F238E27FC236}">
                <a16:creationId xmlns:a16="http://schemas.microsoft.com/office/drawing/2014/main" id="{A915F805-EEEB-462A-8203-F98E6E4EC9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266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header-rule-04">
            <a:extLst xmlns:a="http://schemas.openxmlformats.org/drawingml/2006/main">
              <a:ext uri="{FF2B5EF4-FFF2-40B4-BE49-F238E27FC236}">
                <a16:creationId xmlns:a16="http://schemas.microsoft.com/office/drawing/2014/main" id="{1C854407-B920-4A58-9145-5E470432AD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F56E9E-3542-4A0E-9734-182402AA94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962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 책임은 Tool에, 구현 방식은 개발자에게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20663F-9B1D-46BC-9F70-489AF48210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381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Tool 경계는 업무 특성으로 결정하고 플랫폼은 복잡도에 맞게 선택</a:t>
            </a:r>
          </a:p>
        </p:txBody>
      </p:sp>
      <p:sp>
        <p:nvSpPr>
          <p:cNvPr id="6" name="body-divider">
            <a:extLst xmlns:a="http://schemas.openxmlformats.org/drawingml/2006/main">
              <a:ext uri="{FF2B5EF4-FFF2-40B4-BE49-F238E27FC236}">
                <a16:creationId xmlns:a16="http://schemas.microsoft.com/office/drawing/2014/main" id="{BFA01261-CC26-488F-9FA8-18790BB455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1924050"/>
            <a:ext cx="952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ft-label">
            <a:extLst xmlns:a="http://schemas.openxmlformats.org/drawingml/2006/main">
              <a:ext uri="{FF2B5EF4-FFF2-40B4-BE49-F238E27FC236}">
                <a16:creationId xmlns:a16="http://schemas.microsoft.com/office/drawing/2014/main" id="{A63B2957-4FBC-4CC2-8ED5-47133EB815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8954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Tool 복잡도와 책임 범위 ]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E8F33A25-6E46-4785-B05D-D41C113DE2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 수보다 업무 책임 범위</a:t>
            </a:r>
          </a:p>
        </p:txBody>
      </p:sp>
      <p:sp>
        <p:nvSpPr>
          <p:cNvPr id="9" name="left-direction">
            <a:extLst xmlns:a="http://schemas.openxmlformats.org/drawingml/2006/main">
              <a:ext uri="{FF2B5EF4-FFF2-40B4-BE49-F238E27FC236}">
                <a16:creationId xmlns:a16="http://schemas.microsoft.com/office/drawing/2014/main" id="{F326F66C-5623-4260-9B88-7C9B12A49A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57700" y="22288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복잡도 증가 →</a:t>
            </a:r>
          </a:p>
        </p:txBody>
      </p:sp>
      <p:sp>
        <p:nvSpPr>
          <p:cNvPr id="10" name="right-label">
            <a:extLst xmlns:a="http://schemas.openxmlformats.org/drawingml/2006/main">
              <a:ext uri="{FF2B5EF4-FFF2-40B4-BE49-F238E27FC236}">
                <a16:creationId xmlns:a16="http://schemas.microsoft.com/office/drawing/2014/main" id="{4240282B-069A-45E4-88F4-1C9626329A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1895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구현자 수준별 개발 방식 ]</a:t>
            </a:r>
          </a:p>
        </p:txBody>
      </p:sp>
      <p:sp>
        <p:nvSpPr>
          <p:cNvPr id="11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374D0489-0357-4581-8DB5-68D61C3D07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21907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복잡도와 운영 책임에 맞게 선택</a:t>
            </a:r>
          </a:p>
        </p:txBody>
      </p:sp>
      <p:sp>
        <p:nvSpPr>
          <p:cNvPr id="12" name="unit-panel">
            <a:extLst xmlns:a="http://schemas.openxmlformats.org/drawingml/2006/main">
              <a:ext uri="{FF2B5EF4-FFF2-40B4-BE49-F238E27FC236}">
                <a16:creationId xmlns:a16="http://schemas.microsoft.com/office/drawing/2014/main" id="{4C4A218C-A790-43F1-BA44-35E78B9757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724150"/>
            <a:ext cx="24003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grated-panel">
            <a:extLst xmlns:a="http://schemas.openxmlformats.org/drawingml/2006/main">
              <a:ext uri="{FF2B5EF4-FFF2-40B4-BE49-F238E27FC236}">
                <a16:creationId xmlns:a16="http://schemas.microsoft.com/office/drawing/2014/main" id="{C6BA428B-5BFF-4AC3-989D-4CB02D9362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62300" y="2724150"/>
            <a:ext cx="27051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4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unit-num">
            <a:extLst xmlns:a="http://schemas.openxmlformats.org/drawingml/2006/main">
              <a:ext uri="{FF2B5EF4-FFF2-40B4-BE49-F238E27FC236}">
                <a16:creationId xmlns:a16="http://schemas.microsoft.com/office/drawing/2014/main" id="{059410A8-6A68-4376-B41A-86EAF306B5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5" name="unit-level">
            <a:extLst xmlns:a="http://schemas.openxmlformats.org/drawingml/2006/main">
              <a:ext uri="{FF2B5EF4-FFF2-40B4-BE49-F238E27FC236}">
                <a16:creationId xmlns:a16="http://schemas.microsoft.com/office/drawing/2014/main" id="{8E6E882F-0AD9-4EE8-B268-118684473C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1100" y="2857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단위 기능</a:t>
            </a:r>
          </a:p>
        </p:txBody>
      </p:sp>
      <p:sp>
        <p:nvSpPr>
          <p:cNvPr id="16" name="unit-title">
            <a:extLst xmlns:a="http://schemas.openxmlformats.org/drawingml/2006/main">
              <a:ext uri="{FF2B5EF4-FFF2-40B4-BE49-F238E27FC236}">
                <a16:creationId xmlns:a16="http://schemas.microsoft.com/office/drawing/2014/main" id="{4C3D0F48-2D52-4799-8314-3B91C55611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32194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단위 기능 Tool</a:t>
            </a:r>
          </a:p>
        </p:txBody>
      </p:sp>
      <p:sp>
        <p:nvSpPr>
          <p:cNvPr id="17" name="unit-action">
            <a:extLst xmlns:a="http://schemas.openxmlformats.org/drawingml/2006/main">
              <a:ext uri="{FF2B5EF4-FFF2-40B4-BE49-F238E27FC236}">
                <a16:creationId xmlns:a16="http://schemas.microsoft.com/office/drawing/2014/main" id="{3B87D7BF-7C85-4355-A39E-1906623C9F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36004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조회·계산·검증·변환</a:t>
            </a:r>
          </a:p>
        </p:txBody>
      </p:sp>
      <p:sp>
        <p:nvSpPr>
          <p:cNvPr id="18" name="unit-body">
            <a:extLst xmlns:a="http://schemas.openxmlformats.org/drawingml/2006/main">
              <a:ext uri="{FF2B5EF4-FFF2-40B4-BE49-F238E27FC236}">
                <a16:creationId xmlns:a16="http://schemas.microsoft.com/office/drawing/2014/main" id="{6A0905F6-AD3B-446A-9A01-43FDAAC7C14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39243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독립 재사용 높음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호출 순서·권한 단순</a:t>
            </a:r>
          </a:p>
        </p:txBody>
      </p:sp>
      <p:sp>
        <p:nvSpPr>
          <p:cNvPr id="19" name="integrated-num">
            <a:extLst xmlns:a="http://schemas.openxmlformats.org/drawingml/2006/main">
              <a:ext uri="{FF2B5EF4-FFF2-40B4-BE49-F238E27FC236}">
                <a16:creationId xmlns:a16="http://schemas.microsoft.com/office/drawing/2014/main" id="{3637EE77-38C4-4ACB-BB6E-9F9D12EA6A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2857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0" name="integrated-level">
            <a:extLst xmlns:a="http://schemas.openxmlformats.org/drawingml/2006/main">
              <a:ext uri="{FF2B5EF4-FFF2-40B4-BE49-F238E27FC236}">
                <a16:creationId xmlns:a16="http://schemas.microsoft.com/office/drawing/2014/main" id="{D8DC4E3A-F092-4D69-B130-EC374382EC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33800" y="28575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통합 실행</a:t>
            </a:r>
          </a:p>
        </p:txBody>
      </p:sp>
      <p:sp>
        <p:nvSpPr>
          <p:cNvPr id="21" name="integrated-title">
            <a:extLst xmlns:a="http://schemas.openxmlformats.org/drawingml/2006/main">
              <a:ext uri="{FF2B5EF4-FFF2-40B4-BE49-F238E27FC236}">
                <a16:creationId xmlns:a16="http://schemas.microsoft.com/office/drawing/2014/main" id="{2FF23330-C774-4DE0-B941-2ACB03F964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3219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통합형 Tool·Workflow</a:t>
            </a:r>
          </a:p>
        </p:txBody>
      </p:sp>
      <p:sp>
        <p:nvSpPr>
          <p:cNvPr id="22" name="integrated-action">
            <a:extLst xmlns:a="http://schemas.openxmlformats.org/drawingml/2006/main">
              <a:ext uri="{FF2B5EF4-FFF2-40B4-BE49-F238E27FC236}">
                <a16:creationId xmlns:a16="http://schemas.microsoft.com/office/drawing/2014/main" id="{B5B253AB-4DF2-4DC7-9898-6371D6BC06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3600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검증→수집→분석→규칙→결과</a:t>
            </a:r>
          </a:p>
        </p:txBody>
      </p:sp>
      <p:sp>
        <p:nvSpPr>
          <p:cNvPr id="23" name="integrated-body">
            <a:extLst xmlns:a="http://schemas.openxmlformats.org/drawingml/2006/main">
              <a:ext uri="{FF2B5EF4-FFF2-40B4-BE49-F238E27FC236}">
                <a16:creationId xmlns:a16="http://schemas.microsoft.com/office/drawing/2014/main" id="{C677C373-370D-4AAC-AFA1-AD8130DE4A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39243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고정 순서·상태·예외 중요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결과 일관성 책임 필요</a:t>
            </a:r>
          </a:p>
        </p:txBody>
      </p:sp>
      <p:sp>
        <p:nvSpPr>
          <p:cNvPr id="24" name="fragment-warning">
            <a:extLst xmlns:a="http://schemas.openxmlformats.org/drawingml/2006/main">
              <a:ext uri="{FF2B5EF4-FFF2-40B4-BE49-F238E27FC236}">
                <a16:creationId xmlns:a16="http://schemas.microsoft.com/office/drawing/2014/main" id="{11626749-ABB4-4A5A-84D6-3B88DA184A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724400"/>
            <a:ext cx="525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ragment-warning-accent">
            <a:extLst xmlns:a="http://schemas.openxmlformats.org/drawingml/2006/main">
              <a:ext uri="{FF2B5EF4-FFF2-40B4-BE49-F238E27FC236}">
                <a16:creationId xmlns:a16="http://schemas.microsoft.com/office/drawing/2014/main" id="{F2B87BC4-2662-4993-B68E-C20EE3BC14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7244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ragment-warning-title">
            <a:extLst xmlns:a="http://schemas.openxmlformats.org/drawingml/2006/main">
              <a:ext uri="{FF2B5EF4-FFF2-40B4-BE49-F238E27FC236}">
                <a16:creationId xmlns:a16="http://schemas.microsoft.com/office/drawing/2014/main" id="{0931FEDC-096D-4418-A900-0914AAA35C9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47910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과도한 세분화 주의</a:t>
            </a:r>
          </a:p>
        </p:txBody>
      </p:sp>
      <p:sp>
        <p:nvSpPr>
          <p:cNvPr id="27" name="fragment-warning-body">
            <a:extLst xmlns:a="http://schemas.openxmlformats.org/drawingml/2006/main">
              <a:ext uri="{FF2B5EF4-FFF2-40B4-BE49-F238E27FC236}">
                <a16:creationId xmlns:a16="http://schemas.microsoft.com/office/drawing/2014/main" id="{DA8C8D1B-FA61-4C82-B799-A35D0DD080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62200" y="47910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상태·권한·예외·실패 복구를 모델 추론에 전가</a:t>
            </a:r>
          </a:p>
        </p:txBody>
      </p:sp>
      <p:sp>
        <p:nvSpPr>
          <p:cNvPr id="28" name="fragment-warning-rule">
            <a:extLst xmlns:a="http://schemas.openxmlformats.org/drawingml/2006/main">
              <a:ext uri="{FF2B5EF4-FFF2-40B4-BE49-F238E27FC236}">
                <a16:creationId xmlns:a16="http://schemas.microsoft.com/office/drawing/2014/main" id="{52F4895E-3041-452E-9928-C609192767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51339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ragment-warning-note">
            <a:extLst xmlns:a="http://schemas.openxmlformats.org/drawingml/2006/main">
              <a:ext uri="{FF2B5EF4-FFF2-40B4-BE49-F238E27FC236}">
                <a16:creationId xmlns:a16="http://schemas.microsoft.com/office/drawing/2014/main" id="{F96D576F-407F-4A52-8886-46D286C703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5181600"/>
            <a:ext cx="487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0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Skill은 Workflow·판단 기준 설명  |  Tool은 실제 실행 책임</a:t>
            </a:r>
          </a:p>
        </p:txBody>
      </p:sp>
      <p:sp>
        <p:nvSpPr>
          <p:cNvPr id="30" name="path-row-1">
            <a:extLst xmlns:a="http://schemas.openxmlformats.org/drawingml/2006/main">
              <a:ext uri="{FF2B5EF4-FFF2-40B4-BE49-F238E27FC236}">
                <a16:creationId xmlns:a16="http://schemas.microsoft.com/office/drawing/2014/main" id="{2CAFA9D3-7CB9-433F-9AAF-739C868AE9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2724150"/>
            <a:ext cx="5257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row-1-top">
            <a:extLst xmlns:a="http://schemas.openxmlformats.org/drawingml/2006/main">
              <a:ext uri="{FF2B5EF4-FFF2-40B4-BE49-F238E27FC236}">
                <a16:creationId xmlns:a16="http://schemas.microsoft.com/office/drawing/2014/main" id="{8020ECDA-9F2B-4F7E-9C79-86E22B66F3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27241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row-1-bottom">
            <a:extLst xmlns:a="http://schemas.openxmlformats.org/drawingml/2006/main">
              <a:ext uri="{FF2B5EF4-FFF2-40B4-BE49-F238E27FC236}">
                <a16:creationId xmlns:a16="http://schemas.microsoft.com/office/drawing/2014/main" id="{380E11E2-27A1-42B7-8F4A-1D07077A32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347662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1-num">
            <a:extLst xmlns:a="http://schemas.openxmlformats.org/drawingml/2006/main">
              <a:ext uri="{FF2B5EF4-FFF2-40B4-BE49-F238E27FC236}">
                <a16:creationId xmlns:a16="http://schemas.microsoft.com/office/drawing/2014/main" id="{BBBF0425-77B6-41EC-B8C0-7890F6C2EE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15100" y="28670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4" name="path-1-level">
            <a:extLst xmlns:a="http://schemas.openxmlformats.org/drawingml/2006/main">
              <a:ext uri="{FF2B5EF4-FFF2-40B4-BE49-F238E27FC236}">
                <a16:creationId xmlns:a16="http://schemas.microsoft.com/office/drawing/2014/main" id="{00473A2F-30CB-4910-959D-7844D964D5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53250" y="28670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초·중급</a:t>
            </a:r>
          </a:p>
        </p:txBody>
      </p:sp>
      <p:sp>
        <p:nvSpPr>
          <p:cNvPr id="35" name="path-1-title">
            <a:extLst xmlns:a="http://schemas.openxmlformats.org/drawingml/2006/main">
              <a:ext uri="{FF2B5EF4-FFF2-40B4-BE49-F238E27FC236}">
                <a16:creationId xmlns:a16="http://schemas.microsoft.com/office/drawing/2014/main" id="{5BF23752-E18D-4453-89FA-2B5487E49E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0" y="2819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Langflow</a:t>
            </a:r>
          </a:p>
        </p:txBody>
      </p:sp>
      <p:sp>
        <p:nvSpPr>
          <p:cNvPr id="36" name="path-1-body">
            <a:extLst xmlns:a="http://schemas.openxmlformats.org/drawingml/2006/main">
              <a:ext uri="{FF2B5EF4-FFF2-40B4-BE49-F238E27FC236}">
                <a16:creationId xmlns:a16="http://schemas.microsoft.com/office/drawing/2014/main" id="{762E6E61-8C45-4FD2-AD70-84E08579B7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0" y="3105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빠른 개발·공유·협업 실험</a:t>
            </a:r>
          </a:p>
        </p:txBody>
      </p:sp>
      <p:sp>
        <p:nvSpPr>
          <p:cNvPr id="37" name="path-row-2">
            <a:extLst xmlns:a="http://schemas.openxmlformats.org/drawingml/2006/main">
              <a:ext uri="{FF2B5EF4-FFF2-40B4-BE49-F238E27FC236}">
                <a16:creationId xmlns:a16="http://schemas.microsoft.com/office/drawing/2014/main" id="{E0477B24-3CD6-4CA6-8F85-F594803DF5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3600450"/>
            <a:ext cx="5257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2-num">
            <a:extLst xmlns:a="http://schemas.openxmlformats.org/drawingml/2006/main">
              <a:ext uri="{FF2B5EF4-FFF2-40B4-BE49-F238E27FC236}">
                <a16:creationId xmlns:a16="http://schemas.microsoft.com/office/drawing/2014/main" id="{F47DECC2-683B-4307-855D-F084D01740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15100" y="3752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path-2-level">
            <a:extLst xmlns:a="http://schemas.openxmlformats.org/drawingml/2006/main">
              <a:ext uri="{FF2B5EF4-FFF2-40B4-BE49-F238E27FC236}">
                <a16:creationId xmlns:a16="http://schemas.microsoft.com/office/drawing/2014/main" id="{4058BAA4-0C6E-49DB-8818-9D0671EFC0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53250" y="3752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확장</a:t>
            </a:r>
          </a:p>
        </p:txBody>
      </p:sp>
      <p:sp>
        <p:nvSpPr>
          <p:cNvPr id="40" name="path-2-title">
            <a:extLst xmlns:a="http://schemas.openxmlformats.org/drawingml/2006/main">
              <a:ext uri="{FF2B5EF4-FFF2-40B4-BE49-F238E27FC236}">
                <a16:creationId xmlns:a16="http://schemas.microsoft.com/office/drawing/2014/main" id="{D078EE7C-8CF6-4431-83AC-144CFCDB76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0" y="37052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Langflow + Custom</a:t>
            </a:r>
          </a:p>
        </p:txBody>
      </p:sp>
      <p:sp>
        <p:nvSpPr>
          <p:cNvPr id="41" name="path-2-body">
            <a:extLst xmlns:a="http://schemas.openxmlformats.org/drawingml/2006/main">
              <a:ext uri="{FF2B5EF4-FFF2-40B4-BE49-F238E27FC236}">
                <a16:creationId xmlns:a16="http://schemas.microsoft.com/office/drawing/2014/main" id="{0A5544D6-FF58-453F-8BBD-6BF0865682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0" y="4000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4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4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시각적 Flow + 특수 로직·기존 코드 결합</a:t>
            </a:r>
          </a:p>
        </p:txBody>
      </p:sp>
      <p:sp>
        <p:nvSpPr>
          <p:cNvPr id="42" name="path-row-3">
            <a:extLst xmlns:a="http://schemas.openxmlformats.org/drawingml/2006/main">
              <a:ext uri="{FF2B5EF4-FFF2-40B4-BE49-F238E27FC236}">
                <a16:creationId xmlns:a16="http://schemas.microsoft.com/office/drawing/2014/main" id="{823F8FEF-EDE9-45D8-834A-60D118DCA8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24600" y="449580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3-num">
            <a:extLst xmlns:a="http://schemas.openxmlformats.org/drawingml/2006/main">
              <a:ext uri="{FF2B5EF4-FFF2-40B4-BE49-F238E27FC236}">
                <a16:creationId xmlns:a16="http://schemas.microsoft.com/office/drawing/2014/main" id="{20FE1902-2A8B-43EF-8FD5-E01186595B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15100" y="4667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4" name="path-3-level">
            <a:extLst xmlns:a="http://schemas.openxmlformats.org/drawingml/2006/main">
              <a:ext uri="{FF2B5EF4-FFF2-40B4-BE49-F238E27FC236}">
                <a16:creationId xmlns:a16="http://schemas.microsoft.com/office/drawing/2014/main" id="{500B4D55-F9B8-4506-97E8-A25B08BAA1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53250" y="46672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고급</a:t>
            </a:r>
          </a:p>
        </p:txBody>
      </p:sp>
      <p:sp>
        <p:nvSpPr>
          <p:cNvPr id="45" name="path-3-title">
            <a:extLst xmlns:a="http://schemas.openxmlformats.org/drawingml/2006/main">
              <a:ext uri="{FF2B5EF4-FFF2-40B4-BE49-F238E27FC236}">
                <a16:creationId xmlns:a16="http://schemas.microsoft.com/office/drawing/2014/main" id="{25087FB7-30BE-4698-B819-16FDF34EF6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0" y="4619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Code + MCP</a:t>
            </a:r>
          </a:p>
        </p:txBody>
      </p:sp>
      <p:sp>
        <p:nvSpPr>
          <p:cNvPr id="46" name="path-3-body">
            <a:extLst xmlns:a="http://schemas.openxmlformats.org/drawingml/2006/main">
              <a:ext uri="{FF2B5EF4-FFF2-40B4-BE49-F238E27FC236}">
                <a16:creationId xmlns:a16="http://schemas.microsoft.com/office/drawing/2014/main" id="{7EC3ABAA-1894-45DA-B179-1F44D1F793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0" y="4933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4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4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복잡한 로직·대용량·상태·성능·CI/CD</a:t>
            </a:r>
          </a:p>
        </p:txBody>
      </p:sp>
      <p:sp>
        <p:nvSpPr>
          <p:cNvPr id="47" name="common-edge">
            <a:extLst xmlns:a="http://schemas.openxmlformats.org/drawingml/2006/main">
              <a:ext uri="{FF2B5EF4-FFF2-40B4-BE49-F238E27FC236}">
                <a16:creationId xmlns:a16="http://schemas.microsoft.com/office/drawing/2014/main" id="{D40053B4-A452-4FFF-AF5A-4244BEA1D1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mon-edge-title">
            <a:extLst xmlns:a="http://schemas.openxmlformats.org/drawingml/2006/main">
              <a:ext uri="{FF2B5EF4-FFF2-40B4-BE49-F238E27FC236}">
                <a16:creationId xmlns:a16="http://schemas.microsoft.com/office/drawing/2014/main" id="{0936BA5B-5D3C-45F6-9873-6FDBFAF38B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953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Agent 연결 경계</a:t>
            </a:r>
          </a:p>
        </p:txBody>
      </p:sp>
      <p:sp>
        <p:nvSpPr>
          <p:cNvPr id="49" name="common-edge-body">
            <a:extLst xmlns:a="http://schemas.openxmlformats.org/drawingml/2006/main">
              <a:ext uri="{FF2B5EF4-FFF2-40B4-BE49-F238E27FC236}">
                <a16:creationId xmlns:a16="http://schemas.microsoft.com/office/drawing/2014/main" id="{537C78C5-1FD6-4EC1-91CE-8DC194626C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0" y="5953125"/>
            <a:ext cx="807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MCP/동등 호출 · 기능 설명/고유 ID · 입력 · 상태/요약/상세 · 오류/경고/추적</a:t>
            </a:r>
          </a:p>
        </p:txBody>
      </p:sp>
    </p:spTree>
    <p:extLst>
      <p:ext uri="{BB962C8B-B14F-4D97-AF65-F5344CB8AC3E}">
        <p14:creationId xmlns:p14="http://schemas.microsoft.com/office/powerpoint/2010/main" val="911811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header-A1">
            <a:extLst xmlns:a="http://schemas.openxmlformats.org/drawingml/2006/main">
              <a:ext uri="{FF2B5EF4-FFF2-40B4-BE49-F238E27FC236}">
                <a16:creationId xmlns:a16="http://schemas.microsoft.com/office/drawing/2014/main" id="{FBDF977D-BBC0-45BD-B106-8097928F6F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부록 01. 구성요소의 역할</a:t>
            </a:r>
          </a:p>
        </p:txBody>
      </p:sp>
      <p:sp>
        <p:nvSpPr>
          <p:cNvPr id="2" name="page-A1">
            <a:extLst xmlns:a="http://schemas.openxmlformats.org/drawingml/2006/main">
              <a:ext uri="{FF2B5EF4-FFF2-40B4-BE49-F238E27FC236}">
                <a16:creationId xmlns:a16="http://schemas.microsoft.com/office/drawing/2014/main" id="{5939EF7E-C308-4C60-A935-9D8FED0619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266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A1</a:t>
            </a:r>
          </a:p>
        </p:txBody>
      </p:sp>
      <p:sp>
        <p:nvSpPr>
          <p:cNvPr id="3" name="header-rule-A1">
            <a:extLst xmlns:a="http://schemas.openxmlformats.org/drawingml/2006/main">
              <a:ext uri="{FF2B5EF4-FFF2-40B4-BE49-F238E27FC236}">
                <a16:creationId xmlns:a16="http://schemas.microsoft.com/office/drawing/2014/main" id="{BDC9982B-B749-4A54-8A58-20FA34F292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s-title">
            <a:extLst xmlns:a="http://schemas.openxmlformats.org/drawingml/2006/main">
              <a:ext uri="{FF2B5EF4-FFF2-40B4-BE49-F238E27FC236}">
                <a16:creationId xmlns:a16="http://schemas.microsoft.com/office/drawing/2014/main" id="{A2095C20-8916-4ADC-BF1C-9A0353EF2A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962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Agent 구성요소는 ‘판단 정보·조정 주체·실행 책임’으로 구분</a:t>
            </a:r>
          </a:p>
        </p:txBody>
      </p:sp>
      <p:sp>
        <p:nvSpPr>
          <p:cNvPr id="5" name="roles-subtitle">
            <a:extLst xmlns:a="http://schemas.openxmlformats.org/drawingml/2006/main">
              <a:ext uri="{FF2B5EF4-FFF2-40B4-BE49-F238E27FC236}">
                <a16:creationId xmlns:a16="http://schemas.microsoft.com/office/drawing/2014/main" id="{5C829930-6E18-49E2-952B-109B10E64D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381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모든 요소가 필수 계층이 아니라, 업무 복잡도에 따라 필요한 역할만 조합</a:t>
            </a:r>
          </a:p>
        </p:txBody>
      </p:sp>
      <p:sp>
        <p:nvSpPr>
          <p:cNvPr id="6" name="roles-label">
            <a:extLst xmlns:a="http://schemas.openxmlformats.org/drawingml/2006/main">
              <a:ext uri="{FF2B5EF4-FFF2-40B4-BE49-F238E27FC236}">
                <a16:creationId xmlns:a16="http://schemas.microsoft.com/office/drawing/2014/main" id="{F8349D0E-A197-4E09-A296-A6A24FEB619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895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구성요소를 쉽게 이해하면 ]</a:t>
            </a:r>
          </a:p>
        </p:txBody>
      </p:sp>
      <p:sp>
        <p:nvSpPr>
          <p:cNvPr id="7" name="roles-header">
            <a:extLst xmlns:a="http://schemas.openxmlformats.org/drawingml/2006/main">
              <a:ext uri="{FF2B5EF4-FFF2-40B4-BE49-F238E27FC236}">
                <a16:creationId xmlns:a16="http://schemas.microsoft.com/office/drawing/2014/main" id="{5F6117D7-F0EE-4128-9583-1F31833386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19075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s-header-term">
            <a:extLst xmlns:a="http://schemas.openxmlformats.org/drawingml/2006/main">
              <a:ext uri="{FF2B5EF4-FFF2-40B4-BE49-F238E27FC236}">
                <a16:creationId xmlns:a16="http://schemas.microsoft.com/office/drawing/2014/main" id="{67702C85-9E3B-41EA-8DA3-F28A7FFDC1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22193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구성요소</a:t>
            </a:r>
          </a:p>
        </p:txBody>
      </p:sp>
      <p:sp>
        <p:nvSpPr>
          <p:cNvPr id="9" name="roles-header-easy">
            <a:extLst xmlns:a="http://schemas.openxmlformats.org/drawingml/2006/main">
              <a:ext uri="{FF2B5EF4-FFF2-40B4-BE49-F238E27FC236}">
                <a16:creationId xmlns:a16="http://schemas.microsoft.com/office/drawing/2014/main" id="{D491E078-2811-4687-A831-303FF22BF0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22193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쉽게 말하면</a:t>
            </a:r>
          </a:p>
        </p:txBody>
      </p:sp>
      <p:sp>
        <p:nvSpPr>
          <p:cNvPr id="10" name="roles-header-role">
            <a:extLst xmlns:a="http://schemas.openxmlformats.org/drawingml/2006/main">
              <a:ext uri="{FF2B5EF4-FFF2-40B4-BE49-F238E27FC236}">
                <a16:creationId xmlns:a16="http://schemas.microsoft.com/office/drawing/2014/main" id="{F9D99371-D800-4775-9166-014E9AEE57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22193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역할</a:t>
            </a:r>
          </a:p>
        </p:txBody>
      </p:sp>
      <p:sp>
        <p:nvSpPr>
          <p:cNvPr id="11" name="roles-row-skill">
            <a:extLst xmlns:a="http://schemas.openxmlformats.org/drawingml/2006/main">
              <a:ext uri="{FF2B5EF4-FFF2-40B4-BE49-F238E27FC236}">
                <a16:creationId xmlns:a16="http://schemas.microsoft.com/office/drawing/2014/main" id="{4FABAA41-5E88-41D4-919D-FC5B6493C1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51460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les-row-meta">
            <a:extLst xmlns:a="http://schemas.openxmlformats.org/drawingml/2006/main">
              <a:ext uri="{FF2B5EF4-FFF2-40B4-BE49-F238E27FC236}">
                <a16:creationId xmlns:a16="http://schemas.microsoft.com/office/drawing/2014/main" id="{89EE5B0A-D8FF-4040-B3A8-2C910A6195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08610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les-row-main">
            <a:extLst xmlns:a="http://schemas.openxmlformats.org/drawingml/2006/main">
              <a:ext uri="{FF2B5EF4-FFF2-40B4-BE49-F238E27FC236}">
                <a16:creationId xmlns:a16="http://schemas.microsoft.com/office/drawing/2014/main" id="{0C1166FD-6407-4445-9135-4937217F54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65760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s-row-tool">
            <a:extLst xmlns:a="http://schemas.openxmlformats.org/drawingml/2006/main">
              <a:ext uri="{FF2B5EF4-FFF2-40B4-BE49-F238E27FC236}">
                <a16:creationId xmlns:a16="http://schemas.microsoft.com/office/drawing/2014/main" id="{9B9A42DA-BE62-4FB6-89A4-38883F1FBA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4005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les-row-sub">
            <a:extLst xmlns:a="http://schemas.openxmlformats.org/drawingml/2006/main">
              <a:ext uri="{FF2B5EF4-FFF2-40B4-BE49-F238E27FC236}">
                <a16:creationId xmlns:a16="http://schemas.microsoft.com/office/drawing/2014/main" id="{A6AD15F3-5632-4F35-8C5E-9D87118B3A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1435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s-col-1">
            <a:extLst xmlns:a="http://schemas.openxmlformats.org/drawingml/2006/main">
              <a:ext uri="{FF2B5EF4-FFF2-40B4-BE49-F238E27FC236}">
                <a16:creationId xmlns:a16="http://schemas.microsoft.com/office/drawing/2014/main" id="{3A58F533-0147-4B43-8302-4DAB10CE19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81250" y="2190750"/>
            <a:ext cx="95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les-col-2">
            <a:extLst xmlns:a="http://schemas.openxmlformats.org/drawingml/2006/main">
              <a:ext uri="{FF2B5EF4-FFF2-40B4-BE49-F238E27FC236}">
                <a16:creationId xmlns:a16="http://schemas.microsoft.com/office/drawing/2014/main" id="{FA181EFC-F230-4FA0-B038-5301E53C8C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2190750"/>
            <a:ext cx="95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les-row-rule-0">
            <a:extLst xmlns:a="http://schemas.openxmlformats.org/drawingml/2006/main">
              <a:ext uri="{FF2B5EF4-FFF2-40B4-BE49-F238E27FC236}">
                <a16:creationId xmlns:a16="http://schemas.microsoft.com/office/drawing/2014/main" id="{14B826DF-68DE-4B44-BD6E-8A77CAD0D7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086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s-row-rule-1">
            <a:extLst xmlns:a="http://schemas.openxmlformats.org/drawingml/2006/main">
              <a:ext uri="{FF2B5EF4-FFF2-40B4-BE49-F238E27FC236}">
                <a16:creationId xmlns:a16="http://schemas.microsoft.com/office/drawing/2014/main" id="{B8089EAB-8D2B-482D-993C-D0F35A3DDD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les-row-rule-2">
            <a:extLst xmlns:a="http://schemas.openxmlformats.org/drawingml/2006/main">
              <a:ext uri="{FF2B5EF4-FFF2-40B4-BE49-F238E27FC236}">
                <a16:creationId xmlns:a16="http://schemas.microsoft.com/office/drawing/2014/main" id="{97F80693-C074-4830-B437-5E63EC4091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400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les-row-rule-3">
            <a:extLst xmlns:a="http://schemas.openxmlformats.org/drawingml/2006/main">
              <a:ext uri="{FF2B5EF4-FFF2-40B4-BE49-F238E27FC236}">
                <a16:creationId xmlns:a16="http://schemas.microsoft.com/office/drawing/2014/main" id="{4245548B-7B23-456D-918B-066E293606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143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les-row-rule-4">
            <a:extLst xmlns:a="http://schemas.openxmlformats.org/drawingml/2006/main">
              <a:ext uri="{FF2B5EF4-FFF2-40B4-BE49-F238E27FC236}">
                <a16:creationId xmlns:a16="http://schemas.microsoft.com/office/drawing/2014/main" id="{4045BE47-34A2-4D00-AC5F-8575A00FE3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kill-num">
            <a:extLst xmlns:a="http://schemas.openxmlformats.org/drawingml/2006/main">
              <a:ext uri="{FF2B5EF4-FFF2-40B4-BE49-F238E27FC236}">
                <a16:creationId xmlns:a16="http://schemas.microsoft.com/office/drawing/2014/main" id="{565B42C9-20DD-454B-A4AB-93EF402C89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2590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4" name="skill-term">
            <a:extLst xmlns:a="http://schemas.openxmlformats.org/drawingml/2006/main">
              <a:ext uri="{FF2B5EF4-FFF2-40B4-BE49-F238E27FC236}">
                <a16:creationId xmlns:a16="http://schemas.microsoft.com/office/drawing/2014/main" id="{0C570116-0312-497F-A793-75C2DA5F05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25527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</p:txBody>
      </p:sp>
      <p:sp>
        <p:nvSpPr>
          <p:cNvPr id="25" name="skill-easy">
            <a:extLst xmlns:a="http://schemas.openxmlformats.org/drawingml/2006/main">
              <a:ext uri="{FF2B5EF4-FFF2-40B4-BE49-F238E27FC236}">
                <a16:creationId xmlns:a16="http://schemas.microsoft.com/office/drawing/2014/main" id="{643137EE-F2AC-4709-AECD-C1F8BAEC37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25527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업무 절차서</a:t>
            </a:r>
          </a:p>
        </p:txBody>
      </p:sp>
      <p:sp>
        <p:nvSpPr>
          <p:cNvPr id="26" name="skill-role">
            <a:extLst xmlns:a="http://schemas.openxmlformats.org/drawingml/2006/main">
              <a:ext uri="{FF2B5EF4-FFF2-40B4-BE49-F238E27FC236}">
                <a16:creationId xmlns:a16="http://schemas.microsoft.com/office/drawing/2014/main" id="{67205615-DA60-48A0-BD69-410DFA8BCE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25336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특정 작업의 Workflow·판단 기준·주의사항 설명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Agent가 참고하는 절차 정보이며 실제 실행 주체는 아님</a:t>
            </a:r>
          </a:p>
        </p:txBody>
      </p:sp>
      <p:sp>
        <p:nvSpPr>
          <p:cNvPr id="27" name="meta-num">
            <a:extLst xmlns:a="http://schemas.openxmlformats.org/drawingml/2006/main">
              <a:ext uri="{FF2B5EF4-FFF2-40B4-BE49-F238E27FC236}">
                <a16:creationId xmlns:a16="http://schemas.microsoft.com/office/drawing/2014/main" id="{8949ECC7-85AE-4580-8F5E-3DEAA406BD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31623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8" name="meta-term">
            <a:extLst xmlns:a="http://schemas.openxmlformats.org/drawingml/2006/main">
              <a:ext uri="{FF2B5EF4-FFF2-40B4-BE49-F238E27FC236}">
                <a16:creationId xmlns:a16="http://schemas.microsoft.com/office/drawing/2014/main" id="{1E16C92D-6BA6-4DC6-8BD9-265AC5832D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31242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Metadata</a:t>
            </a:r>
          </a:p>
        </p:txBody>
      </p:sp>
      <p:sp>
        <p:nvSpPr>
          <p:cNvPr id="29" name="meta-easy">
            <a:extLst xmlns:a="http://schemas.openxmlformats.org/drawingml/2006/main">
              <a:ext uri="{FF2B5EF4-FFF2-40B4-BE49-F238E27FC236}">
                <a16:creationId xmlns:a16="http://schemas.microsoft.com/office/drawing/2014/main" id="{6012562F-C225-40F9-8391-A3AC96996E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3124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기능 안내표</a:t>
            </a:r>
          </a:p>
        </p:txBody>
      </p:sp>
      <p:sp>
        <p:nvSpPr>
          <p:cNvPr id="30" name="meta-role">
            <a:extLst xmlns:a="http://schemas.openxmlformats.org/drawingml/2006/main">
              <a:ext uri="{FF2B5EF4-FFF2-40B4-BE49-F238E27FC236}">
                <a16:creationId xmlns:a16="http://schemas.microsoft.com/office/drawing/2014/main" id="{F622B399-111B-4C85-9546-315442BEC0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31051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기능 설명·적용 영역·입출력·선택 조건 제공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Main Agent가 Tool 후보를 찾고 비교하는 기준</a:t>
            </a:r>
          </a:p>
        </p:txBody>
      </p:sp>
      <p:sp>
        <p:nvSpPr>
          <p:cNvPr id="31" name="main-num">
            <a:extLst xmlns:a="http://schemas.openxmlformats.org/drawingml/2006/main">
              <a:ext uri="{FF2B5EF4-FFF2-40B4-BE49-F238E27FC236}">
                <a16:creationId xmlns:a16="http://schemas.microsoft.com/office/drawing/2014/main" id="{CE3DC334-66FB-47CD-B7FF-960EB26D59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37719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2" name="main-term">
            <a:extLst xmlns:a="http://schemas.openxmlformats.org/drawingml/2006/main">
              <a:ext uri="{FF2B5EF4-FFF2-40B4-BE49-F238E27FC236}">
                <a16:creationId xmlns:a16="http://schemas.microsoft.com/office/drawing/2014/main" id="{7A53F3D2-BD32-4A8B-85F3-B287F44623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Main Agent</a:t>
            </a:r>
          </a:p>
        </p:txBody>
      </p:sp>
      <p:sp>
        <p:nvSpPr>
          <p:cNvPr id="33" name="main-easy">
            <a:extLst xmlns:a="http://schemas.openxmlformats.org/drawingml/2006/main">
              <a:ext uri="{FF2B5EF4-FFF2-40B4-BE49-F238E27FC236}">
                <a16:creationId xmlns:a16="http://schemas.microsoft.com/office/drawing/2014/main" id="{3747F9F1-9861-4D0F-934B-10CE85AAE1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37147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조정자</a:t>
            </a:r>
          </a:p>
        </p:txBody>
      </p:sp>
      <p:sp>
        <p:nvSpPr>
          <p:cNvPr id="34" name="main-role">
            <a:extLst xmlns:a="http://schemas.openxmlformats.org/drawingml/2006/main">
              <a:ext uri="{FF2B5EF4-FFF2-40B4-BE49-F238E27FC236}">
                <a16:creationId xmlns:a16="http://schemas.microsoft.com/office/drawing/2014/main" id="{5A5ACDF7-3F31-4D51-8CB2-FD928BD7B9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36957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이해 → 기능 탐색 → 실행계획 수립 → 결과 검토·최종 통합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Agent Engine의 핵심 조정 역할</a:t>
            </a:r>
          </a:p>
        </p:txBody>
      </p:sp>
      <p:sp>
        <p:nvSpPr>
          <p:cNvPr id="35" name="tool-num">
            <a:extLst xmlns:a="http://schemas.openxmlformats.org/drawingml/2006/main">
              <a:ext uri="{FF2B5EF4-FFF2-40B4-BE49-F238E27FC236}">
                <a16:creationId xmlns:a16="http://schemas.microsoft.com/office/drawing/2014/main" id="{57E66D9C-B032-425D-86AC-9A796030E6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4514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6" name="tool-term">
            <a:extLst xmlns:a="http://schemas.openxmlformats.org/drawingml/2006/main">
              <a:ext uri="{FF2B5EF4-FFF2-40B4-BE49-F238E27FC236}">
                <a16:creationId xmlns:a16="http://schemas.microsoft.com/office/drawing/2014/main" id="{EE07E87D-23A5-42D2-A0C3-A489D22F86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5850" y="445770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Tool·Workflow</a:t>
            </a:r>
          </a:p>
        </p:txBody>
      </p:sp>
      <p:sp>
        <p:nvSpPr>
          <p:cNvPr id="37" name="tool-easy">
            <a:extLst xmlns:a="http://schemas.openxmlformats.org/drawingml/2006/main">
              <a:ext uri="{FF2B5EF4-FFF2-40B4-BE49-F238E27FC236}">
                <a16:creationId xmlns:a16="http://schemas.microsoft.com/office/drawing/2014/main" id="{EF6AAA0D-82C6-4090-A035-2FF8F2812B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44577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실무 실행자</a:t>
            </a:r>
          </a:p>
        </p:txBody>
      </p:sp>
      <p:sp>
        <p:nvSpPr>
          <p:cNvPr id="38" name="tool-role">
            <a:extLst xmlns:a="http://schemas.openxmlformats.org/drawingml/2006/main">
              <a:ext uri="{FF2B5EF4-FFF2-40B4-BE49-F238E27FC236}">
                <a16:creationId xmlns:a16="http://schemas.microsoft.com/office/drawing/2014/main" id="{294687D7-4353-4A2B-A316-3EFFD484E0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4438650"/>
            <a:ext cx="647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DB·API·코드로 조회·분석·변경을 실제 수행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고정 순서·상태·권한·예외·실패 복구까지 책임</a:t>
            </a:r>
          </a:p>
        </p:txBody>
      </p:sp>
      <p:sp>
        <p:nvSpPr>
          <p:cNvPr id="39" name="sub-num">
            <a:extLst xmlns:a="http://schemas.openxmlformats.org/drawingml/2006/main">
              <a:ext uri="{FF2B5EF4-FFF2-40B4-BE49-F238E27FC236}">
                <a16:creationId xmlns:a16="http://schemas.microsoft.com/office/drawing/2014/main" id="{DD6E9B05-487E-43EE-81E6-79F662D417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52578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0" name="sub-term">
            <a:extLst xmlns:a="http://schemas.openxmlformats.org/drawingml/2006/main">
              <a:ext uri="{FF2B5EF4-FFF2-40B4-BE49-F238E27FC236}">
                <a16:creationId xmlns:a16="http://schemas.microsoft.com/office/drawing/2014/main" id="{5269B37C-FA93-4B0C-945B-734D21F6D2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2050" y="52006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Sub Agent</a:t>
            </a:r>
          </a:p>
        </p:txBody>
      </p:sp>
      <p:sp>
        <p:nvSpPr>
          <p:cNvPr id="41" name="sub-easy">
            <a:extLst xmlns:a="http://schemas.openxmlformats.org/drawingml/2006/main">
              <a:ext uri="{FF2B5EF4-FFF2-40B4-BE49-F238E27FC236}">
                <a16:creationId xmlns:a16="http://schemas.microsoft.com/office/drawing/2014/main" id="{7EFB793A-82D0-4735-A74B-1003E5DB2A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52006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전문 담당자</a:t>
            </a:r>
          </a:p>
        </p:txBody>
      </p:sp>
      <p:sp>
        <p:nvSpPr>
          <p:cNvPr id="42" name="sub-role">
            <a:extLst xmlns:a="http://schemas.openxmlformats.org/drawingml/2006/main">
              <a:ext uri="{FF2B5EF4-FFF2-40B4-BE49-F238E27FC236}">
                <a16:creationId xmlns:a16="http://schemas.microsoft.com/office/drawing/2014/main" id="{8582E298-A899-43FC-A2AD-3305A0D84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33950" y="516255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별도 전문 역할이나 독립 맥락이 필요한 경우에만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모든 업무에 필수인 고정 계층은 아님</a:t>
            </a:r>
          </a:p>
        </p:txBody>
      </p:sp>
      <p:sp>
        <p:nvSpPr>
          <p:cNvPr id="43" name="roles-flow">
            <a:extLst xmlns:a="http://schemas.openxmlformats.org/drawingml/2006/main">
              <a:ext uri="{FF2B5EF4-FFF2-40B4-BE49-F238E27FC236}">
                <a16:creationId xmlns:a16="http://schemas.microsoft.com/office/drawing/2014/main" id="{879FA662-92AC-4FE9-831B-F2C65659FA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oles-flow-title">
            <a:extLst xmlns:a="http://schemas.openxmlformats.org/drawingml/2006/main">
              <a:ext uri="{FF2B5EF4-FFF2-40B4-BE49-F238E27FC236}">
                <a16:creationId xmlns:a16="http://schemas.microsoft.com/office/drawing/2014/main" id="{CBEEAFB1-1E66-486A-9D23-BD0DA1F976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95312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작동 순서</a:t>
            </a:r>
          </a:p>
        </p:txBody>
      </p:sp>
      <p:sp>
        <p:nvSpPr>
          <p:cNvPr id="45" name="roles-flow-body">
            <a:extLst xmlns:a="http://schemas.openxmlformats.org/drawingml/2006/main">
              <a:ext uri="{FF2B5EF4-FFF2-40B4-BE49-F238E27FC236}">
                <a16:creationId xmlns:a16="http://schemas.microsoft.com/office/drawing/2014/main" id="{92BBAA6F-0154-455F-A57F-A7AA6FBE87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62200" y="59531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질문 → Skill·Metadata 참조 → Main Agent 계획 → Tool·Workflow 실행 → 답변·보고서</a:t>
            </a:r>
          </a:p>
        </p:txBody>
      </p:sp>
    </p:spTree>
    <p:extLst>
      <p:ext uri="{BB962C8B-B14F-4D97-AF65-F5344CB8AC3E}">
        <p14:creationId xmlns:p14="http://schemas.microsoft.com/office/powerpoint/2010/main" val="887526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header-A2">
            <a:extLst xmlns:a="http://schemas.openxmlformats.org/drawingml/2006/main">
              <a:ext uri="{FF2B5EF4-FFF2-40B4-BE49-F238E27FC236}">
                <a16:creationId xmlns:a16="http://schemas.microsoft.com/office/drawing/2014/main" id="{4B803552-C443-476B-BA6F-C2B3D25C73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부록 02. 파일럿 추진</a:t>
            </a:r>
          </a:p>
        </p:txBody>
      </p:sp>
      <p:sp>
        <p:nvSpPr>
          <p:cNvPr id="2" name="page-A2">
            <a:extLst xmlns:a="http://schemas.openxmlformats.org/drawingml/2006/main">
              <a:ext uri="{FF2B5EF4-FFF2-40B4-BE49-F238E27FC236}">
                <a16:creationId xmlns:a16="http://schemas.microsoft.com/office/drawing/2014/main" id="{B81480B9-73E9-45C4-9643-A7E6AB136E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2667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A2</a:t>
            </a:r>
          </a:p>
        </p:txBody>
      </p:sp>
      <p:sp>
        <p:nvSpPr>
          <p:cNvPr id="3" name="header-rule-A2">
            <a:extLst xmlns:a="http://schemas.openxmlformats.org/drawingml/2006/main">
              <a:ext uri="{FF2B5EF4-FFF2-40B4-BE49-F238E27FC236}">
                <a16:creationId xmlns:a16="http://schemas.microsoft.com/office/drawing/2014/main" id="{3CF5B9BA-8BAA-4715-AE67-FD7F1978E5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8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ilot-title">
            <a:extLst xmlns:a="http://schemas.openxmlformats.org/drawingml/2006/main">
              <a:ext uri="{FF2B5EF4-FFF2-40B4-BE49-F238E27FC236}">
                <a16:creationId xmlns:a16="http://schemas.microsoft.com/office/drawing/2014/main" id="{517C6F03-DB07-4F74-8D9A-F479E00FBB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9620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2~3개 실제 업무로 운영 기준을 검증한 뒤, 검증된 기능만 확산</a:t>
            </a:r>
          </a:p>
        </p:txBody>
      </p:sp>
      <p:sp>
        <p:nvSpPr>
          <p:cNvPr id="5" name="pilot-subtitle">
            <a:extLst xmlns:a="http://schemas.openxmlformats.org/drawingml/2006/main">
              <a:ext uri="{FF2B5EF4-FFF2-40B4-BE49-F238E27FC236}">
                <a16:creationId xmlns:a16="http://schemas.microsoft.com/office/drawing/2014/main" id="{E61AE3AC-4819-4ED8-9653-AD5209FA59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3811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기술 시연보다 반복 사용·성과 측정이 가능한 업무를 우선</a:t>
            </a:r>
          </a:p>
        </p:txBody>
      </p:sp>
      <p:sp>
        <p:nvSpPr>
          <p:cNvPr id="6" name="pilot-label">
            <a:extLst xmlns:a="http://schemas.openxmlformats.org/drawingml/2006/main">
              <a:ext uri="{FF2B5EF4-FFF2-40B4-BE49-F238E27FC236}">
                <a16:creationId xmlns:a16="http://schemas.microsoft.com/office/drawing/2014/main" id="{AD7367E8-D3AC-4C78-9B87-A7936EEFAF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89547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단계별 추진과 판단 기준 ]</a:t>
            </a:r>
          </a:p>
        </p:txBody>
      </p:sp>
      <p:sp>
        <p:nvSpPr>
          <p:cNvPr id="7" name="pilot-col-rule-1">
            <a:extLst xmlns:a="http://schemas.openxmlformats.org/drawingml/2006/main">
              <a:ext uri="{FF2B5EF4-FFF2-40B4-BE49-F238E27FC236}">
                <a16:creationId xmlns:a16="http://schemas.microsoft.com/office/drawing/2014/main" id="{048CD031-F9FA-4EA4-A6A3-4299E1F6A9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8600" y="21907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ilot-col-rule-2">
            <a:extLst xmlns:a="http://schemas.openxmlformats.org/drawingml/2006/main">
              <a:ext uri="{FF2B5EF4-FFF2-40B4-BE49-F238E27FC236}">
                <a16:creationId xmlns:a16="http://schemas.microsoft.com/office/drawing/2014/main" id="{3478FBFD-FD82-45A4-85F5-CC317B212A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72400" y="2190750"/>
            <a:ext cx="95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num-1">
            <a:extLst xmlns:a="http://schemas.openxmlformats.org/drawingml/2006/main">
              <a:ext uri="{FF2B5EF4-FFF2-40B4-BE49-F238E27FC236}">
                <a16:creationId xmlns:a16="http://schemas.microsoft.com/office/drawing/2014/main" id="{BFC3E7F0-2641-4387-85CC-5F51B1B73F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1336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976DDECC-2C05-4217-8FD5-20278257AA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2667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공통 기반 준비</a:t>
            </a:r>
          </a:p>
        </p:txBody>
      </p:sp>
      <p:sp>
        <p:nvSpPr>
          <p:cNvPr id="11" name="pilot-main-1">
            <a:extLst xmlns:a="http://schemas.openxmlformats.org/drawingml/2006/main">
              <a:ext uri="{FF2B5EF4-FFF2-40B4-BE49-F238E27FC236}">
                <a16:creationId xmlns:a16="http://schemas.microsoft.com/office/drawing/2014/main" id="{23BD9B79-AE49-4B9D-B957-10A267E53A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067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Agent Engine·Profile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공통 활용 Tool·연결 기준</a:t>
            </a:r>
          </a:p>
        </p:txBody>
      </p:sp>
      <p:sp>
        <p:nvSpPr>
          <p:cNvPr id="12" name="pilot-rule-1">
            <a:extLst xmlns:a="http://schemas.openxmlformats.org/drawingml/2006/main">
              <a:ext uri="{FF2B5EF4-FFF2-40B4-BE49-F238E27FC236}">
                <a16:creationId xmlns:a16="http://schemas.microsoft.com/office/drawing/2014/main" id="{636446ED-DBD2-46FA-B689-774A345288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733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ilot-check-label-1">
            <a:extLst xmlns:a="http://schemas.openxmlformats.org/drawingml/2006/main">
              <a:ext uri="{FF2B5EF4-FFF2-40B4-BE49-F238E27FC236}">
                <a16:creationId xmlns:a16="http://schemas.microsoft.com/office/drawing/2014/main" id="{64627C45-ACCB-43BD-96F2-553E0E11CA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14" name="pilot-check-1">
            <a:extLst xmlns:a="http://schemas.openxmlformats.org/drawingml/2006/main">
              <a:ext uri="{FF2B5EF4-FFF2-40B4-BE49-F238E27FC236}">
                <a16:creationId xmlns:a16="http://schemas.microsoft.com/office/drawing/2014/main" id="{F6CA5067-6A86-4CAC-AB98-0FE970BF00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095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호출·권한·로그·오류 처리 작동</a:t>
            </a:r>
          </a:p>
        </p:txBody>
      </p:sp>
      <p:sp>
        <p:nvSpPr>
          <p:cNvPr id="15" name="pilot-num-2">
            <a:extLst xmlns:a="http://schemas.openxmlformats.org/drawingml/2006/main">
              <a:ext uri="{FF2B5EF4-FFF2-40B4-BE49-F238E27FC236}">
                <a16:creationId xmlns:a16="http://schemas.microsoft.com/office/drawing/2014/main" id="{ED5F781C-85AE-47D7-874E-9FF2696AEF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21336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BC281BA6-619E-4E6B-8025-730F0D7FA7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2667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대표 업무 파일럿</a:t>
            </a:r>
          </a:p>
        </p:txBody>
      </p:sp>
      <p:sp>
        <p:nvSpPr>
          <p:cNvPr id="17" name="pilot-main-2">
            <a:extLst xmlns:a="http://schemas.openxmlformats.org/drawingml/2006/main">
              <a:ext uri="{FF2B5EF4-FFF2-40B4-BE49-F238E27FC236}">
                <a16:creationId xmlns:a16="http://schemas.microsoft.com/office/drawing/2014/main" id="{3B7B56E5-AEF2-4618-870B-C53B987AE9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3067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2~3개 반복 업무 적용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담당자·데이터·비교 기준 확보</a:t>
            </a:r>
          </a:p>
        </p:txBody>
      </p:sp>
      <p:sp>
        <p:nvSpPr>
          <p:cNvPr id="18" name="pilot-rule-2">
            <a:extLst xmlns:a="http://schemas.openxmlformats.org/drawingml/2006/main">
              <a:ext uri="{FF2B5EF4-FFF2-40B4-BE49-F238E27FC236}">
                <a16:creationId xmlns:a16="http://schemas.microsoft.com/office/drawing/2014/main" id="{F18282EC-0509-433F-AEA5-69687C20A0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3733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ot-check-label-2">
            <a:extLst xmlns:a="http://schemas.openxmlformats.org/drawingml/2006/main">
              <a:ext uri="{FF2B5EF4-FFF2-40B4-BE49-F238E27FC236}">
                <a16:creationId xmlns:a16="http://schemas.microsoft.com/office/drawing/2014/main" id="{BCA81B04-E805-4022-935D-E8A5EC32E2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20" name="pilot-check-2">
            <a:extLst xmlns:a="http://schemas.openxmlformats.org/drawingml/2006/main">
              <a:ext uri="{FF2B5EF4-FFF2-40B4-BE49-F238E27FC236}">
                <a16:creationId xmlns:a16="http://schemas.microsoft.com/office/drawing/2014/main" id="{46E511FD-5C24-4BDE-A285-4A87BA95BF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43400" y="4095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효과·품질·사용성 측정 가능</a:t>
            </a:r>
          </a:p>
        </p:txBody>
      </p:sp>
      <p:sp>
        <p:nvSpPr>
          <p:cNvPr id="21" name="pilot-num-3">
            <a:extLst xmlns:a="http://schemas.openxmlformats.org/drawingml/2006/main">
              <a:ext uri="{FF2B5EF4-FFF2-40B4-BE49-F238E27FC236}">
                <a16:creationId xmlns:a16="http://schemas.microsoft.com/office/drawing/2014/main" id="{2D672497-A4E3-4994-A61B-3714C5CEB3F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213360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E9E9E9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2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EC1E2FD7-AE51-41D1-A2F7-2B08A28E83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2667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성과 기반 확산</a:t>
            </a:r>
          </a:p>
        </p:txBody>
      </p:sp>
      <p:sp>
        <p:nvSpPr>
          <p:cNvPr id="23" name="pilot-main-3">
            <a:extLst xmlns:a="http://schemas.openxmlformats.org/drawingml/2006/main">
              <a:ext uri="{FF2B5EF4-FFF2-40B4-BE49-F238E27FC236}">
                <a16:creationId xmlns:a16="http://schemas.microsoft.com/office/drawing/2014/main" id="{FD13AED3-36A8-4A9A-AC69-2A575D80B9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3067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검증된 기능부터 구독 확대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운영 책임·유지보수 기준 명확화</a:t>
            </a:r>
          </a:p>
        </p:txBody>
      </p:sp>
      <p:sp>
        <p:nvSpPr>
          <p:cNvPr id="24" name="pilot-rule-3">
            <a:extLst xmlns:a="http://schemas.openxmlformats.org/drawingml/2006/main">
              <a:ext uri="{FF2B5EF4-FFF2-40B4-BE49-F238E27FC236}">
                <a16:creationId xmlns:a16="http://schemas.microsoft.com/office/drawing/2014/main" id="{D6A289EA-330A-46C0-A548-3C9590EF6B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3733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check-label-3">
            <a:extLst xmlns:a="http://schemas.openxmlformats.org/drawingml/2006/main">
              <a:ext uri="{FF2B5EF4-FFF2-40B4-BE49-F238E27FC236}">
                <a16:creationId xmlns:a16="http://schemas.microsoft.com/office/drawing/2014/main" id="{085DF3FE-CA3B-4ED6-B914-4DA9DEB315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3829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확인 기준</a:t>
            </a:r>
          </a:p>
        </p:txBody>
      </p:sp>
      <p:sp>
        <p:nvSpPr>
          <p:cNvPr id="26" name="pilot-check-3">
            <a:extLst xmlns:a="http://schemas.openxmlformats.org/drawingml/2006/main">
              <a:ext uri="{FF2B5EF4-FFF2-40B4-BE49-F238E27FC236}">
                <a16:creationId xmlns:a16="http://schemas.microsoft.com/office/drawing/2014/main" id="{8BD15FE8-E968-48A1-AEF3-A977C24A18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77200" y="4095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확산 효과가 운영 부담보다 큼</a:t>
            </a:r>
          </a:p>
        </p:txBody>
      </p:sp>
      <p:sp>
        <p:nvSpPr>
          <p:cNvPr id="27" name="metrics-label">
            <a:extLst xmlns:a="http://schemas.openxmlformats.org/drawingml/2006/main">
              <a:ext uri="{FF2B5EF4-FFF2-40B4-BE49-F238E27FC236}">
                <a16:creationId xmlns:a16="http://schemas.microsoft.com/office/drawing/2014/main" id="{626A006A-116B-465A-A0ED-A5504FD13D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629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[ 파일럿 검증 지표 ]</a:t>
            </a:r>
          </a:p>
        </p:txBody>
      </p:sp>
      <p:sp>
        <p:nvSpPr>
          <p:cNvPr id="28" name="metrics-top-rule">
            <a:extLst xmlns:a="http://schemas.openxmlformats.org/drawingml/2006/main">
              <a:ext uri="{FF2B5EF4-FFF2-40B4-BE49-F238E27FC236}">
                <a16:creationId xmlns:a16="http://schemas.microsoft.com/office/drawing/2014/main" id="{8966C77A-3B9A-45AE-A959-911DF6CD2B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93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rics-col-1">
            <a:extLst xmlns:a="http://schemas.openxmlformats.org/drawingml/2006/main">
              <a:ext uri="{FF2B5EF4-FFF2-40B4-BE49-F238E27FC236}">
                <a16:creationId xmlns:a16="http://schemas.microsoft.com/office/drawing/2014/main" id="{C4AE426B-2EC4-4A61-B0EE-0D9B31DC5E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8600" y="4933950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etrics-col-2">
            <a:extLst xmlns:a="http://schemas.openxmlformats.org/drawingml/2006/main">
              <a:ext uri="{FF2B5EF4-FFF2-40B4-BE49-F238E27FC236}">
                <a16:creationId xmlns:a16="http://schemas.microsoft.com/office/drawing/2014/main" id="{18940AF4-B79E-46DB-A4D0-21B37EEA27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72400" y="4933950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tric-effect-title">
            <a:extLst xmlns:a="http://schemas.openxmlformats.org/drawingml/2006/main">
              <a:ext uri="{FF2B5EF4-FFF2-40B4-BE49-F238E27FC236}">
                <a16:creationId xmlns:a16="http://schemas.microsoft.com/office/drawing/2014/main" id="{DE2490D4-9FC4-4AAF-9585-8561AA35A6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010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32" name="metric-effect-body">
            <a:extLst xmlns:a="http://schemas.openxmlformats.org/drawingml/2006/main">
              <a:ext uri="{FF2B5EF4-FFF2-40B4-BE49-F238E27FC236}">
                <a16:creationId xmlns:a16="http://schemas.microsoft.com/office/drawing/2014/main" id="{3E678A8D-94DA-4E6A-ACA0-5CA584D5C1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0200" y="5010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처리시간·반복 작업 감소</a:t>
            </a:r>
          </a:p>
        </p:txBody>
      </p:sp>
      <p:sp>
        <p:nvSpPr>
          <p:cNvPr id="33" name="metric-quality-title">
            <a:extLst xmlns:a="http://schemas.openxmlformats.org/drawingml/2006/main">
              <a:ext uri="{FF2B5EF4-FFF2-40B4-BE49-F238E27FC236}">
                <a16:creationId xmlns:a16="http://schemas.microsoft.com/office/drawing/2014/main" id="{BCC1F322-EBA7-4211-8AA0-F3FF820602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72000" y="5010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품질</a:t>
            </a:r>
          </a:p>
        </p:txBody>
      </p:sp>
      <p:sp>
        <p:nvSpPr>
          <p:cNvPr id="34" name="metric-quality-body">
            <a:extLst xmlns:a="http://schemas.openxmlformats.org/drawingml/2006/main">
              <a:ext uri="{FF2B5EF4-FFF2-40B4-BE49-F238E27FC236}">
                <a16:creationId xmlns:a16="http://schemas.microsoft.com/office/drawing/2014/main" id="{6959751B-71B6-431D-BB85-E6644CE05D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34000" y="5010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정확도·활용성·만족도</a:t>
            </a:r>
          </a:p>
        </p:txBody>
      </p:sp>
      <p:sp>
        <p:nvSpPr>
          <p:cNvPr id="35" name="metric-operation-title">
            <a:extLst xmlns:a="http://schemas.openxmlformats.org/drawingml/2006/main">
              <a:ext uri="{FF2B5EF4-FFF2-40B4-BE49-F238E27FC236}">
                <a16:creationId xmlns:a16="http://schemas.microsoft.com/office/drawing/2014/main" id="{41949CA6-D0F2-459C-AD42-DCE925F771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05800" y="5010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121212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36" name="metric-operation-body">
            <a:extLst xmlns:a="http://schemas.openxmlformats.org/drawingml/2006/main">
              <a:ext uri="{FF2B5EF4-FFF2-40B4-BE49-F238E27FC236}">
                <a16:creationId xmlns:a16="http://schemas.microsoft.com/office/drawing/2014/main" id="{60C94C11-EB76-4627-A369-CFFA5E237B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67800" y="5010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484848"/>
                </a:solidFill>
                <a:latin typeface="맑은 고딕"/>
                <a:ea typeface="맑은 고딕"/>
                <a:cs typeface="맑은 고딕"/>
              </a:rPr>
              <a:t>권한·로그·책임·유지보수</a:t>
            </a:r>
          </a:p>
        </p:txBody>
      </p:sp>
      <p:sp>
        <p:nvSpPr>
          <p:cNvPr id="37" name="metrics-note">
            <a:extLst xmlns:a="http://schemas.openxmlformats.org/drawingml/2006/main">
              <a:ext uri="{FF2B5EF4-FFF2-40B4-BE49-F238E27FC236}">
                <a16:creationId xmlns:a16="http://schemas.microsoft.com/office/drawing/2014/main" id="{622A6752-59ED-4E16-AE6A-7A9B715FA4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391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777777"/>
                </a:solidFill>
                <a:latin typeface="맑은 고딕"/>
                <a:ea typeface="맑은 고딕"/>
                <a:cs typeface="맑은 고딕"/>
              </a:rPr>
              <a:t>측정 결과가 부족하면 확산보다 기준 보완과 재검증 우선</a:t>
            </a:r>
          </a:p>
        </p:txBody>
      </p:sp>
      <p:sp>
        <p:nvSpPr>
          <p:cNvPr id="38" name="pilot-summary">
            <a:extLst xmlns:a="http://schemas.openxmlformats.org/drawingml/2006/main">
              <a:ext uri="{FF2B5EF4-FFF2-40B4-BE49-F238E27FC236}">
                <a16:creationId xmlns:a16="http://schemas.microsoft.com/office/drawing/2014/main" id="{68EA43F3-B586-4111-986A-4E5E602245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ilot-summary-text">
            <a:extLst xmlns:a="http://schemas.openxmlformats.org/drawingml/2006/main">
              <a:ext uri="{FF2B5EF4-FFF2-40B4-BE49-F238E27FC236}">
                <a16:creationId xmlns:a16="http://schemas.microsoft.com/office/drawing/2014/main" id="{AC17B7BF-B1DF-4273-9044-2AE09D9DCF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59531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ln w="7144">
                  <a:solidFill>
                    <a:srgbClr val="FFFFFF">
                      <a:alpha val="0"/>
                    </a:srgbClr>
                  </a:solidFill>
                  <a:prstDash val="solid"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파일럿의 목적은 기술 시연이 아니라, 반복 사용 가능한 운영 기준과 확산 근거 확보</a:t>
            </a:r>
          </a:p>
        </p:txBody>
      </p:sp>
    </p:spTree>
    <p:extLst>
      <p:ext uri="{BB962C8B-B14F-4D97-AF65-F5344CB8AC3E}">
        <p14:creationId xmlns:p14="http://schemas.microsoft.com/office/powerpoint/2010/main" val="1736178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840</Words>
  <Application>Microsoft Office PowerPoint</Application>
  <DocSecurity>0</DocSecurity>
  <PresentationFormat>와이드스크린</PresentationFormat>
  <Paragraphs>159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Calibri</vt:lpstr>
      <vt:lpstr>Wingdings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봉건 문</cp:lastModifiedBy>
  <cp:revision>12</cp:revision>
  <dcterms:created xsi:type="dcterms:W3CDTF">2026-07-19T09:28:24Z</dcterms:created>
  <dcterms:modified xsi:type="dcterms:W3CDTF">2026-07-19T13:17:24Z</dcterms:modified>
</cp:coreProperties>
</file>