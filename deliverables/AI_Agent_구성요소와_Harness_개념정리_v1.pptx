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deabcce91c343d9" /><Relationship Type="http://schemas.openxmlformats.org/officeDocument/2006/relationships/extended-properties" Target="/docProps/app.xml" Id="R3a86a1cfaf1c458b" /><Relationship Type="http://schemas.openxmlformats.org/officeDocument/2006/relationships/officeDocument" Target="/ppt/presentation.xml" Id="R3f0414c56826474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c4cc2f5b341497f"/>
  </p:sldMasterIdLst>
  <p:notesMasterIdLst>
    <p:notesMasterId xmlns:r="http://schemas.openxmlformats.org/officeDocument/2006/relationships" r:id="Ra2ac29b8c4fa4c8e"/>
  </p:notesMasterIdLst>
  <p:sldIdLst>
    <p:sldId xmlns:r="http://schemas.openxmlformats.org/officeDocument/2006/relationships" id="256" r:id="Rc385a34d76c8468e"/>
    <p:sldId xmlns:r="http://schemas.openxmlformats.org/officeDocument/2006/relationships" id="257" r:id="Rbbfbf6df5ed7438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8f6a214b10544ce" /><Relationship Type="http://schemas.openxmlformats.org/officeDocument/2006/relationships/slideMaster" Target="/ppt/slideMasters/slideMaster1.xml" Id="R2c4cc2f5b341497f" /><Relationship Type="http://schemas.openxmlformats.org/officeDocument/2006/relationships/notesMaster" Target="/ppt/notesMasters/notesMaster1.xml" Id="Ra2ac29b8c4fa4c8e" /><Relationship Type="http://schemas.openxmlformats.org/officeDocument/2006/relationships/presProps" Target="/ppt/presProps.xml" Id="R3738a676e18b4a38" /><Relationship Type="http://schemas.openxmlformats.org/officeDocument/2006/relationships/tableStyles" Target="/ppt/tableStyles.xml" Id="R4bf854599691434c" /><Relationship Type="http://schemas.openxmlformats.org/officeDocument/2006/relationships/slide" Target="/ppt/slides/slide1.xml" Id="Rc385a34d76c8468e" /><Relationship Type="http://schemas.openxmlformats.org/officeDocument/2006/relationships/slide" Target="/ppt/slides/slide2.xml" Id="Rbbfbf6df5ed7438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42eaeb404d945d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57bf9c0682c4d68" /><Relationship Type="http://schemas.openxmlformats.org/officeDocument/2006/relationships/notesMaster" Target="/ppt/notesMasters/notesMaster1.xml" Id="R6b3da96f5b854bb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7c012cd6b8448a3" /><Relationship Type="http://schemas.openxmlformats.org/officeDocument/2006/relationships/notesMaster" Target="/ppt/notesMasters/notesMaster1.xml" Id="R76e453b4c6f7419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참고: Model Context Protocol Architecture overview; Agent Skills specification; Microsoft Agent Framework Agent Harnesses; LangChain Subagents. Super Agent는 표준 고유명칭이라기보다 Main Agent, Supervisor, Orchestrator와 유사한 상위 조정 역할을 표현한 용어임.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Harness 구현은 Framework Runtime + 조직별 제어 코드 + 운영 정책 + Markdown/Prompt의 결합으로 이해하는 것이 적절함. Skill은 특정 업무 절차를 설명하고, Harness는 Agent 전체 실행환경을 통제함. 실제 시스템 권한은 Tool 또는 기존 인증체계에서 최종 확인함.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ba4897d860460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f5239a6001648d2" /><Relationship Type="http://schemas.openxmlformats.org/officeDocument/2006/relationships/slideLayout" Target="/ppt/slideLayouts/slideLayout1.xml" Id="Rcf73bb0d02434d4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f73bb0d02434d4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b11c8afe8b4805" /><Relationship Type="http://schemas.openxmlformats.org/officeDocument/2006/relationships/notesSlide" Target="/ppt/notesSlides/notesSlide1.xml" Id="R83ecf3f0ede243b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177c46fecf4b9e" /><Relationship Type="http://schemas.openxmlformats.org/officeDocument/2006/relationships/notesSlide" Target="/ppt/notesSlides/notesSlide2.xml" Id="Ra66eeb5ea16543c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" name="header-01">
            <a:extLst xmlns:a="http://schemas.openxmlformats.org/drawingml/2006/main">
              <a:ext uri="{FF2B5EF4-FFF2-40B4-BE49-F238E27FC236}">
                <a16:creationId xmlns:a16="http://schemas.microsoft.com/office/drawing/2014/main" id="{B3FCE511-E44E-43B0-9C39-02F6E87AF66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57200" y="23812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A4A4A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A4A4A"/>
                </a:solidFill>
                <a:latin typeface="맑은 고딕"/>
                <a:ea typeface="맑은 고딕"/>
                <a:cs typeface="맑은 고딕"/>
              </a:rPr>
              <a:t>AI AGENT FUNDAMENTALS</a:t>
            </a:r>
          </a:p>
        </p:txBody>
      </p:sp>
      <p:sp>
        <p:nvSpPr>
          <p:cNvPr id="2" name="page-01">
            <a:extLst xmlns:a="http://schemas.openxmlformats.org/drawingml/2006/main">
              <a:ext uri="{FF2B5EF4-FFF2-40B4-BE49-F238E27FC236}">
                <a16:creationId xmlns:a16="http://schemas.microsoft.com/office/drawing/2014/main" id="{5365A697-444D-459D-AD51-073633FFDA0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144250" y="238125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979797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979797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3" name="header-rule-01">
            <a:extLst xmlns:a="http://schemas.openxmlformats.org/drawingml/2006/main">
              <a:ext uri="{FF2B5EF4-FFF2-40B4-BE49-F238E27FC236}">
                <a16:creationId xmlns:a16="http://schemas.microsoft.com/office/drawing/2014/main" id="{E216A752-6923-4D7D-9919-5C667C9EA29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57200" y="552450"/>
            <a:ext cx="112776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1-title">
            <a:extLst xmlns:a="http://schemas.openxmlformats.org/drawingml/2006/main">
              <a:ext uri="{FF2B5EF4-FFF2-40B4-BE49-F238E27FC236}">
                <a16:creationId xmlns:a16="http://schemas.microsoft.com/office/drawing/2014/main" id="{CCF096DD-85EA-40B7-A202-20D4543E79D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57200" y="7239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51515"/>
                </a:solidFill>
                <a:latin typeface="맑은 고딕"/>
                <a:ea typeface="맑은 고딕"/>
                <a:cs typeface="맑은 고딕"/>
              </a:defRPr>
            </a:pPr>
            <a:r>
              <a:rPr sz="225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51515"/>
                </a:solidFill>
                <a:latin typeface="맑은 고딕"/>
                <a:ea typeface="맑은 고딕"/>
                <a:cs typeface="맑은 고딕"/>
              </a:rPr>
              <a:t>AI Agent는 모델 하나가 아니라, 역할이 다른 구성요소의 조합</a:t>
            </a:r>
          </a:p>
        </p:txBody>
      </p:sp>
      <p:sp>
        <p:nvSpPr>
          <p:cNvPr id="5" name="s1-subtitle">
            <a:extLst xmlns:a="http://schemas.openxmlformats.org/drawingml/2006/main">
              <a:ext uri="{FF2B5EF4-FFF2-40B4-BE49-F238E27FC236}">
                <a16:creationId xmlns:a16="http://schemas.microsoft.com/office/drawing/2014/main" id="{C9DD262D-9C39-45AD-9DFB-DE502C5E805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66725" y="118110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defRPr>
            </a:pPr>
            <a:r>
              <a:rPr sz="1163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Main Agent가 필요한 기능을 조정하고 Harness가 전체 실행을 안정적으로 운영</a:t>
            </a:r>
          </a:p>
        </p:txBody>
      </p:sp>
      <p:sp>
        <p:nvSpPr>
          <p:cNvPr id="6" name="user-request">
            <a:extLst xmlns:a="http://schemas.openxmlformats.org/drawingml/2006/main">
              <a:ext uri="{FF2B5EF4-FFF2-40B4-BE49-F238E27FC236}">
                <a16:creationId xmlns:a16="http://schemas.microsoft.com/office/drawing/2014/main" id="{8F46B0B4-E5DA-4636-B2D6-519031C909D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57200" y="3171825"/>
            <a:ext cx="11811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51515"/>
            </a:solidFill>
            <a:prstDash val="solid"/>
          </a:ln>
        </p:spPr>
      </p:sp>
      <p:sp>
        <p:nvSpPr>
          <p:cNvPr id="7" name="user-label">
            <a:extLst xmlns:a="http://schemas.openxmlformats.org/drawingml/2006/main">
              <a:ext uri="{FF2B5EF4-FFF2-40B4-BE49-F238E27FC236}">
                <a16:creationId xmlns:a16="http://schemas.microsoft.com/office/drawing/2014/main" id="{8851991B-DD16-481D-A478-4A439BFCEC3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71500" y="328612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51515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51515"/>
                </a:solidFill>
                <a:latin typeface="맑은 고딕"/>
                <a:ea typeface="맑은 고딕"/>
                <a:cs typeface="맑은 고딕"/>
              </a:rPr>
              <a:t>사용자 요청</a:t>
            </a:r>
          </a:p>
        </p:txBody>
      </p:sp>
      <p:sp>
        <p:nvSpPr>
          <p:cNvPr id="8" name="user-desc">
            <a:extLst xmlns:a="http://schemas.openxmlformats.org/drawingml/2006/main">
              <a:ext uri="{FF2B5EF4-FFF2-40B4-BE49-F238E27FC236}">
                <a16:creationId xmlns:a16="http://schemas.microsoft.com/office/drawing/2014/main" id="{FF4F51A1-F0EC-43D4-A058-BF0CA6498E9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52450" y="3590925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63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defRPr>
            </a:pPr>
            <a:r>
              <a:rPr sz="863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질문 · 지시 · 산출물</a:t>
            </a:r>
          </a:p>
        </p:txBody>
      </p:sp>
      <p:sp>
        <p:nvSpPr>
          <p:cNvPr id="9" name="harness-boundary">
            <a:extLst xmlns:a="http://schemas.openxmlformats.org/drawingml/2006/main">
              <a:ext uri="{FF2B5EF4-FFF2-40B4-BE49-F238E27FC236}">
                <a16:creationId xmlns:a16="http://schemas.microsoft.com/office/drawing/2014/main" id="{12CD3702-F759-4B67-8891-664A45BCC74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885950" y="1628775"/>
            <a:ext cx="6534150" cy="4248150"/>
          </a:xfrm>
          <a:prstGeom xmlns:a="http://schemas.openxmlformats.org/drawingml/2006/main" prst="roundRect">
            <a:avLst>
              <a:gd name="adj" fmla="val 1794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1906">
            <a:solidFill>
              <a:srgbClr val="979797"/>
            </a:solidFill>
            <a:prstDash val="solid"/>
          </a:ln>
        </p:spPr>
      </p:sp>
      <p:sp>
        <p:nvSpPr>
          <p:cNvPr id="10" name="label-box-공통 Agent Harness">
            <a:extLst xmlns:a="http://schemas.openxmlformats.org/drawingml/2006/main">
              <a:ext uri="{FF2B5EF4-FFF2-40B4-BE49-F238E27FC236}">
                <a16:creationId xmlns:a16="http://schemas.microsoft.com/office/drawing/2014/main" id="{2E7730FF-7FE4-45B8-BF14-5AD0D1C1D75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095500" y="1781175"/>
            <a:ext cx="1752600" cy="2667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151515"/>
            </a:solidFill>
            <a:prstDash val="solid"/>
          </a:ln>
        </p:spPr>
      </p:sp>
      <p:sp>
        <p:nvSpPr>
          <p:cNvPr id="11" name="label-text-공통 Agent Harness">
            <a:extLst xmlns:a="http://schemas.openxmlformats.org/drawingml/2006/main">
              <a:ext uri="{FF2B5EF4-FFF2-40B4-BE49-F238E27FC236}">
                <a16:creationId xmlns:a16="http://schemas.microsoft.com/office/drawing/2014/main" id="{10D85A8A-44BE-4AD3-A6A3-C00EA94B1C9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190750" y="1781175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공통 Agent Harness</a:t>
            </a:r>
          </a:p>
        </p:txBody>
      </p:sp>
      <p:sp>
        <p:nvSpPr>
          <p:cNvPr id="12" name="harness-purpose">
            <a:extLst xmlns:a="http://schemas.openxmlformats.org/drawingml/2006/main">
              <a:ext uri="{FF2B5EF4-FFF2-40B4-BE49-F238E27FC236}">
                <a16:creationId xmlns:a16="http://schemas.microsoft.com/office/drawing/2014/main" id="{F6DC79E7-6DF1-456F-A101-AB50150B38E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000500" y="1800225"/>
            <a:ext cx="409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38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Agent가 반복적으로 안전하게 실행되도록 전체 과정을 운영·통제</a:t>
            </a:r>
          </a:p>
        </p:txBody>
      </p:sp>
      <p:sp>
        <p:nvSpPr>
          <p:cNvPr id="13" name="harness-band-1">
            <a:extLst xmlns:a="http://schemas.openxmlformats.org/drawingml/2006/main">
              <a:ext uri="{FF2B5EF4-FFF2-40B4-BE49-F238E27FC236}">
                <a16:creationId xmlns:a16="http://schemas.microsoft.com/office/drawing/2014/main" id="{3273683F-51B5-4C2C-B53A-31F75369F2F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095500" y="2171700"/>
            <a:ext cx="188595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303030"/>
          </a:solidFill>
          <a:ln xmlns:a="http://schemas.openxmlformats.org/drawingml/2006/main" w="9525">
            <a:solidFill>
              <a:srgbClr val="303030"/>
            </a:solidFill>
            <a:prstDash val="solid"/>
          </a:ln>
        </p:spPr>
      </p:sp>
      <p:sp>
        <p:nvSpPr>
          <p:cNvPr id="14" name="harness-band-title-1">
            <a:extLst xmlns:a="http://schemas.openxmlformats.org/drawingml/2006/main">
              <a:ext uri="{FF2B5EF4-FFF2-40B4-BE49-F238E27FC236}">
                <a16:creationId xmlns:a16="http://schemas.microsoft.com/office/drawing/2014/main" id="{323896B8-8C42-445B-95EE-AEC1557AE71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209800" y="2247900"/>
            <a:ext cx="16573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013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실행 엔진</a:t>
            </a:r>
          </a:p>
        </p:txBody>
      </p:sp>
      <p:sp>
        <p:nvSpPr>
          <p:cNvPr id="15" name="harness-band-desc-1">
            <a:extLst xmlns:a="http://schemas.openxmlformats.org/drawingml/2006/main">
              <a:ext uri="{FF2B5EF4-FFF2-40B4-BE49-F238E27FC236}">
                <a16:creationId xmlns:a16="http://schemas.microsoft.com/office/drawing/2014/main" id="{CF8DD3E2-B311-474F-95E2-F214528DA6A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209800" y="2457450"/>
            <a:ext cx="16573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5E5E5"/>
                </a:solidFill>
                <a:latin typeface="맑은 고딕"/>
                <a:ea typeface="맑은 고딕"/>
                <a:cs typeface="맑은 고딕"/>
              </a:defRPr>
            </a:pPr>
            <a:r>
              <a:rPr sz="788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5E5E5"/>
                </a:solidFill>
                <a:latin typeface="맑은 고딕"/>
                <a:ea typeface="맑은 고딕"/>
                <a:cs typeface="맑은 고딕"/>
              </a:rPr>
              <a:t>Agent Loop · Context · 작업 상태</a:t>
            </a:r>
          </a:p>
        </p:txBody>
      </p:sp>
      <p:sp>
        <p:nvSpPr>
          <p:cNvPr id="16" name="harness-band-2">
            <a:extLst xmlns:a="http://schemas.openxmlformats.org/drawingml/2006/main">
              <a:ext uri="{FF2B5EF4-FFF2-40B4-BE49-F238E27FC236}">
                <a16:creationId xmlns:a16="http://schemas.microsoft.com/office/drawing/2014/main" id="{8AE5225F-D881-4103-8147-2A9F83E9792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095750" y="2171700"/>
            <a:ext cx="188595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9E9E9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17" name="harness-band-title-2">
            <a:extLst xmlns:a="http://schemas.openxmlformats.org/drawingml/2006/main">
              <a:ext uri="{FF2B5EF4-FFF2-40B4-BE49-F238E27FC236}">
                <a16:creationId xmlns:a16="http://schemas.microsoft.com/office/drawing/2014/main" id="{58A07217-17F0-4ED0-959F-0B41C7CDC9C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210050" y="2247900"/>
            <a:ext cx="16573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51515"/>
                </a:solidFill>
                <a:latin typeface="맑은 고딕"/>
                <a:ea typeface="맑은 고딕"/>
                <a:cs typeface="맑은 고딕"/>
              </a:defRPr>
            </a:pPr>
            <a:r>
              <a:rPr sz="1013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51515"/>
                </a:solidFill>
                <a:latin typeface="맑은 고딕"/>
                <a:ea typeface="맑은 고딕"/>
                <a:cs typeface="맑은 고딕"/>
              </a:rPr>
              <a:t>정책 설정</a:t>
            </a:r>
          </a:p>
        </p:txBody>
      </p:sp>
      <p:sp>
        <p:nvSpPr>
          <p:cNvPr id="18" name="harness-band-desc-2">
            <a:extLst xmlns:a="http://schemas.openxmlformats.org/drawingml/2006/main">
              <a:ext uri="{FF2B5EF4-FFF2-40B4-BE49-F238E27FC236}">
                <a16:creationId xmlns:a16="http://schemas.microsoft.com/office/drawing/2014/main" id="{6F32C2EB-685B-4EC4-9C5C-CC6D8136437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210050" y="2457450"/>
            <a:ext cx="16573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defRPr>
            </a:pPr>
            <a:r>
              <a:rPr sz="788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Tool 범위 · 실행 한도 · 승인 조건</a:t>
            </a:r>
          </a:p>
        </p:txBody>
      </p:sp>
      <p:sp>
        <p:nvSpPr>
          <p:cNvPr id="19" name="harness-band-3">
            <a:extLst xmlns:a="http://schemas.openxmlformats.org/drawingml/2006/main">
              <a:ext uri="{FF2B5EF4-FFF2-40B4-BE49-F238E27FC236}">
                <a16:creationId xmlns:a16="http://schemas.microsoft.com/office/drawing/2014/main" id="{DA881F52-6C7C-4098-B5EA-75FED5C6ACF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096000" y="2171700"/>
            <a:ext cx="20955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20" name="harness-band-title-3">
            <a:extLst xmlns:a="http://schemas.openxmlformats.org/drawingml/2006/main">
              <a:ext uri="{FF2B5EF4-FFF2-40B4-BE49-F238E27FC236}">
                <a16:creationId xmlns:a16="http://schemas.microsoft.com/office/drawing/2014/main" id="{91849A58-096C-40DC-AF51-7130CB68645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210300" y="2247900"/>
            <a:ext cx="18669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51515"/>
                </a:solidFill>
                <a:latin typeface="맑은 고딕"/>
                <a:ea typeface="맑은 고딕"/>
                <a:cs typeface="맑은 고딕"/>
              </a:defRPr>
            </a:pPr>
            <a:r>
              <a:rPr sz="1013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51515"/>
                </a:solidFill>
                <a:latin typeface="맑은 고딕"/>
                <a:ea typeface="맑은 고딕"/>
                <a:cs typeface="맑은 고딕"/>
              </a:rPr>
              <a:t>운영 지침</a:t>
            </a:r>
          </a:p>
        </p:txBody>
      </p:sp>
      <p:sp>
        <p:nvSpPr>
          <p:cNvPr id="21" name="harness-band-desc-3">
            <a:extLst xmlns:a="http://schemas.openxmlformats.org/drawingml/2006/main">
              <a:ext uri="{FF2B5EF4-FFF2-40B4-BE49-F238E27FC236}">
                <a16:creationId xmlns:a16="http://schemas.microsoft.com/office/drawing/2014/main" id="{E0F06B31-EC7B-4631-9714-308BED7D06B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210300" y="2457450"/>
            <a:ext cx="18669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defRPr>
            </a:pPr>
            <a:r>
              <a:rPr sz="788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행동원칙 · 응답 방식 · 금지사항</a:t>
            </a:r>
          </a:p>
        </p:txBody>
      </p:sp>
      <p:sp>
        <p:nvSpPr>
          <p:cNvPr id="22" name="skill">
            <a:extLst xmlns:a="http://schemas.openxmlformats.org/drawingml/2006/main">
              <a:ext uri="{FF2B5EF4-FFF2-40B4-BE49-F238E27FC236}">
                <a16:creationId xmlns:a16="http://schemas.microsoft.com/office/drawing/2014/main" id="{E208A2F9-5D9A-4890-9E57-6D35DE4864C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143125" y="4400550"/>
            <a:ext cx="1562100" cy="695325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4A4A4A"/>
            </a:solidFill>
            <a:prstDash val="solid"/>
          </a:ln>
        </p:spPr>
      </p:sp>
      <p:sp>
        <p:nvSpPr>
          <p:cNvPr id="23" name="skill-title">
            <a:extLst xmlns:a="http://schemas.openxmlformats.org/drawingml/2006/main">
              <a:ext uri="{FF2B5EF4-FFF2-40B4-BE49-F238E27FC236}">
                <a16:creationId xmlns:a16="http://schemas.microsoft.com/office/drawing/2014/main" id="{AADF85B6-FE9C-479D-9DD0-4B9956C5BA4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286000" y="4467225"/>
            <a:ext cx="1276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51515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51515"/>
                </a:solidFill>
                <a:latin typeface="맑은 고딕"/>
                <a:ea typeface="맑은 고딕"/>
                <a:cs typeface="맑은 고딕"/>
              </a:rPr>
              <a:t>Skill</a:t>
            </a:r>
          </a:p>
        </p:txBody>
      </p:sp>
      <p:sp>
        <p:nvSpPr>
          <p:cNvPr id="24" name="skill-desc">
            <a:extLst xmlns:a="http://schemas.openxmlformats.org/drawingml/2006/main">
              <a:ext uri="{FF2B5EF4-FFF2-40B4-BE49-F238E27FC236}">
                <a16:creationId xmlns:a16="http://schemas.microsoft.com/office/drawing/2014/main" id="{91DC361A-894D-40A3-8205-C076DEEE1FA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266950" y="4714875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10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defRPr>
            </a:pPr>
            <a:r>
              <a:rPr sz="810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업무 절차 · 판단 기준</a:t>
            </a:r>
          </a:p>
          <a:p xmlns:a="http://schemas.openxmlformats.org/drawingml/2006/main">
            <a:pPr algn="ctr">
              <a:defRPr sz="810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defRPr>
            </a:pPr>
            <a:r>
              <a:rPr sz="810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주의사항 · 결과 형식</a:t>
            </a:r>
          </a:p>
        </p:txBody>
      </p:sp>
      <p:sp>
        <p:nvSpPr>
          <p:cNvPr id="25" name="main-agent">
            <a:extLst xmlns:a="http://schemas.openxmlformats.org/drawingml/2006/main">
              <a:ext uri="{FF2B5EF4-FFF2-40B4-BE49-F238E27FC236}">
                <a16:creationId xmlns:a16="http://schemas.microsoft.com/office/drawing/2014/main" id="{7D459520-F3C8-4DEC-8DAF-B6A9E65428F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010025" y="2990850"/>
            <a:ext cx="23241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151515"/>
            </a:solidFill>
            <a:prstDash val="solid"/>
          </a:ln>
        </p:spPr>
      </p:sp>
      <p:sp>
        <p:nvSpPr>
          <p:cNvPr id="26" name="main-kicker">
            <a:extLst xmlns:a="http://schemas.openxmlformats.org/drawingml/2006/main">
              <a:ext uri="{FF2B5EF4-FFF2-40B4-BE49-F238E27FC236}">
                <a16:creationId xmlns:a16="http://schemas.microsoft.com/office/drawing/2014/main" id="{BE670A78-3F1B-45D9-AA16-BA6DEA95B74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200525" y="3105150"/>
            <a:ext cx="1943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BEBEBE"/>
                </a:solidFill>
                <a:latin typeface="맑은 고딕"/>
                <a:ea typeface="맑은 고딕"/>
                <a:cs typeface="맑은 고딕"/>
              </a:defRPr>
            </a:pPr>
            <a:r>
              <a:rPr sz="713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BEBEBE"/>
                </a:solidFill>
                <a:latin typeface="맑은 고딕"/>
                <a:ea typeface="맑은 고딕"/>
                <a:cs typeface="맑은 고딕"/>
              </a:rPr>
              <a:t>ORCHESTRATION</a:t>
            </a:r>
          </a:p>
        </p:txBody>
      </p:sp>
      <p:sp>
        <p:nvSpPr>
          <p:cNvPr id="27" name="main-title">
            <a:extLst xmlns:a="http://schemas.openxmlformats.org/drawingml/2006/main">
              <a:ext uri="{FF2B5EF4-FFF2-40B4-BE49-F238E27FC236}">
                <a16:creationId xmlns:a16="http://schemas.microsoft.com/office/drawing/2014/main" id="{14069912-DE24-4F0C-8F0A-B64DE235B3E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191000" y="3314700"/>
            <a:ext cx="1962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Super / Main Agent</a:t>
            </a:r>
          </a:p>
        </p:txBody>
      </p:sp>
      <p:sp>
        <p:nvSpPr>
          <p:cNvPr id="28" name="main-desc">
            <a:extLst xmlns:a="http://schemas.openxmlformats.org/drawingml/2006/main">
              <a:ext uri="{FF2B5EF4-FFF2-40B4-BE49-F238E27FC236}">
                <a16:creationId xmlns:a16="http://schemas.microsoft.com/office/drawing/2014/main" id="{B3BBFB7D-66CD-440D-9870-539A3DF83D7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238625" y="3648075"/>
            <a:ext cx="1866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63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1E1E1"/>
                </a:solidFill>
                <a:latin typeface="맑은 고딕"/>
                <a:ea typeface="맑은 고딕"/>
                <a:cs typeface="맑은 고딕"/>
              </a:defRPr>
            </a:pPr>
            <a:r>
              <a:rPr sz="863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1E1E1"/>
                </a:solidFill>
                <a:latin typeface="맑은 고딕"/>
                <a:ea typeface="맑은 고딕"/>
                <a:cs typeface="맑은 고딕"/>
              </a:rPr>
              <a:t>질문 이해 · 계획 수립 · 기능 선택</a:t>
            </a:r>
          </a:p>
          <a:p xmlns:a="http://schemas.openxmlformats.org/drawingml/2006/main">
            <a:pPr algn="ctr">
              <a:defRPr sz="863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1E1E1"/>
                </a:solidFill>
                <a:latin typeface="맑은 고딕"/>
                <a:ea typeface="맑은 고딕"/>
                <a:cs typeface="맑은 고딕"/>
              </a:defRPr>
            </a:pPr>
            <a:r>
              <a:rPr sz="863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1E1E1"/>
                </a:solidFill>
                <a:latin typeface="맑은 고딕"/>
                <a:ea typeface="맑은 고딕"/>
                <a:cs typeface="맑은 고딕"/>
              </a:rPr>
              <a:t>실행 조정 · 결과 통합</a:t>
            </a:r>
          </a:p>
        </p:txBody>
      </p:sp>
      <p:sp>
        <p:nvSpPr>
          <p:cNvPr id="29" name="sub-agent">
            <a:extLst xmlns:a="http://schemas.openxmlformats.org/drawingml/2006/main">
              <a:ext uri="{FF2B5EF4-FFF2-40B4-BE49-F238E27FC236}">
                <a16:creationId xmlns:a16="http://schemas.microsoft.com/office/drawing/2014/main" id="{3CB6486B-701E-4BE7-AA05-857928179D5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648450" y="3114675"/>
            <a:ext cx="1543050" cy="9144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4A4A4A"/>
            </a:solidFill>
            <a:prstDash val="solid"/>
          </a:ln>
        </p:spPr>
      </p:sp>
      <p:sp>
        <p:nvSpPr>
          <p:cNvPr id="30" name="sub-title">
            <a:extLst xmlns:a="http://schemas.openxmlformats.org/drawingml/2006/main">
              <a:ext uri="{FF2B5EF4-FFF2-40B4-BE49-F238E27FC236}">
                <a16:creationId xmlns:a16="http://schemas.microsoft.com/office/drawing/2014/main" id="{2BCF8A91-F6BF-42A4-8FD5-11AE5F2C52B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800850" y="32194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51515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51515"/>
                </a:solidFill>
                <a:latin typeface="맑은 고딕"/>
                <a:ea typeface="맑은 고딕"/>
                <a:cs typeface="맑은 고딕"/>
              </a:rPr>
              <a:t>Sub Agent</a:t>
            </a:r>
          </a:p>
        </p:txBody>
      </p:sp>
      <p:sp>
        <p:nvSpPr>
          <p:cNvPr id="31" name="sub-desc">
            <a:extLst xmlns:a="http://schemas.openxmlformats.org/drawingml/2006/main">
              <a:ext uri="{FF2B5EF4-FFF2-40B4-BE49-F238E27FC236}">
                <a16:creationId xmlns:a16="http://schemas.microsoft.com/office/drawing/2014/main" id="{401FCF7E-B54A-484F-8294-75271578264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781800" y="3505200"/>
            <a:ext cx="12763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63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defRPr>
            </a:pPr>
            <a:r>
              <a:rPr sz="863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전문 판단 · 독립 Context</a:t>
            </a:r>
          </a:p>
          <a:p xmlns:a="http://schemas.openxmlformats.org/drawingml/2006/main">
            <a:pPr algn="ctr">
              <a:defRPr sz="863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defRPr>
            </a:pPr>
            <a:r>
              <a:rPr sz="863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필요한 경우만 위임</a:t>
            </a:r>
          </a:p>
        </p:txBody>
      </p:sp>
      <p:sp>
        <p:nvSpPr>
          <p:cNvPr id="32" name="mcp-client">
            <a:extLst xmlns:a="http://schemas.openxmlformats.org/drawingml/2006/main">
              <a:ext uri="{FF2B5EF4-FFF2-40B4-BE49-F238E27FC236}">
                <a16:creationId xmlns:a16="http://schemas.microsoft.com/office/drawing/2014/main" id="{3733DA2F-9853-457A-A506-05C651C2A30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476750" y="4400550"/>
            <a:ext cx="1943100" cy="695325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4A4A4A"/>
            </a:solidFill>
            <a:prstDash val="solid"/>
          </a:ln>
        </p:spPr>
      </p:sp>
      <p:sp>
        <p:nvSpPr>
          <p:cNvPr id="33" name="mcp-client-title">
            <a:extLst xmlns:a="http://schemas.openxmlformats.org/drawingml/2006/main">
              <a:ext uri="{FF2B5EF4-FFF2-40B4-BE49-F238E27FC236}">
                <a16:creationId xmlns:a16="http://schemas.microsoft.com/office/drawing/2014/main" id="{10D160BE-2B03-443D-954B-60F18E2A7C4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629150" y="4467225"/>
            <a:ext cx="1638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63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51515"/>
                </a:solidFill>
                <a:latin typeface="맑은 고딕"/>
                <a:ea typeface="맑은 고딕"/>
                <a:cs typeface="맑은 고딕"/>
              </a:defRPr>
            </a:pPr>
            <a:r>
              <a:rPr sz="1163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51515"/>
                </a:solidFill>
                <a:latin typeface="맑은 고딕"/>
                <a:ea typeface="맑은 고딕"/>
                <a:cs typeface="맑은 고딕"/>
              </a:rPr>
              <a:t>MCP Client</a:t>
            </a:r>
          </a:p>
        </p:txBody>
      </p:sp>
      <p:sp>
        <p:nvSpPr>
          <p:cNvPr id="34" name="mcp-client-desc">
            <a:extLst xmlns:a="http://schemas.openxmlformats.org/drawingml/2006/main">
              <a:ext uri="{FF2B5EF4-FFF2-40B4-BE49-F238E27FC236}">
                <a16:creationId xmlns:a16="http://schemas.microsoft.com/office/drawing/2014/main" id="{BC4F1046-E849-4B86-AD1B-0642479C50B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629150" y="4733925"/>
            <a:ext cx="16383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Tool 탐색 · 호출 · 결과 수신</a:t>
            </a:r>
          </a:p>
        </p:txBody>
      </p:sp>
      <p:sp>
        <p:nvSpPr>
          <p:cNvPr id="35" name="harness-control-strip">
            <a:extLst xmlns:a="http://schemas.openxmlformats.org/drawingml/2006/main">
              <a:ext uri="{FF2B5EF4-FFF2-40B4-BE49-F238E27FC236}">
                <a16:creationId xmlns:a16="http://schemas.microsoft.com/office/drawing/2014/main" id="{315CB204-17FE-45F8-AB56-B6FA22BE9DE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095500" y="5305425"/>
            <a:ext cx="6096000" cy="371475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E9E9E9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36" name="harness-control-text">
            <a:extLst xmlns:a="http://schemas.openxmlformats.org/drawingml/2006/main">
              <a:ext uri="{FF2B5EF4-FFF2-40B4-BE49-F238E27FC236}">
                <a16:creationId xmlns:a16="http://schemas.microsoft.com/office/drawing/2014/main" id="{E163A51E-1128-4FA6-B130-2A1B74813B6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286000" y="538162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A4A4A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A4A4A"/>
                </a:solidFill>
                <a:latin typeface="맑은 고딕"/>
                <a:ea typeface="맑은 고딕"/>
                <a:cs typeface="맑은 고딕"/>
              </a:rPr>
              <a:t>권한 · 승인 · 실행 제한 · 오류 복구 · 결과 검증 · 로그를 공통 관리</a:t>
            </a:r>
          </a:p>
        </p:txBody>
      </p:sp>
      <p:sp>
        <p:nvSpPr>
          <p:cNvPr id="37" name="tool-zone">
            <a:extLst xmlns:a="http://schemas.openxmlformats.org/drawingml/2006/main">
              <a:ext uri="{FF2B5EF4-FFF2-40B4-BE49-F238E27FC236}">
                <a16:creationId xmlns:a16="http://schemas.microsoft.com/office/drawing/2014/main" id="{DA62926D-E4F0-494D-B145-FC02408D525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858250" y="1838325"/>
            <a:ext cx="2876550" cy="3314700"/>
          </a:xfrm>
          <a:prstGeom xmlns:a="http://schemas.openxmlformats.org/drawingml/2006/main" prst="roundRect">
            <a:avLst>
              <a:gd name="adj" fmla="val 26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51515"/>
            </a:solidFill>
            <a:prstDash val="solid"/>
          </a:ln>
        </p:spPr>
      </p:sp>
      <p:sp>
        <p:nvSpPr>
          <p:cNvPr id="38" name="tool-zone-kicker">
            <a:extLst xmlns:a="http://schemas.openxmlformats.org/drawingml/2006/main">
              <a:ext uri="{FF2B5EF4-FFF2-40B4-BE49-F238E27FC236}">
                <a16:creationId xmlns:a16="http://schemas.microsoft.com/office/drawing/2014/main" id="{86043B86-D96F-41B4-8C0E-898F8E19CA4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067800" y="1990725"/>
            <a:ext cx="2457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13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979797"/>
                </a:solidFill>
                <a:latin typeface="맑은 고딕"/>
                <a:ea typeface="맑은 고딕"/>
                <a:cs typeface="맑은 고딕"/>
              </a:defRPr>
            </a:pPr>
            <a:r>
              <a:rPr sz="713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979797"/>
                </a:solidFill>
                <a:latin typeface="맑은 고딕"/>
                <a:ea typeface="맑은 고딕"/>
                <a:cs typeface="맑은 고딕"/>
              </a:rPr>
              <a:t>EXECUTION</a:t>
            </a:r>
          </a:p>
        </p:txBody>
      </p:sp>
      <p:sp>
        <p:nvSpPr>
          <p:cNvPr id="39" name="tool-zone-title">
            <a:extLst xmlns:a="http://schemas.openxmlformats.org/drawingml/2006/main">
              <a:ext uri="{FF2B5EF4-FFF2-40B4-BE49-F238E27FC236}">
                <a16:creationId xmlns:a16="http://schemas.microsoft.com/office/drawing/2014/main" id="{31A67B39-BFDF-4A56-B73B-5323017366C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067800" y="2181225"/>
            <a:ext cx="2457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51515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51515"/>
                </a:solidFill>
                <a:latin typeface="맑은 고딕"/>
                <a:ea typeface="맑은 고딕"/>
                <a:cs typeface="맑은 고딕"/>
              </a:rPr>
              <a:t>MCP Server / Tool 제공 영역</a:t>
            </a:r>
          </a:p>
        </p:txBody>
      </p:sp>
      <p:sp>
        <p:nvSpPr>
          <p:cNvPr id="40" name="tool-zone-desc">
            <a:extLst xmlns:a="http://schemas.openxmlformats.org/drawingml/2006/main">
              <a:ext uri="{FF2B5EF4-FFF2-40B4-BE49-F238E27FC236}">
                <a16:creationId xmlns:a16="http://schemas.microsoft.com/office/drawing/2014/main" id="{9493BEBD-6DE4-4B53-B36A-0D0B4E6BD9E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067800" y="2457450"/>
            <a:ext cx="2457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defRPr>
            </a:pPr>
            <a:r>
              <a:rPr sz="863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실제 데이터를 조회하고 로직·파일·시스템 처리를 수행</a:t>
            </a:r>
          </a:p>
        </p:txBody>
      </p:sp>
      <p:sp>
        <p:nvSpPr>
          <p:cNvPr id="41" name="tool-scope-note">
            <a:extLst xmlns:a="http://schemas.openxmlformats.org/drawingml/2006/main">
              <a:ext uri="{FF2B5EF4-FFF2-40B4-BE49-F238E27FC236}">
                <a16:creationId xmlns:a16="http://schemas.microsoft.com/office/drawing/2014/main" id="{168BC219-8C16-4C4E-8416-3C83D5EF833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067800" y="2762250"/>
            <a:ext cx="2457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3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A4A4A"/>
                </a:solidFill>
                <a:latin typeface="맑은 고딕"/>
                <a:ea typeface="맑은 고딕"/>
                <a:cs typeface="맑은 고딕"/>
              </a:defRPr>
            </a:pPr>
            <a:r>
              <a:rPr sz="73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A4A4A"/>
                </a:solidFill>
                <a:latin typeface="맑은 고딕"/>
                <a:ea typeface="맑은 고딕"/>
                <a:cs typeface="맑은 고딕"/>
              </a:rPr>
              <a:t>단위 기능 · 완결된 복합 업무 단위 모두 가능</a:t>
            </a:r>
          </a:p>
        </p:txBody>
      </p:sp>
      <p:sp>
        <p:nvSpPr>
          <p:cNvPr id="42" name="tool-row-rule-1">
            <a:extLst xmlns:a="http://schemas.openxmlformats.org/drawingml/2006/main">
              <a:ext uri="{FF2B5EF4-FFF2-40B4-BE49-F238E27FC236}">
                <a16:creationId xmlns:a16="http://schemas.microsoft.com/office/drawing/2014/main" id="{5CC40B9C-95F5-41DD-BFB8-9635FBC0D33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067800" y="3000375"/>
            <a:ext cx="2457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tool-row-num-1">
            <a:extLst xmlns:a="http://schemas.openxmlformats.org/drawingml/2006/main">
              <a:ext uri="{FF2B5EF4-FFF2-40B4-BE49-F238E27FC236}">
                <a16:creationId xmlns:a16="http://schemas.microsoft.com/office/drawing/2014/main" id="{D9F3C9C0-A208-449C-8B80-6BE8F9DAB72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067800" y="307657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979797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979797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44" name="tool-row-title-1">
            <a:extLst xmlns:a="http://schemas.openxmlformats.org/drawingml/2006/main">
              <a:ext uri="{FF2B5EF4-FFF2-40B4-BE49-F238E27FC236}">
                <a16:creationId xmlns:a16="http://schemas.microsoft.com/office/drawing/2014/main" id="{5D40822A-2CE6-4B5F-B746-08EE6A1F5DA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477375" y="3067050"/>
            <a:ext cx="19526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51515"/>
                </a:solidFill>
                <a:latin typeface="맑은 고딕"/>
                <a:ea typeface="맑은 고딕"/>
                <a:cs typeface="맑은 고딕"/>
              </a:defRPr>
            </a:pPr>
            <a:r>
              <a:rPr sz="1088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51515"/>
                </a:solidFill>
                <a:latin typeface="맑은 고딕"/>
                <a:ea typeface="맑은 고딕"/>
                <a:cs typeface="맑은 고딕"/>
              </a:rPr>
              <a:t>데이터 조회</a:t>
            </a:r>
          </a:p>
        </p:txBody>
      </p:sp>
      <p:sp>
        <p:nvSpPr>
          <p:cNvPr id="45" name="tool-row-desc-1">
            <a:extLst xmlns:a="http://schemas.openxmlformats.org/drawingml/2006/main">
              <a:ext uri="{FF2B5EF4-FFF2-40B4-BE49-F238E27FC236}">
                <a16:creationId xmlns:a16="http://schemas.microsoft.com/office/drawing/2014/main" id="{F7B25706-33E2-4EFE-93F9-61289DBA4AD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477375" y="3314700"/>
            <a:ext cx="1952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defRPr>
            </a:pPr>
            <a:r>
              <a:rPr sz="788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DB · API · 문서</a:t>
            </a:r>
          </a:p>
        </p:txBody>
      </p:sp>
      <p:sp>
        <p:nvSpPr>
          <p:cNvPr id="46" name="tool-row-rule-2">
            <a:extLst xmlns:a="http://schemas.openxmlformats.org/drawingml/2006/main">
              <a:ext uri="{FF2B5EF4-FFF2-40B4-BE49-F238E27FC236}">
                <a16:creationId xmlns:a16="http://schemas.microsoft.com/office/drawing/2014/main" id="{CCECFD2B-8B65-47C5-8876-F6AC89EE32D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067800" y="3609975"/>
            <a:ext cx="2457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tool-row-num-2">
            <a:extLst xmlns:a="http://schemas.openxmlformats.org/drawingml/2006/main">
              <a:ext uri="{FF2B5EF4-FFF2-40B4-BE49-F238E27FC236}">
                <a16:creationId xmlns:a16="http://schemas.microsoft.com/office/drawing/2014/main" id="{534E471D-B67A-46E1-B6FF-FB05C3583B8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067800" y="368617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979797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979797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48" name="tool-row-title-2">
            <a:extLst xmlns:a="http://schemas.openxmlformats.org/drawingml/2006/main">
              <a:ext uri="{FF2B5EF4-FFF2-40B4-BE49-F238E27FC236}">
                <a16:creationId xmlns:a16="http://schemas.microsoft.com/office/drawing/2014/main" id="{1703F284-E32B-4D34-B2F7-F20DD9DB031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477375" y="3676650"/>
            <a:ext cx="19526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51515"/>
                </a:solidFill>
                <a:latin typeface="맑은 고딕"/>
                <a:ea typeface="맑은 고딕"/>
                <a:cs typeface="맑은 고딕"/>
              </a:defRPr>
            </a:pPr>
            <a:r>
              <a:rPr sz="1088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51515"/>
                </a:solidFill>
                <a:latin typeface="맑은 고딕"/>
                <a:ea typeface="맑은 고딕"/>
                <a:cs typeface="맑은 고딕"/>
              </a:rPr>
              <a:t>분석·업무 로직</a:t>
            </a:r>
          </a:p>
        </p:txBody>
      </p:sp>
      <p:sp>
        <p:nvSpPr>
          <p:cNvPr id="49" name="tool-row-desc-2">
            <a:extLst xmlns:a="http://schemas.openxmlformats.org/drawingml/2006/main">
              <a:ext uri="{FF2B5EF4-FFF2-40B4-BE49-F238E27FC236}">
                <a16:creationId xmlns:a16="http://schemas.microsoft.com/office/drawing/2014/main" id="{DC0A7AD1-3CBD-42C9-8597-83429C95FC4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477375" y="3924300"/>
            <a:ext cx="1952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defRPr>
            </a:pPr>
            <a:r>
              <a:rPr sz="788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계산 · 예측 · 판단 로직</a:t>
            </a:r>
          </a:p>
        </p:txBody>
      </p:sp>
      <p:sp>
        <p:nvSpPr>
          <p:cNvPr id="50" name="tool-row-rule-3">
            <a:extLst xmlns:a="http://schemas.openxmlformats.org/drawingml/2006/main">
              <a:ext uri="{FF2B5EF4-FFF2-40B4-BE49-F238E27FC236}">
                <a16:creationId xmlns:a16="http://schemas.microsoft.com/office/drawing/2014/main" id="{260AF186-55B6-4583-912E-0CFA9B18740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067800" y="4219575"/>
            <a:ext cx="2457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tool-row-num-3">
            <a:extLst xmlns:a="http://schemas.openxmlformats.org/drawingml/2006/main">
              <a:ext uri="{FF2B5EF4-FFF2-40B4-BE49-F238E27FC236}">
                <a16:creationId xmlns:a16="http://schemas.microsoft.com/office/drawing/2014/main" id="{59FC11FA-65F3-4AFF-87A9-2292A89A3AE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067800" y="429577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979797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979797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52" name="tool-row-title-3">
            <a:extLst xmlns:a="http://schemas.openxmlformats.org/drawingml/2006/main">
              <a:ext uri="{FF2B5EF4-FFF2-40B4-BE49-F238E27FC236}">
                <a16:creationId xmlns:a16="http://schemas.microsoft.com/office/drawing/2014/main" id="{35D038B5-AFB8-4FC2-812F-3B0CBA220C6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477375" y="4286250"/>
            <a:ext cx="19526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51515"/>
                </a:solidFill>
                <a:latin typeface="맑은 고딕"/>
                <a:ea typeface="맑은 고딕"/>
                <a:cs typeface="맑은 고딕"/>
              </a:defRPr>
            </a:pPr>
            <a:r>
              <a:rPr sz="1088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51515"/>
                </a:solidFill>
                <a:latin typeface="맑은 고딕"/>
                <a:ea typeface="맑은 고딕"/>
                <a:cs typeface="맑은 고딕"/>
              </a:rPr>
              <a:t>파일·시스템 처리</a:t>
            </a:r>
          </a:p>
        </p:txBody>
      </p:sp>
      <p:sp>
        <p:nvSpPr>
          <p:cNvPr id="53" name="tool-row-desc-3">
            <a:extLst xmlns:a="http://schemas.openxmlformats.org/drawingml/2006/main">
              <a:ext uri="{FF2B5EF4-FFF2-40B4-BE49-F238E27FC236}">
                <a16:creationId xmlns:a16="http://schemas.microsoft.com/office/drawing/2014/main" id="{58225829-990F-4685-91AC-FFD6C030D33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477375" y="4533900"/>
            <a:ext cx="1952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defRPr>
            </a:pPr>
            <a:r>
              <a:rPr sz="788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HTML · PPT · 변경 요청</a:t>
            </a:r>
          </a:p>
        </p:txBody>
      </p:sp>
      <p:sp>
        <p:nvSpPr>
          <p:cNvPr id="54" name="mcp-server-endpoint">
            <a:extLst xmlns:a="http://schemas.openxmlformats.org/drawingml/2006/main">
              <a:ext uri="{FF2B5EF4-FFF2-40B4-BE49-F238E27FC236}">
                <a16:creationId xmlns:a16="http://schemas.microsoft.com/office/drawing/2014/main" id="{C451B475-2303-48D5-898C-3C38C6318E3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067800" y="4810125"/>
            <a:ext cx="2457450" cy="228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303030"/>
          </a:solidFill>
          <a:ln xmlns:a="http://schemas.openxmlformats.org/drawingml/2006/main" w="9525">
            <a:solidFill>
              <a:srgbClr val="303030"/>
            </a:solidFill>
            <a:prstDash val="solid"/>
          </a:ln>
        </p:spPr>
      </p:sp>
      <p:sp>
        <p:nvSpPr>
          <p:cNvPr id="55" name="mcp-server-endpoint-text">
            <a:extLst xmlns:a="http://schemas.openxmlformats.org/drawingml/2006/main">
              <a:ext uri="{FF2B5EF4-FFF2-40B4-BE49-F238E27FC236}">
                <a16:creationId xmlns:a16="http://schemas.microsoft.com/office/drawing/2014/main" id="{17E14DE6-302B-4253-AD9C-85B0D3B29FF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201150" y="483870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788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MCP Server Endpoint</a:t>
            </a:r>
          </a:p>
        </p:txBody>
      </p:sp>
      <p:sp>
        <p:nvSpPr>
          <p:cNvPr id="56" name="business-systems">
            <a:extLst xmlns:a="http://schemas.openxmlformats.org/drawingml/2006/main">
              <a:ext uri="{FF2B5EF4-FFF2-40B4-BE49-F238E27FC236}">
                <a16:creationId xmlns:a16="http://schemas.microsoft.com/office/drawing/2014/main" id="{7D408323-3411-48F9-AD9B-E7FD88E0B30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858250" y="5391150"/>
            <a:ext cx="2876550" cy="48577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03030"/>
          </a:solidFill>
          <a:ln xmlns:a="http://schemas.openxmlformats.org/drawingml/2006/main" w="9525">
            <a:solidFill>
              <a:srgbClr val="303030"/>
            </a:solidFill>
            <a:prstDash val="solid"/>
          </a:ln>
        </p:spPr>
      </p:sp>
      <p:sp>
        <p:nvSpPr>
          <p:cNvPr id="57" name="business-systems-text">
            <a:extLst xmlns:a="http://schemas.openxmlformats.org/drawingml/2006/main">
              <a:ext uri="{FF2B5EF4-FFF2-40B4-BE49-F238E27FC236}">
                <a16:creationId xmlns:a16="http://schemas.microsoft.com/office/drawing/2014/main" id="{DCB1D198-5876-4C05-BC22-6FCF84836D6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048750" y="5514975"/>
            <a:ext cx="2495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05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DB · API · 기존 업무시스템</a:t>
            </a:r>
          </a:p>
        </p:txBody>
      </p:sp>
      <p:cxnSp>
        <p:nvCxnSpPr>
          <p:cNvPr id="127" name=""/>
          <p:cNvCxnSpPr>
            <a:stCxn xmlns:a="http://schemas.openxmlformats.org/drawingml/2006/main" id="6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 flipV="1">
            <a:off x="1638300" y="3571875"/>
            <a:ext cx="2371725" cy="9525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4A4A4A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128" name=""/>
          <p:cNvCxnSpPr>
            <a:stCxn xmlns:a="http://schemas.openxmlformats.org/drawingml/2006/main" id="25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 flipH="1">
            <a:off x="2924175" y="4152900"/>
            <a:ext cx="2247900" cy="2476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1430">
            <a:solidFill>
              <a:srgbClr val="777777"/>
            </a:solidFill>
            <a:prstDash val="dash"/>
            <a:headEnd type="none" w="med" len="med"/>
            <a:tailEnd type="arrow" w="sm" len="sm"/>
          </a:ln>
        </p:spPr>
      </p:cxnSp>
      <p:cxnSp>
        <p:nvCxnSpPr>
          <p:cNvPr id="129" name=""/>
          <p:cNvCxnSpPr>
            <a:stCxn xmlns:a="http://schemas.openxmlformats.org/drawingml/2006/main" id="25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6334125" y="3571875"/>
            <a:ext cx="314325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777777"/>
            </a:solidFill>
            <a:prstDash val="dash"/>
            <a:headEnd type="none" w="med" len="med"/>
            <a:tailEnd type="arrow" w="sm" len="sm"/>
          </a:ln>
        </p:spPr>
      </p:cxnSp>
      <p:cxnSp>
        <p:nvCxnSpPr>
          <p:cNvPr id="130" name=""/>
          <p:cNvCxnSpPr>
            <a:stCxn xmlns:a="http://schemas.openxmlformats.org/drawingml/2006/main" id="25" idx="2"/>
            <a:endCxn xmlns:a="http://schemas.openxmlformats.org/drawingml/2006/main" id="32" idx="0"/>
          </p:cNvCxnSpPr>
          <p:nvPr/>
        </p:nvCxnSpPr>
        <p:spPr>
          <a:xfrm xmlns:a="http://schemas.openxmlformats.org/drawingml/2006/main">
            <a:off x="5172075" y="4152900"/>
            <a:ext cx="276225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4A4A4A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131" name=""/>
          <p:cNvCxnSpPr>
            <a:stCxn xmlns:a="http://schemas.openxmlformats.org/drawingml/2006/main" id="32" idx="3"/>
            <a:endCxn xmlns:a="http://schemas.openxmlformats.org/drawingml/2006/main" id="54" idx="1"/>
          </p:cNvCxnSpPr>
          <p:nvPr/>
        </p:nvCxnSpPr>
        <p:spPr>
          <a:xfrm xmlns:a="http://schemas.openxmlformats.org/drawingml/2006/main">
            <a:off x="6419850" y="4748213"/>
            <a:ext cx="2647950" cy="176213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4A4A4A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132" name=""/>
          <p:cNvCxnSpPr>
            <a:stCxn xmlns:a="http://schemas.openxmlformats.org/drawingml/2006/main" id="37" idx="2"/>
            <a:endCxn xmlns:a="http://schemas.openxmlformats.org/drawingml/2006/main" id="56" idx="0"/>
          </p:cNvCxnSpPr>
          <p:nvPr/>
        </p:nvCxnSpPr>
        <p:spPr>
          <a:xfrm xmlns:a="http://schemas.openxmlformats.org/drawingml/2006/main">
            <a:off x="10296525" y="5153025"/>
            <a:ext cx="0" cy="23812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4A4A4A"/>
            </a:solidFill>
            <a:prstDash val="solid"/>
            <a:headEnd type="none" w="med" len="med"/>
            <a:tailEnd type="arrow" w="sm" len="sm"/>
          </a:ln>
        </p:spPr>
      </p:cxnSp>
      <p:sp>
        <p:nvSpPr>
          <p:cNvPr id="64" name="skill-link-label">
            <a:extLst xmlns:a="http://schemas.openxmlformats.org/drawingml/2006/main">
              <a:ext uri="{FF2B5EF4-FFF2-40B4-BE49-F238E27FC236}">
                <a16:creationId xmlns:a16="http://schemas.microsoft.com/office/drawing/2014/main" id="{017DE362-0DD3-4C86-900C-A75A136A71C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209925" y="411480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3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defRPr>
            </a:pPr>
            <a:r>
              <a:rPr sz="713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업무 절차 참조</a:t>
            </a:r>
          </a:p>
        </p:txBody>
      </p:sp>
      <p:sp>
        <p:nvSpPr>
          <p:cNvPr id="65" name="sub-link-label">
            <a:extLst xmlns:a="http://schemas.openxmlformats.org/drawingml/2006/main">
              <a:ext uri="{FF2B5EF4-FFF2-40B4-BE49-F238E27FC236}">
                <a16:creationId xmlns:a16="http://schemas.microsoft.com/office/drawing/2014/main" id="{C6AAE89C-F0C6-4BFA-B2FA-AA8F7159C49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324600" y="32385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defRPr>
            </a:pPr>
            <a:r>
              <a:rPr sz="675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필요 시 위임</a:t>
            </a:r>
          </a:p>
        </p:txBody>
      </p:sp>
      <p:sp>
        <p:nvSpPr>
          <p:cNvPr id="66" name="mcp-link-label">
            <a:extLst xmlns:a="http://schemas.openxmlformats.org/drawingml/2006/main">
              <a:ext uri="{FF2B5EF4-FFF2-40B4-BE49-F238E27FC236}">
                <a16:creationId xmlns:a16="http://schemas.microsoft.com/office/drawing/2014/main" id="{1209E450-4263-4B38-90B4-E59D1336833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067550" y="4514850"/>
            <a:ext cx="1752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A4A4A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A4A4A"/>
                </a:solidFill>
                <a:latin typeface="맑은 고딕"/>
                <a:ea typeface="맑은 고딕"/>
                <a:cs typeface="맑은 고딕"/>
              </a:rPr>
              <a:t>MCP 표준 연결</a:t>
            </a:r>
          </a:p>
        </p:txBody>
      </p:sp>
      <p:sp>
        <p:nvSpPr>
          <p:cNvPr id="67" name="mcp-link-note">
            <a:extLst xmlns:a="http://schemas.openxmlformats.org/drawingml/2006/main">
              <a:ext uri="{FF2B5EF4-FFF2-40B4-BE49-F238E27FC236}">
                <a16:creationId xmlns:a16="http://schemas.microsoft.com/office/drawing/2014/main" id="{93E72290-F3C6-47E3-9514-18CA6A56100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067550" y="4752975"/>
            <a:ext cx="1752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3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979797"/>
                </a:solidFill>
                <a:latin typeface="맑은 고딕"/>
                <a:ea typeface="맑은 고딕"/>
                <a:cs typeface="맑은 고딕"/>
              </a:defRPr>
            </a:pPr>
            <a:r>
              <a:rPr sz="713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979797"/>
                </a:solidFill>
                <a:latin typeface="맑은 고딕"/>
                <a:ea typeface="맑은 고딕"/>
                <a:cs typeface="맑은 고딕"/>
              </a:rPr>
              <a:t>발견 · 호출 · 결과 교환</a:t>
            </a:r>
          </a:p>
        </p:txBody>
      </p:sp>
      <p:sp>
        <p:nvSpPr>
          <p:cNvPr id="68" name="s1-summary-band">
            <a:extLst xmlns:a="http://schemas.openxmlformats.org/drawingml/2006/main">
              <a:ext uri="{FF2B5EF4-FFF2-40B4-BE49-F238E27FC236}">
                <a16:creationId xmlns:a16="http://schemas.microsoft.com/office/drawing/2014/main" id="{0C39A782-C5E1-4B11-847C-FA5144015F7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57200" y="6153150"/>
            <a:ext cx="112776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151515"/>
            </a:solidFill>
            <a:prstDash val="solid"/>
          </a:ln>
        </p:spPr>
      </p:sp>
      <p:sp>
        <p:nvSpPr>
          <p:cNvPr id="69" name="s1-summary">
            <a:extLst xmlns:a="http://schemas.openxmlformats.org/drawingml/2006/main">
              <a:ext uri="{FF2B5EF4-FFF2-40B4-BE49-F238E27FC236}">
                <a16:creationId xmlns:a16="http://schemas.microsoft.com/office/drawing/2014/main" id="{E2588EEF-D2DF-44A8-B180-1E398D7EE6C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85800" y="62674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88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088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Main Agent는 조정  |  Skill은 방법  |  Tool은 실행  |  MCP는 연결  |  Harness는 통제  |  Sub Agent는 전문 분담</a:t>
            </a:r>
          </a:p>
        </p:txBody>
      </p:sp>
    </p:spTree>
    <p:extLst>
      <p:ext uri="{BB962C8B-B14F-4D97-AF65-F5344CB8AC3E}">
        <p14:creationId xmlns:p14="http://schemas.microsoft.com/office/powerpoint/2010/main" val="210845422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er-A1">
            <a:extLst xmlns:a="http://schemas.openxmlformats.org/drawingml/2006/main">
              <a:ext uri="{FF2B5EF4-FFF2-40B4-BE49-F238E27FC236}">
                <a16:creationId xmlns:a16="http://schemas.microsoft.com/office/drawing/2014/main" id="{6E28D902-3043-4A09-A303-54571A16697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57200" y="23812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A4A4A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A4A4A"/>
                </a:solidFill>
                <a:latin typeface="맑은 고딕"/>
                <a:ea typeface="맑은 고딕"/>
                <a:cs typeface="맑은 고딕"/>
              </a:rPr>
              <a:t>APPENDIX · HARNESS IMPLEMENTATION</a:t>
            </a:r>
          </a:p>
        </p:txBody>
      </p:sp>
      <p:sp>
        <p:nvSpPr>
          <p:cNvPr id="2" name="page-A1">
            <a:extLst xmlns:a="http://schemas.openxmlformats.org/drawingml/2006/main">
              <a:ext uri="{FF2B5EF4-FFF2-40B4-BE49-F238E27FC236}">
                <a16:creationId xmlns:a16="http://schemas.microsoft.com/office/drawing/2014/main" id="{72F8E90F-350C-42F6-83D0-7FE405A92B1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144250" y="238125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979797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979797"/>
                </a:solidFill>
                <a:latin typeface="맑은 고딕"/>
                <a:ea typeface="맑은 고딕"/>
                <a:cs typeface="맑은 고딕"/>
              </a:rPr>
              <a:t>A1</a:t>
            </a:r>
          </a:p>
        </p:txBody>
      </p:sp>
      <p:sp>
        <p:nvSpPr>
          <p:cNvPr id="3" name="header-rule-A1">
            <a:extLst xmlns:a="http://schemas.openxmlformats.org/drawingml/2006/main">
              <a:ext uri="{FF2B5EF4-FFF2-40B4-BE49-F238E27FC236}">
                <a16:creationId xmlns:a16="http://schemas.microsoft.com/office/drawing/2014/main" id="{BB321370-1604-4016-B844-C718F84D097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57200" y="552450"/>
            <a:ext cx="112776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2-title">
            <a:extLst xmlns:a="http://schemas.openxmlformats.org/drawingml/2006/main">
              <a:ext uri="{FF2B5EF4-FFF2-40B4-BE49-F238E27FC236}">
                <a16:creationId xmlns:a16="http://schemas.microsoft.com/office/drawing/2014/main" id="{69B8A1E0-7708-477C-9B62-47B721BDBDE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57200" y="723900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51515"/>
                </a:solidFill>
                <a:latin typeface="맑은 고딕"/>
                <a:ea typeface="맑은 고딕"/>
                <a:cs typeface="맑은 고딕"/>
              </a:defRPr>
            </a:pPr>
            <a:r>
              <a:rPr sz="217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51515"/>
                </a:solidFill>
                <a:latin typeface="맑은 고딕"/>
                <a:ea typeface="맑은 고딕"/>
                <a:cs typeface="맑은 고딕"/>
              </a:rPr>
              <a:t>Harness는 하드코딩된 하나의 프로그램이 아니라 네 가지 계층의 조합</a:t>
            </a:r>
          </a:p>
        </p:txBody>
      </p:sp>
      <p:sp>
        <p:nvSpPr>
          <p:cNvPr id="5" name="s2-subtitle">
            <a:extLst xmlns:a="http://schemas.openxmlformats.org/drawingml/2006/main">
              <a:ext uri="{FF2B5EF4-FFF2-40B4-BE49-F238E27FC236}">
                <a16:creationId xmlns:a16="http://schemas.microsoft.com/office/drawing/2014/main" id="{C4F01582-D736-4D12-A03B-E061BD7EFD7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66725" y="118110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defRPr>
            </a:pPr>
            <a:r>
              <a:rPr sz="1163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플랫폼이 기본 실행을 제공하고, 조직은 제어 코드·정책·지침을 결합해 운영 수준을 완성</a:t>
            </a:r>
          </a:p>
        </p:txBody>
      </p:sp>
      <p:sp>
        <p:nvSpPr>
          <p:cNvPr id="6" name="label-box-HARNESS 구성">
            <a:extLst xmlns:a="http://schemas.openxmlformats.org/drawingml/2006/main">
              <a:ext uri="{FF2B5EF4-FFF2-40B4-BE49-F238E27FC236}">
                <a16:creationId xmlns:a16="http://schemas.microsoft.com/office/drawing/2014/main" id="{08E4CDDA-AF3F-4F18-B3E7-B5AEE0E29BC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57200" y="1685925"/>
            <a:ext cx="1504950" cy="2667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151515"/>
            </a:solidFill>
            <a:prstDash val="solid"/>
          </a:ln>
        </p:spPr>
      </p:sp>
      <p:sp>
        <p:nvSpPr>
          <p:cNvPr id="7" name="label-text-HARNESS 구성">
            <a:extLst xmlns:a="http://schemas.openxmlformats.org/drawingml/2006/main">
              <a:ext uri="{FF2B5EF4-FFF2-40B4-BE49-F238E27FC236}">
                <a16:creationId xmlns:a16="http://schemas.microsoft.com/office/drawing/2014/main" id="{6FCD886E-C232-4A04-9529-1BDF1A449F0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52450" y="1685925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HARNESS 구성</a:t>
            </a:r>
          </a:p>
        </p:txBody>
      </p:sp>
      <p:sp>
        <p:nvSpPr>
          <p:cNvPr id="8" name="s2-left-caption">
            <a:extLst xmlns:a="http://schemas.openxmlformats.org/drawingml/2006/main">
              <a:ext uri="{FF2B5EF4-FFF2-40B4-BE49-F238E27FC236}">
                <a16:creationId xmlns:a16="http://schemas.microsoft.com/office/drawing/2014/main" id="{627AD65F-097E-4545-A676-EEC693C0CF0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133600" y="17145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아래 계층이 함께 동작할 때 비로소 실제 운영 가능한 Agent 환경이 됨</a:t>
            </a:r>
          </a:p>
        </p:txBody>
      </p:sp>
      <p:sp>
        <p:nvSpPr>
          <p:cNvPr id="9" name="layer-1">
            <a:extLst xmlns:a="http://schemas.openxmlformats.org/drawingml/2006/main">
              <a:ext uri="{FF2B5EF4-FFF2-40B4-BE49-F238E27FC236}">
                <a16:creationId xmlns:a16="http://schemas.microsoft.com/office/drawing/2014/main" id="{E2A20308-2E66-4DB1-B0E5-8A48CA384D0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57200" y="2095500"/>
            <a:ext cx="670560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151515"/>
            </a:solidFill>
            <a:prstDash val="solid"/>
          </a:ln>
        </p:spPr>
      </p:sp>
      <p:sp>
        <p:nvSpPr>
          <p:cNvPr id="10" name="layer-num-1">
            <a:extLst xmlns:a="http://schemas.openxmlformats.org/drawingml/2006/main">
              <a:ext uri="{FF2B5EF4-FFF2-40B4-BE49-F238E27FC236}">
                <a16:creationId xmlns:a16="http://schemas.microsoft.com/office/drawing/2014/main" id="{B016AB99-20F2-426C-9C42-8DC93DA71A4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38175" y="21907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D4D4D4"/>
                </a:solidFill>
                <a:latin typeface="맑은 고딕"/>
                <a:ea typeface="맑은 고딕"/>
                <a:cs typeface="맑은 고딕"/>
              </a:defRPr>
            </a:pPr>
            <a:r>
              <a:rPr sz="863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D4D4D4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11" name="layer-title-1">
            <a:extLst xmlns:a="http://schemas.openxmlformats.org/drawingml/2006/main">
              <a:ext uri="{FF2B5EF4-FFF2-40B4-BE49-F238E27FC236}">
                <a16:creationId xmlns:a16="http://schemas.microsoft.com/office/drawing/2014/main" id="{DDD81E52-5898-46CB-94FE-B8D507B803E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066800" y="2171700"/>
            <a:ext cx="228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Framework Runtime</a:t>
            </a:r>
          </a:p>
        </p:txBody>
      </p:sp>
      <p:sp>
        <p:nvSpPr>
          <p:cNvPr id="12" name="layer-desc-1">
            <a:extLst xmlns:a="http://schemas.openxmlformats.org/drawingml/2006/main">
              <a:ext uri="{FF2B5EF4-FFF2-40B4-BE49-F238E27FC236}">
                <a16:creationId xmlns:a16="http://schemas.microsoft.com/office/drawing/2014/main" id="{37ED0A9C-DCF2-420C-BC41-02DBC98AAB5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314700" y="2181225"/>
            <a:ext cx="3638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78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D4D4D4"/>
                </a:solidFill>
                <a:latin typeface="맑은 고딕"/>
                <a:ea typeface="맑은 고딕"/>
                <a:cs typeface="맑은 고딕"/>
              </a:defRPr>
            </a:pPr>
            <a:r>
              <a:rPr sz="878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D4D4D4"/>
                </a:solidFill>
                <a:latin typeface="맑은 고딕"/>
                <a:ea typeface="맑은 고딕"/>
                <a:cs typeface="맑은 고딕"/>
              </a:rPr>
              <a:t>Agent Loop · Context/Memory · Tool 실행 · 작업 상태</a:t>
            </a:r>
          </a:p>
        </p:txBody>
      </p:sp>
      <p:sp>
        <p:nvSpPr>
          <p:cNvPr id="13" name="layer-2">
            <a:extLst xmlns:a="http://schemas.openxmlformats.org/drawingml/2006/main">
              <a:ext uri="{FF2B5EF4-FFF2-40B4-BE49-F238E27FC236}">
                <a16:creationId xmlns:a16="http://schemas.microsoft.com/office/drawing/2014/main" id="{3A80B5BE-8D08-472B-95AA-B48FEB2017D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57200" y="2819400"/>
            <a:ext cx="670560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303030"/>
          </a:solidFill>
          <a:ln xmlns:a="http://schemas.openxmlformats.org/drawingml/2006/main" w="9525">
            <a:solidFill>
              <a:srgbClr val="303030"/>
            </a:solidFill>
            <a:prstDash val="solid"/>
          </a:ln>
        </p:spPr>
      </p:sp>
      <p:sp>
        <p:nvSpPr>
          <p:cNvPr id="14" name="layer-num-2">
            <a:extLst xmlns:a="http://schemas.openxmlformats.org/drawingml/2006/main">
              <a:ext uri="{FF2B5EF4-FFF2-40B4-BE49-F238E27FC236}">
                <a16:creationId xmlns:a16="http://schemas.microsoft.com/office/drawing/2014/main" id="{08388129-1FF5-4E20-9DC4-9A45BE7BAF8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38175" y="29146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D8D8D8"/>
                </a:solidFill>
                <a:latin typeface="맑은 고딕"/>
                <a:ea typeface="맑은 고딕"/>
                <a:cs typeface="맑은 고딕"/>
              </a:defRPr>
            </a:pPr>
            <a:r>
              <a:rPr sz="863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D8D8D8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15" name="layer-title-2">
            <a:extLst xmlns:a="http://schemas.openxmlformats.org/drawingml/2006/main">
              <a:ext uri="{FF2B5EF4-FFF2-40B4-BE49-F238E27FC236}">
                <a16:creationId xmlns:a16="http://schemas.microsoft.com/office/drawing/2014/main" id="{0E49A04B-0E1C-4ED6-A299-5AEB71F074E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066800" y="2895600"/>
            <a:ext cx="228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조직별 제어 코드</a:t>
            </a:r>
          </a:p>
        </p:txBody>
      </p:sp>
      <p:sp>
        <p:nvSpPr>
          <p:cNvPr id="16" name="layer-desc-2">
            <a:extLst xmlns:a="http://schemas.openxmlformats.org/drawingml/2006/main">
              <a:ext uri="{FF2B5EF4-FFF2-40B4-BE49-F238E27FC236}">
                <a16:creationId xmlns:a16="http://schemas.microsoft.com/office/drawing/2014/main" id="{D9D7AC48-DCC0-4BA3-BB53-BCA8A1E5E19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314700" y="2905125"/>
            <a:ext cx="3638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78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D8D8D8"/>
                </a:solidFill>
                <a:latin typeface="맑은 고딕"/>
                <a:ea typeface="맑은 고딕"/>
                <a:cs typeface="맑은 고딕"/>
              </a:defRPr>
            </a:pPr>
            <a:r>
              <a:rPr sz="878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D8D8D8"/>
                </a:solidFill>
                <a:latin typeface="맑은 고딕"/>
                <a:ea typeface="맑은 고딕"/>
                <a:cs typeface="맑은 고딕"/>
              </a:rPr>
              <a:t>인증 · 권한 · 승인 · 검증 · 오류 처리 · 감사 로그</a:t>
            </a:r>
          </a:p>
        </p:txBody>
      </p:sp>
      <p:sp>
        <p:nvSpPr>
          <p:cNvPr id="17" name="layer-3">
            <a:extLst xmlns:a="http://schemas.openxmlformats.org/drawingml/2006/main">
              <a:ext uri="{FF2B5EF4-FFF2-40B4-BE49-F238E27FC236}">
                <a16:creationId xmlns:a16="http://schemas.microsoft.com/office/drawing/2014/main" id="{36B39833-6F84-47D2-B877-37710D38260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57200" y="3543300"/>
            <a:ext cx="670560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9E9E9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18" name="layer-num-3">
            <a:extLst xmlns:a="http://schemas.openxmlformats.org/drawingml/2006/main">
              <a:ext uri="{FF2B5EF4-FFF2-40B4-BE49-F238E27FC236}">
                <a16:creationId xmlns:a16="http://schemas.microsoft.com/office/drawing/2014/main" id="{1BD7CE5D-103C-4D07-933D-E1E3F47BB52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38175" y="36385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defRPr>
            </a:pPr>
            <a:r>
              <a:rPr sz="863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19" name="layer-title-3">
            <a:extLst xmlns:a="http://schemas.openxmlformats.org/drawingml/2006/main">
              <a:ext uri="{FF2B5EF4-FFF2-40B4-BE49-F238E27FC236}">
                <a16:creationId xmlns:a16="http://schemas.microsoft.com/office/drawing/2014/main" id="{2998D4EA-6A53-4541-B206-7B078E76F02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066800" y="3619500"/>
            <a:ext cx="228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51515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51515"/>
                </a:solidFill>
                <a:latin typeface="맑은 고딕"/>
                <a:ea typeface="맑은 고딕"/>
                <a:cs typeface="맑은 고딕"/>
              </a:rPr>
              <a:t>운영 정책 / Config</a:t>
            </a:r>
          </a:p>
        </p:txBody>
      </p:sp>
      <p:sp>
        <p:nvSpPr>
          <p:cNvPr id="20" name="layer-desc-3">
            <a:extLst xmlns:a="http://schemas.openxmlformats.org/drawingml/2006/main">
              <a:ext uri="{FF2B5EF4-FFF2-40B4-BE49-F238E27FC236}">
                <a16:creationId xmlns:a16="http://schemas.microsoft.com/office/drawing/2014/main" id="{74A0A9AA-C1B5-4CAD-8801-FBA5515DED5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314700" y="3629025"/>
            <a:ext cx="3638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78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defRPr>
            </a:pPr>
            <a:r>
              <a:rPr sz="878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사용 가능 Tool · Max Iterations · Timeout/Retry · Agent Profile</a:t>
            </a:r>
          </a:p>
        </p:txBody>
      </p:sp>
      <p:sp>
        <p:nvSpPr>
          <p:cNvPr id="21" name="layer-4">
            <a:extLst xmlns:a="http://schemas.openxmlformats.org/drawingml/2006/main">
              <a:ext uri="{FF2B5EF4-FFF2-40B4-BE49-F238E27FC236}">
                <a16:creationId xmlns:a16="http://schemas.microsoft.com/office/drawing/2014/main" id="{0F61C7C5-5A4A-4E5D-B9CE-9E5DFDD975C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57200" y="4267200"/>
            <a:ext cx="670560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22" name="layer-num-4">
            <a:extLst xmlns:a="http://schemas.openxmlformats.org/drawingml/2006/main">
              <a:ext uri="{FF2B5EF4-FFF2-40B4-BE49-F238E27FC236}">
                <a16:creationId xmlns:a16="http://schemas.microsoft.com/office/drawing/2014/main" id="{CF49038A-BD30-4CAA-A21E-DD47D5106DA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38175" y="43624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defRPr>
            </a:pPr>
            <a:r>
              <a:rPr sz="863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23" name="layer-title-4">
            <a:extLst xmlns:a="http://schemas.openxmlformats.org/drawingml/2006/main">
              <a:ext uri="{FF2B5EF4-FFF2-40B4-BE49-F238E27FC236}">
                <a16:creationId xmlns:a16="http://schemas.microsoft.com/office/drawing/2014/main" id="{1C8D3919-DD3D-44C5-8747-174F664D1F3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066800" y="4343400"/>
            <a:ext cx="228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51515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51515"/>
                </a:solidFill>
                <a:latin typeface="맑은 고딕"/>
                <a:ea typeface="맑은 고딕"/>
                <a:cs typeface="맑은 고딕"/>
              </a:rPr>
              <a:t>Markdown / Prompt</a:t>
            </a:r>
          </a:p>
        </p:txBody>
      </p:sp>
      <p:sp>
        <p:nvSpPr>
          <p:cNvPr id="24" name="layer-desc-4">
            <a:extLst xmlns:a="http://schemas.openxmlformats.org/drawingml/2006/main">
              <a:ext uri="{FF2B5EF4-FFF2-40B4-BE49-F238E27FC236}">
                <a16:creationId xmlns:a16="http://schemas.microsoft.com/office/drawing/2014/main" id="{9D38B6E4-85DD-4B0C-8CB3-D0AB2A9B35D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314700" y="4352925"/>
            <a:ext cx="3638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78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defRPr>
            </a:pPr>
            <a:r>
              <a:rPr sz="878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공통 행동원칙 · 응답 형식 · 확인사항 · 금지 행동</a:t>
            </a:r>
          </a:p>
        </p:txBody>
      </p:sp>
      <p:sp>
        <p:nvSpPr>
          <p:cNvPr id="25" name="tool-internal-control">
            <a:extLst xmlns:a="http://schemas.openxmlformats.org/drawingml/2006/main">
              <a:ext uri="{FF2B5EF4-FFF2-40B4-BE49-F238E27FC236}">
                <a16:creationId xmlns:a16="http://schemas.microsoft.com/office/drawing/2014/main" id="{A6984CBB-5338-4FFD-B170-0C2C821D1CA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57200" y="5105400"/>
            <a:ext cx="6705600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4A4A4A"/>
            </a:solidFill>
            <a:prstDash val="solid"/>
          </a:ln>
        </p:spPr>
      </p:sp>
      <p:sp>
        <p:nvSpPr>
          <p:cNvPr id="26" name="tool-internal-title">
            <a:extLst xmlns:a="http://schemas.openxmlformats.org/drawingml/2006/main">
              <a:ext uri="{FF2B5EF4-FFF2-40B4-BE49-F238E27FC236}">
                <a16:creationId xmlns:a16="http://schemas.microsoft.com/office/drawing/2014/main" id="{A2E4B4C3-94B7-4BC3-BF0C-113D42C390C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47700" y="52101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51515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51515"/>
                </a:solidFill>
                <a:latin typeface="맑은 고딕"/>
                <a:ea typeface="맑은 고딕"/>
                <a:cs typeface="맑은 고딕"/>
              </a:rPr>
              <a:t>Tool 내부 통제</a:t>
            </a:r>
          </a:p>
        </p:txBody>
      </p:sp>
      <p:sp>
        <p:nvSpPr>
          <p:cNvPr id="27" name="tool-internal-desc">
            <a:extLst xmlns:a="http://schemas.openxmlformats.org/drawingml/2006/main">
              <a:ext uri="{FF2B5EF4-FFF2-40B4-BE49-F238E27FC236}">
                <a16:creationId xmlns:a16="http://schemas.microsoft.com/office/drawing/2014/main" id="{86D9D0E3-BF0B-4257-A7C6-7F98A6205FD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143125" y="5210175"/>
            <a:ext cx="4810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63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defRPr>
            </a:pPr>
            <a:r>
              <a:rPr sz="863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실제 시스템 권한 · Transaction · 업무규칙은 Tool 또는 기존 인증체계에서 최종 확인</a:t>
            </a:r>
          </a:p>
        </p:txBody>
      </p:sp>
      <p:sp>
        <p:nvSpPr>
          <p:cNvPr id="28" name="label-box-어디에서 관리할까?">
            <a:extLst xmlns:a="http://schemas.openxmlformats.org/drawingml/2006/main">
              <a:ext uri="{FF2B5EF4-FFF2-40B4-BE49-F238E27FC236}">
                <a16:creationId xmlns:a16="http://schemas.microsoft.com/office/drawing/2014/main" id="{358EAA93-84AF-4596-8C10-CC4E0D47CAF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581900" y="1685925"/>
            <a:ext cx="1866900" cy="2667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303030"/>
          </a:solidFill>
          <a:ln xmlns:a="http://schemas.openxmlformats.org/drawingml/2006/main" w="9525">
            <a:solidFill>
              <a:srgbClr val="303030"/>
            </a:solidFill>
            <a:prstDash val="solid"/>
          </a:ln>
        </p:spPr>
      </p:sp>
      <p:sp>
        <p:nvSpPr>
          <p:cNvPr id="29" name="label-text-어디에서 관리할까?">
            <a:extLst xmlns:a="http://schemas.openxmlformats.org/drawingml/2006/main">
              <a:ext uri="{FF2B5EF4-FFF2-40B4-BE49-F238E27FC236}">
                <a16:creationId xmlns:a16="http://schemas.microsoft.com/office/drawing/2014/main" id="{442A0724-61B7-4916-9412-5C0B6AEBDA2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677150" y="1685925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어디에서 관리할까?</a:t>
            </a:r>
          </a:p>
        </p:txBody>
      </p:sp>
      <p:sp>
        <p:nvSpPr>
          <p:cNvPr id="30" name="management-1">
            <a:extLst xmlns:a="http://schemas.openxmlformats.org/drawingml/2006/main">
              <a:ext uri="{FF2B5EF4-FFF2-40B4-BE49-F238E27FC236}">
                <a16:creationId xmlns:a16="http://schemas.microsoft.com/office/drawing/2014/main" id="{2D49EA74-6A51-4EDE-A18C-6BB8443DA27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581900" y="2095500"/>
            <a:ext cx="4152900" cy="110490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151515"/>
            </a:solidFill>
            <a:prstDash val="solid"/>
          </a:ln>
        </p:spPr>
      </p:sp>
      <p:sp>
        <p:nvSpPr>
          <p:cNvPr id="31" name="management-title-1">
            <a:extLst xmlns:a="http://schemas.openxmlformats.org/drawingml/2006/main">
              <a:ext uri="{FF2B5EF4-FFF2-40B4-BE49-F238E27FC236}">
                <a16:creationId xmlns:a16="http://schemas.microsoft.com/office/drawing/2014/main" id="{53449B45-0BFB-4DF9-AD8F-226C324F6BC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791450" y="2219325"/>
            <a:ext cx="3733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63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163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코드 / Runtime에서 강제</a:t>
            </a:r>
          </a:p>
        </p:txBody>
      </p:sp>
      <p:sp>
        <p:nvSpPr>
          <p:cNvPr id="32" name="management-desc-1">
            <a:extLst xmlns:a="http://schemas.openxmlformats.org/drawingml/2006/main">
              <a:ext uri="{FF2B5EF4-FFF2-40B4-BE49-F238E27FC236}">
                <a16:creationId xmlns:a16="http://schemas.microsoft.com/office/drawing/2014/main" id="{A83A967D-8812-43E3-8A58-A6B7417567F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791450" y="2524125"/>
            <a:ext cx="373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DADADA"/>
                </a:solidFill>
                <a:latin typeface="맑은 고딕"/>
                <a:ea typeface="맑은 고딕"/>
                <a:cs typeface="맑은 고딕"/>
              </a:defRPr>
            </a:pPr>
            <a:r>
              <a:rPr sz="863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DADADA"/>
                </a:solidFill>
                <a:latin typeface="맑은 고딕"/>
                <a:ea typeface="맑은 고딕"/>
                <a:cs typeface="맑은 고딕"/>
              </a:rPr>
              <a:t>권한 차단 · 승인 · Timeout/Retry</a:t>
            </a:r>
          </a:p>
          <a:p xmlns:a="http://schemas.openxmlformats.org/drawingml/2006/main">
            <a:pPr algn="l">
              <a:defRPr sz="863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DADADA"/>
                </a:solidFill>
                <a:latin typeface="맑은 고딕"/>
                <a:ea typeface="맑은 고딕"/>
                <a:cs typeface="맑은 고딕"/>
              </a:defRPr>
            </a:pPr>
            <a:r>
              <a:rPr sz="863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DADADA"/>
                </a:solidFill>
                <a:latin typeface="맑은 고딕"/>
                <a:ea typeface="맑은 고딕"/>
                <a:cs typeface="맑은 고딕"/>
              </a:rPr>
              <a:t>Schema 검증 · 중복 방지 · Audit</a:t>
            </a:r>
          </a:p>
        </p:txBody>
      </p:sp>
      <p:sp>
        <p:nvSpPr>
          <p:cNvPr id="33" name="management-2">
            <a:extLst xmlns:a="http://schemas.openxmlformats.org/drawingml/2006/main">
              <a:ext uri="{FF2B5EF4-FFF2-40B4-BE49-F238E27FC236}">
                <a16:creationId xmlns:a16="http://schemas.microsoft.com/office/drawing/2014/main" id="{C749D484-DD9F-4F53-9BC5-0EBAAA33880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581900" y="3314700"/>
            <a:ext cx="41529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9E9E9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34" name="management-title-2">
            <a:extLst xmlns:a="http://schemas.openxmlformats.org/drawingml/2006/main">
              <a:ext uri="{FF2B5EF4-FFF2-40B4-BE49-F238E27FC236}">
                <a16:creationId xmlns:a16="http://schemas.microsoft.com/office/drawing/2014/main" id="{90299147-9405-44C1-A262-BF1F77726EC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791450" y="3438525"/>
            <a:ext cx="3733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63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51515"/>
                </a:solidFill>
                <a:latin typeface="맑은 고딕"/>
                <a:ea typeface="맑은 고딕"/>
                <a:cs typeface="맑은 고딕"/>
              </a:defRPr>
            </a:pPr>
            <a:r>
              <a:rPr sz="1163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51515"/>
                </a:solidFill>
                <a:latin typeface="맑은 고딕"/>
                <a:ea typeface="맑은 고딕"/>
                <a:cs typeface="맑은 고딕"/>
              </a:rPr>
              <a:t>설정으로 관리</a:t>
            </a:r>
          </a:p>
        </p:txBody>
      </p:sp>
      <p:sp>
        <p:nvSpPr>
          <p:cNvPr id="35" name="management-desc-2">
            <a:extLst xmlns:a="http://schemas.openxmlformats.org/drawingml/2006/main">
              <a:ext uri="{FF2B5EF4-FFF2-40B4-BE49-F238E27FC236}">
                <a16:creationId xmlns:a16="http://schemas.microsoft.com/office/drawing/2014/main" id="{1295CEBC-157B-473A-9899-40CE387C4DA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791450" y="3743325"/>
            <a:ext cx="3733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defRPr>
            </a:pPr>
            <a:r>
              <a:rPr sz="863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사용 가능 Tool · 실행 한도 · 승인 정책 · Profile</a:t>
            </a:r>
          </a:p>
        </p:txBody>
      </p:sp>
      <p:sp>
        <p:nvSpPr>
          <p:cNvPr id="36" name="management-3">
            <a:extLst xmlns:a="http://schemas.openxmlformats.org/drawingml/2006/main">
              <a:ext uri="{FF2B5EF4-FFF2-40B4-BE49-F238E27FC236}">
                <a16:creationId xmlns:a16="http://schemas.microsoft.com/office/drawing/2014/main" id="{9900B561-5671-4ADC-B455-540283493A0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581900" y="4305300"/>
            <a:ext cx="4152900" cy="9906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37" name="management-title-3">
            <a:extLst xmlns:a="http://schemas.openxmlformats.org/drawingml/2006/main">
              <a:ext uri="{FF2B5EF4-FFF2-40B4-BE49-F238E27FC236}">
                <a16:creationId xmlns:a16="http://schemas.microsoft.com/office/drawing/2014/main" id="{53B85C60-A329-4F62-963A-69142EFB1D2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791450" y="4429125"/>
            <a:ext cx="3733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63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51515"/>
                </a:solidFill>
                <a:latin typeface="맑은 고딕"/>
                <a:ea typeface="맑은 고딕"/>
                <a:cs typeface="맑은 고딕"/>
              </a:defRPr>
            </a:pPr>
            <a:r>
              <a:rPr sz="1163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51515"/>
                </a:solidFill>
                <a:latin typeface="맑은 고딕"/>
                <a:ea typeface="맑은 고딕"/>
                <a:cs typeface="맑은 고딕"/>
              </a:rPr>
              <a:t>Markdown / Prompt로 안내</a:t>
            </a:r>
          </a:p>
        </p:txBody>
      </p:sp>
      <p:sp>
        <p:nvSpPr>
          <p:cNvPr id="38" name="management-desc-3">
            <a:extLst xmlns:a="http://schemas.openxmlformats.org/drawingml/2006/main">
              <a:ext uri="{FF2B5EF4-FFF2-40B4-BE49-F238E27FC236}">
                <a16:creationId xmlns:a16="http://schemas.microsoft.com/office/drawing/2014/main" id="{72E6D1EA-1B22-40AC-9841-CE97F0CDE18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791450" y="4733925"/>
            <a:ext cx="3733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defRPr>
            </a:pPr>
            <a:r>
              <a:rPr sz="863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행동원칙 · 업무 지식 · 응답 형식</a:t>
            </a:r>
          </a:p>
          <a:p xmlns:a="http://schemas.openxmlformats.org/drawingml/2006/main">
            <a:pPr algn="l">
              <a:defRPr sz="863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defRPr>
            </a:pPr>
            <a:r>
              <a:rPr sz="863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보안 통제를 대신할 수는 없음</a:t>
            </a:r>
          </a:p>
        </p:txBody>
      </p:sp>
      <p:sp>
        <p:nvSpPr>
          <p:cNvPr id="39" name="profile-strip">
            <a:extLst xmlns:a="http://schemas.openxmlformats.org/drawingml/2006/main">
              <a:ext uri="{FF2B5EF4-FFF2-40B4-BE49-F238E27FC236}">
                <a16:creationId xmlns:a16="http://schemas.microsoft.com/office/drawing/2014/main" id="{D52B7171-0599-4197-A5FB-A458D18ECAD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581900" y="5343525"/>
            <a:ext cx="4152900" cy="33337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A4A4A"/>
            </a:solidFill>
            <a:prstDash val="solid"/>
          </a:ln>
        </p:spPr>
      </p:sp>
      <p:sp>
        <p:nvSpPr>
          <p:cNvPr id="40" name="profile-strip-text">
            <a:extLst xmlns:a="http://schemas.openxmlformats.org/drawingml/2006/main">
              <a:ext uri="{FF2B5EF4-FFF2-40B4-BE49-F238E27FC236}">
                <a16:creationId xmlns:a16="http://schemas.microsoft.com/office/drawing/2014/main" id="{E9C82849-514F-4C78-BBE8-70433212368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734300" y="5410200"/>
            <a:ext cx="38481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A4A4A"/>
                </a:solidFill>
                <a:latin typeface="맑은 고딕"/>
                <a:ea typeface="맑은 고딕"/>
                <a:cs typeface="맑은 고딕"/>
              </a:defRPr>
            </a:pPr>
            <a:r>
              <a:rPr sz="863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A4A4A"/>
                </a:solidFill>
                <a:latin typeface="맑은 고딕"/>
                <a:ea typeface="맑은 고딕"/>
                <a:cs typeface="맑은 고딕"/>
              </a:rPr>
              <a:t>공통 Harness  →  Profile A  ·  Profile B  ·  Profile C</a:t>
            </a:r>
          </a:p>
        </p:txBody>
      </p:sp>
      <p:sp>
        <p:nvSpPr>
          <p:cNvPr id="41" name="s2-summary-band">
            <a:extLst xmlns:a="http://schemas.openxmlformats.org/drawingml/2006/main">
              <a:ext uri="{FF2B5EF4-FFF2-40B4-BE49-F238E27FC236}">
                <a16:creationId xmlns:a16="http://schemas.microsoft.com/office/drawing/2014/main" id="{74583D3D-A65E-4639-87AB-ADE58DF3353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57200" y="5953125"/>
            <a:ext cx="11277600" cy="657225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151515"/>
            </a:solidFill>
            <a:prstDash val="solid"/>
          </a:ln>
        </p:spPr>
      </p:sp>
      <p:sp>
        <p:nvSpPr>
          <p:cNvPr id="42" name="skill-vs-harness">
            <a:extLst xmlns:a="http://schemas.openxmlformats.org/drawingml/2006/main">
              <a:ext uri="{FF2B5EF4-FFF2-40B4-BE49-F238E27FC236}">
                <a16:creationId xmlns:a16="http://schemas.microsoft.com/office/drawing/2014/main" id="{EF3CA87F-C45D-4A70-B3E6-96870E8D248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85800" y="6067425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Skill = 특정 업무를 수행하는 방법    |    Harness = Agent 전체를 실행·허용·중단·복구하는 환경</a:t>
            </a:r>
          </a:p>
        </p:txBody>
      </p:sp>
      <p:sp>
        <p:nvSpPr>
          <p:cNvPr id="43" name="harness-md-note">
            <a:extLst xmlns:a="http://schemas.openxmlformats.org/drawingml/2006/main">
              <a:ext uri="{FF2B5EF4-FFF2-40B4-BE49-F238E27FC236}">
                <a16:creationId xmlns:a16="http://schemas.microsoft.com/office/drawing/2014/main" id="{A04234EC-08B0-4A84-B574-D22E1ACF12C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85800" y="63436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10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CFCFCF"/>
                </a:solidFill>
                <a:latin typeface="맑은 고딕"/>
                <a:ea typeface="맑은 고딕"/>
                <a:cs typeface="맑은 고딕"/>
              </a:defRPr>
            </a:pPr>
            <a:r>
              <a:rPr sz="810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CFCFCF"/>
                </a:solidFill>
                <a:latin typeface="맑은 고딕"/>
                <a:ea typeface="맑은 고딕"/>
                <a:cs typeface="맑은 고딕"/>
              </a:rPr>
              <a:t>‘HARNESS.md’라는 범용 표준은 없음. Markdown은 Harness가 참고하는 운영 지침의 일부일 뿐</a:t>
            </a:r>
          </a:p>
        </p:txBody>
      </p:sp>
    </p:spTree>
    <p:extLst>
      <p:ext uri="{BB962C8B-B14F-4D97-AF65-F5344CB8AC3E}">
        <p14:creationId xmlns:p14="http://schemas.microsoft.com/office/powerpoint/2010/main" val="20711341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2026-07-21T09:38:44.3300000Z</dcterms:created>
  <dcterms:modified xsi:type="dcterms:W3CDTF">2026-07-21T09:38:44.3300000Z</dcterms:modified>
</coreProperties>
</file>