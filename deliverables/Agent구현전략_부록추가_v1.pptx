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f28e9012c4f9c" /><Relationship Type="http://schemas.openxmlformats.org/officeDocument/2006/relationships/extended-properties" Target="/docProps/app.xml" Id="R438d47b38fe54300" /><Relationship Type="http://schemas.openxmlformats.org/officeDocument/2006/relationships/officeDocument" Target="/ppt/presentation.xml" Id="Rcf122c450f15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eba4963294ac5"/>
  </p:sldMasterIdLst>
  <p:notesMasterIdLst>
    <p:notesMasterId xmlns:r="http://schemas.openxmlformats.org/officeDocument/2006/relationships" r:id="Rb1e5a5441dec48fe"/>
  </p:notesMasterIdLst>
  <p:sldIdLst>
    <p:sldId xmlns:r="http://schemas.openxmlformats.org/officeDocument/2006/relationships" id="256" r:id="R711a21fc44184548"/>
    <p:sldId xmlns:r="http://schemas.openxmlformats.org/officeDocument/2006/relationships" id="257" r:id="R01255f96781b42ed"/>
    <p:sldId xmlns:r="http://schemas.openxmlformats.org/officeDocument/2006/relationships" id="258" r:id="R40804e14419742ed"/>
    <p:sldId xmlns:r="http://schemas.openxmlformats.org/officeDocument/2006/relationships" id="259" r:id="R7c8be5ed5e8e45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96935e04e742f9" /><Relationship Type="http://schemas.openxmlformats.org/officeDocument/2006/relationships/slideMaster" Target="/ppt/slideMasters/slideMaster1.xml" Id="Re55eba4963294ac5" /><Relationship Type="http://schemas.openxmlformats.org/officeDocument/2006/relationships/notesMaster" Target="/ppt/notesMasters/notesMaster1.xml" Id="Rb1e5a5441dec48fe" /><Relationship Type="http://schemas.openxmlformats.org/officeDocument/2006/relationships/presProps" Target="/ppt/presProps.xml" Id="R57e034bbfec34a52" /><Relationship Type="http://schemas.openxmlformats.org/officeDocument/2006/relationships/viewProps" Target="/ppt/viewProps.xml" Id="Rce098407c0b94485" /><Relationship Type="http://schemas.openxmlformats.org/officeDocument/2006/relationships/tableStyles" Target="/ppt/tableStyles.xml" Id="R85f45364288f4817" /><Relationship Type="http://schemas.openxmlformats.org/officeDocument/2006/relationships/slide" Target="/ppt/slides/slide1.xml" Id="R711a21fc44184548" /><Relationship Type="http://schemas.openxmlformats.org/officeDocument/2006/relationships/slide" Target="/ppt/slides/slide2.xml" Id="R01255f96781b42ed" /><Relationship Type="http://schemas.openxmlformats.org/officeDocument/2006/relationships/slide" Target="/ppt/slides/slide3.xml" Id="R40804e14419742ed" /><Relationship Type="http://schemas.openxmlformats.org/officeDocument/2006/relationships/slide" Target="/ppt/slides/slide4.xml" Id="R7c8be5ed5e8e45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ef1991ee444f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4552295a544ab" /><Relationship Type="http://schemas.openxmlformats.org/officeDocument/2006/relationships/notesMaster" Target="/ppt/notesMasters/notesMaster1.xml" Id="Re52fa8b6d027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48e0af45c4df3" /><Relationship Type="http://schemas.openxmlformats.org/officeDocument/2006/relationships/notesMaster" Target="/ppt/notesMasters/notesMaster1.xml" Id="Rdbefbb3cf9f2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ce48b5ae04d38" /><Relationship Type="http://schemas.openxmlformats.org/officeDocument/2006/relationships/notesMaster" Target="/ppt/notesMasters/notesMaster1.xml" Id="R649df558773340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e0467fdd84840" /><Relationship Type="http://schemas.openxmlformats.org/officeDocument/2006/relationships/notesMaster" Target="/ppt/notesMasters/notesMaster1.xml" Id="Re796bb6a8bfe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구성요소의 역할을 판단, 절차, 실행, 연결, 통제로 구분해 설명하는 부록. Sub Agent는 모든 업무의 필수 계층이 아니며, Harness는 Agent 전체 실행환경임.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Tool을 지나치게 작은 기능으로 분해하면 Agent의 호출 및 검증 부담이 커짐. 반복적이고 안정적인 로직은 완결된 복합 Tool로 구현할 수 있으며, 개발 경로는 Agent Builder, Custom Component, Code/MCP Server 중 선택함.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최소 공통 연결 기준은 MCP 호출 또는 동등한 호출 방식, Tool 설명과 고유 ID, Input Schema, 공통 Output Envelope, 권한·위험·운영 Metadata. Tool 내부 data 구조와 업무 로직은 조직 자율로 유지함.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1129cc9a74e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68963977d4e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8ff8003fb4e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c0a02b285446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db1a2f0ff47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cc4ae57d44d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01d9142d645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b6e5e903a40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50c5b7a7d4f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5e04a15a2482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cf69360934e61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267D2DD-7F24-A95B-5B07-B3270796F8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510021BC-2169-5647-2E1A-735B0C2EEC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CC87793-58C3-4C90-9E13-9B82D01162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1591F98-4D6B-5289-0549-B68EE1E9E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78332119-C832-82E1-B388-AA1937DC5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300F06-A5AE-4F1C-6167-3825B4789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59054DE-73B9-B918-E943-B30A519D02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4400136-B5A1-2AD4-A0DF-6531D6DF1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DD09987-3131-7406-D75C-9F2C147CE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3C7EC1-81BA-DBCD-D610-277D7470F9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445985F-FBAB-3496-A71C-1DB37B48E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443AFED-B389-DD63-7E96-65C1F4D1FA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E1FC1B9-4C59-05BC-CA5F-07D2D75CBE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CF132F4-64B5-69B0-A197-BCB9C2D8F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0D0B71E-512F-D5AD-79BB-28FC19394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2E1493D-FFF0-70F5-F2BA-58EB86D30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18F49842-CDFC-E6CD-FDAB-571541E285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2A273DD-4941-6D35-0C8B-6F4398325C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8F75F29F-4E1F-C69B-57F9-1489C807A0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64B2F07D-A204-9120-1A5D-A4AC17C8D3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860933F-29E4-3E03-6885-0F1501C6FC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D57B46A-F665-2F15-D5B5-B7D4770C98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5C5B8C8-2824-A99C-7668-69481786F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0ADCACE1-CEEA-1E84-EF21-A916E7CDDA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87867842-8F36-950A-E305-34078E98958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D7175082-FE4B-227D-1449-27041E6789F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F7DE93A9-97D5-8F87-3CCB-85212B3806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6C151AC9-6FFF-E665-E19E-9F24A7F0C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46DBC11E-5211-FEBA-0412-7495752FD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DF25D25-786E-BDEA-B403-CFB609E4F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7853C58E-A5EF-F45A-6C41-5283C0CF49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61ABDB39-2186-2FCD-8F14-E75B8CB954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3109BD21-307F-A31C-7441-1DF0DAB21E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80E92CA4-BE30-2863-AE90-9B30334D9E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3D2CED36-7134-69DD-90B1-FC50B4753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89D3EFD0-EEC9-054F-1A12-D579F44321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95A2C61-5B4E-6A8C-68E9-AFD058062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4C029C18-450A-08DF-0368-E343323331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BD834A52-F245-0AD1-6A92-83C27BF2C8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B4573DD-5D5E-20AF-B113-2C9774EF4E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2F47D87-A091-936F-35F5-72660C8A04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0F5C06CD-2C03-0C0A-D94D-676B4E66C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9F0F029-81E5-370B-30FC-9DCD64BA7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546FB555-1CCD-38A6-78DF-9E43E94DE7F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9D2869F8-CEAC-430C-BFB3-650FAE4C2D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508507A3-A2B1-8C0C-2820-8766DE00B7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C63CE10-C00C-381F-BEB4-111BD29555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F8879DA-C001-9EBB-C1BB-2C2097F02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984FE12-486D-1FA5-8CBB-382EEB57C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D8B140-26E4-6C07-6F76-BC91EA667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BD8520D-931B-3228-7205-BC3D6B0701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89ECCFA-D5BB-2CC5-8DAB-74A5A29A1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C203210-FEC5-F1C4-BFA1-5CF6A8788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6B44517D-78C8-01EC-B2B8-01C7D5C41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B7732BB-330B-AD7D-0044-C73ABC07D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941822D-585E-67C7-C39E-D20FE11FD9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F55B0A4B-E99A-6822-4669-37BB58EAC8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8B30EE6-B8D7-7886-C8F7-B377096E5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2df458424e46e6" /><Relationship Type="http://schemas.openxmlformats.org/officeDocument/2006/relationships/slideLayout" Target="/ppt/slideLayouts/slideLayout1.xml" Id="R73ca5b0311da492d" /><Relationship Type="http://schemas.openxmlformats.org/officeDocument/2006/relationships/slideLayout" Target="/ppt/slideLayouts/slideLayout2.xml" Id="Rb785c5e222e24b5d" /><Relationship Type="http://schemas.openxmlformats.org/officeDocument/2006/relationships/slideLayout" Target="/ppt/slideLayouts/slideLayout3.xml" Id="R9ccd751995f145ce" /><Relationship Type="http://schemas.openxmlformats.org/officeDocument/2006/relationships/slideLayout" Target="/ppt/slideLayouts/slideLayout4.xml" Id="R2f38629f6bc843c3" /><Relationship Type="http://schemas.openxmlformats.org/officeDocument/2006/relationships/slideLayout" Target="/ppt/slideLayouts/slideLayout5.xml" Id="R45d2b74937d9433b" /><Relationship Type="http://schemas.openxmlformats.org/officeDocument/2006/relationships/slideLayout" Target="/ppt/slideLayouts/slideLayout6.xml" Id="R51e46bc7cfcf4ee7" /><Relationship Type="http://schemas.openxmlformats.org/officeDocument/2006/relationships/slideLayout" Target="/ppt/slideLayouts/slideLayout7.xml" Id="R110749aff027439f" /><Relationship Type="http://schemas.openxmlformats.org/officeDocument/2006/relationships/slideLayout" Target="/ppt/slideLayouts/slideLayout8.xml" Id="R18980a52d5434c92" /><Relationship Type="http://schemas.openxmlformats.org/officeDocument/2006/relationships/slideLayout" Target="/ppt/slideLayouts/slideLayout9.xml" Id="Rd1f754806aa64eff" /><Relationship Type="http://schemas.openxmlformats.org/officeDocument/2006/relationships/slideLayout" Target="/ppt/slideLayouts/slideLayout10.xml" Id="R5f5ee836551e48fd" /><Relationship Type="http://schemas.openxmlformats.org/officeDocument/2006/relationships/slideLayout" Target="/ppt/slideLayouts/slideLayout11.xml" Id="R5b6a8f36b0f645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4F2CAE2E-3798-9B6C-F3C3-438CDA52B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D485719B-3F88-2E10-32F5-FCA9098CA1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>
              <a:buNone/>
            </a:pPr>
            <a:r>
              <a:t>두 번째 수준</a:t>
            </a:r>
          </a:p>
          <a:p xmlns:a="http://schemas.openxmlformats.org/drawingml/2006/main">
            <a:pPr>
              <a:buNone/>
            </a:pPr>
            <a:r>
              <a:t>세 번째 수준</a:t>
            </a:r>
          </a:p>
          <a:p xmlns:a="http://schemas.openxmlformats.org/drawingml/2006/main">
            <a:pPr>
              <a:buNone/>
            </a:pPr>
            <a:r>
              <a:t>네 번째 수준</a:t>
            </a:r>
          </a:p>
          <a:p xmlns:a="http://schemas.openxmlformats.org/drawingml/2006/main"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558BA81-B2D5-A87D-C535-00676509605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AE0A27C8-FA79-4E6A-B006-762DE9499168}" type="datetimeFigureOut">
              <a:t>2026-07-21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9519C2CF-59C6-7DC3-111D-B4E009A46D9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BAB3A02-8C1E-3758-CA88-F0499D3205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E8725CA-2954-4800-889D-B5437F7005A6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ca5b0311da492d"/>
    <p:sldLayoutId xmlns:r="http://schemas.openxmlformats.org/officeDocument/2006/relationships" id="2147483650" r:id="Rb785c5e222e24b5d"/>
    <p:sldLayoutId xmlns:r="http://schemas.openxmlformats.org/officeDocument/2006/relationships" id="2147483651" r:id="R9ccd751995f145ce"/>
    <p:sldLayoutId xmlns:r="http://schemas.openxmlformats.org/officeDocument/2006/relationships" id="2147483652" r:id="R2f38629f6bc843c3"/>
    <p:sldLayoutId xmlns:r="http://schemas.openxmlformats.org/officeDocument/2006/relationships" id="2147483653" r:id="R45d2b74937d9433b"/>
    <p:sldLayoutId xmlns:r="http://schemas.openxmlformats.org/officeDocument/2006/relationships" id="2147483654" r:id="R51e46bc7cfcf4ee7"/>
    <p:sldLayoutId xmlns:r="http://schemas.openxmlformats.org/officeDocument/2006/relationships" id="2147483655" r:id="R110749aff027439f"/>
    <p:sldLayoutId xmlns:r="http://schemas.openxmlformats.org/officeDocument/2006/relationships" id="2147483656" r:id="R18980a52d5434c92"/>
    <p:sldLayoutId xmlns:r="http://schemas.openxmlformats.org/officeDocument/2006/relationships" id="2147483657" r:id="Rd1f754806aa64eff"/>
    <p:sldLayoutId xmlns:r="http://schemas.openxmlformats.org/officeDocument/2006/relationships" id="2147483658" r:id="R5f5ee836551e48fd"/>
    <p:sldLayoutId xmlns:r="http://schemas.openxmlformats.org/officeDocument/2006/relationships" id="2147483659" r:id="R5b6a8f36b0f645d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8eba7a0624db4" /><Relationship Type="http://schemas.openxmlformats.org/officeDocument/2006/relationships/notesSlide" Target="/ppt/notesSlides/notesSlide1.xml" Id="R95f7cee1b24d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740aac1ac417d" /><Relationship Type="http://schemas.openxmlformats.org/officeDocument/2006/relationships/notesSlide" Target="/ppt/notesSlides/notesSlide2.xml" Id="R5e9733c9bbe7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f570cfe1f4d05" /><Relationship Type="http://schemas.openxmlformats.org/officeDocument/2006/relationships/notesSlide" Target="/ppt/notesSlides/notesSlide3.xml" Id="Rceca48e44443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38076863480e" /><Relationship Type="http://schemas.openxmlformats.org/officeDocument/2006/relationships/notesSlide" Target="/ppt/notesSlides/notesSlide4.xml" Id="Rc0766b3d91be46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5C9EBB4-789B-D676-FFD7-CC94A6D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32" y="1796705"/>
            <a:ext cx="7201297" cy="4800038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6" name="직사각형 255">
            <a:extLst xmlns:a="http://schemas.openxmlformats.org/drawingml/2006/main">
              <a:ext uri="{FF2B5EF4-FFF2-40B4-BE49-F238E27FC236}">
                <a16:creationId xmlns:a16="http://schemas.microsoft.com/office/drawing/2014/main" id="{86553575-CA88-0424-13BE-8D2250FF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55" y="4768127"/>
            <a:ext cx="6962254" cy="1718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2BEBE058-2896-C06F-08E0-63C1407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18" y="709613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skill">
            <a:extLst xmlns:a="http://schemas.openxmlformats.org/drawingml/2006/main">
              <a:ext uri="{FF2B5EF4-FFF2-40B4-BE49-F238E27FC236}">
                <a16:creationId xmlns:a16="http://schemas.microsoft.com/office/drawing/2014/main" id="{52AF907C-3695-A7D4-B692-B0DE857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230" y="4877292"/>
            <a:ext cx="2890702" cy="633591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7" name="skill">
            <a:extLst xmlns:a="http://schemas.openxmlformats.org/drawingml/2006/main">
              <a:ext uri="{FF2B5EF4-FFF2-40B4-BE49-F238E27FC236}">
                <a16:creationId xmlns:a16="http://schemas.microsoft.com/office/drawing/2014/main" id="{CD1CD1FE-AAA0-DDFF-DC1D-AB1DFE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6925" y="4877292"/>
            <a:ext cx="3419411" cy="633591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8" name="skill">
            <a:extLst xmlns:a="http://schemas.openxmlformats.org/drawingml/2006/main">
              <a:ext uri="{FF2B5EF4-FFF2-40B4-BE49-F238E27FC236}">
                <a16:creationId xmlns:a16="http://schemas.microsoft.com/office/drawing/2014/main" id="{928FBFF1-3D52-F3B2-C5E1-89E9B3E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618" y="5746677"/>
            <a:ext cx="6793718" cy="633591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2" name="skill">
            <a:extLst xmlns:a="http://schemas.openxmlformats.org/drawingml/2006/main">
              <a:ext uri="{FF2B5EF4-FFF2-40B4-BE49-F238E27FC236}">
                <a16:creationId xmlns:a16="http://schemas.microsoft.com/office/drawing/2014/main" id="{1FCA7334-F4A5-F60C-5FA2-DE6DB4B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0606" y="3059565"/>
            <a:ext cx="1655731" cy="694977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4" name="skill">
            <a:extLst xmlns:a="http://schemas.openxmlformats.org/drawingml/2006/main">
              <a:ext uri="{FF2B5EF4-FFF2-40B4-BE49-F238E27FC236}">
                <a16:creationId xmlns:a16="http://schemas.microsoft.com/office/drawing/2014/main" id="{7001369E-855E-1214-C1F4-5BFF62D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618" y="3059565"/>
            <a:ext cx="1594505" cy="694977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0" name="skill">
            <a:extLst xmlns:a="http://schemas.openxmlformats.org/drawingml/2006/main">
              <a:ext uri="{FF2B5EF4-FFF2-40B4-BE49-F238E27FC236}">
                <a16:creationId xmlns:a16="http://schemas.microsoft.com/office/drawing/2014/main" id="{FE6CA667-85FC-D032-17F9-295850B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6565" y="3059565"/>
            <a:ext cx="2317229" cy="124377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cxnSp>
        <p:nvCxnSpPr>
          <p:cNvPr id="283" name="직선 화살표 연결선 38"/>
          <p:cNvCxnSpPr>
            <a:stCxn xmlns:a="http://schemas.openxmlformats.org/drawingml/2006/main" id="27" idx="2"/>
          </p:cNvCxnSpPr>
          <p:nvPr/>
        </p:nvCxnSpPr>
        <p:spPr>
          <a:xfrm xmlns:a="http://schemas.openxmlformats.org/drawingml/2006/main">
            <a:off x="5676631" y="5510883"/>
            <a:ext cx="0" cy="253664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4" name="연결선: 꺾임 41"/>
          <p:cNvCxnSpPr>
            <a:stCxn xmlns:a="http://schemas.openxmlformats.org/drawingml/2006/main" id="30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rot="16200000" flipH="1">
            <a:off x="4388930" y="3589590"/>
            <a:ext cx="573951" cy="2001451"/>
          </a:xfrm>
          <a:prstGeom xmlns:a="http://schemas.openxmlformats.org/drawingml/2006/main" prst="bentConnector3">
            <a:avLst/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5" name="연결선: 꺾임 43"/>
          <p:cNvCxnSpPr>
            <a:stCxn xmlns:a="http://schemas.openxmlformats.org/drawingml/2006/main" id="3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rot="5400000">
            <a:off x="2566906" y="3769017"/>
            <a:ext cx="573951" cy="164259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prstDash val="sysDot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6" name="연결선: 꺾임 46"/>
          <p:cNvCxnSpPr>
            <a:stCxn xmlns:a="http://schemas.openxmlformats.org/drawingml/2006/main" id="3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rot="5400000">
            <a:off x="5556177" y="3874997"/>
            <a:ext cx="1122750" cy="881841"/>
          </a:xfrm>
          <a:prstGeom xmlns:a="http://schemas.openxmlformats.org/drawingml/2006/main" prst="bentConnector3">
            <a:avLst>
              <a:gd name="adj1" fmla="val 74885"/>
            </a:avLst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prstDash val="sysDot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7" name="직선 화살표 연결선 53"/>
          <p:cNvCxnSpPr>
            <a:stCxn xmlns:a="http://schemas.openxmlformats.org/drawingml/2006/main" id="34" idx="3"/>
          </p:cNvCxnSpPr>
          <p:nvPr/>
        </p:nvCxnSpPr>
        <p:spPr>
          <a:xfrm xmlns:a="http://schemas.openxmlformats.org/drawingml/2006/main">
            <a:off x="2187123" y="3407054"/>
            <a:ext cx="309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8" name="직선 화살표 연결선 56"/>
          <p:cNvCxnSpPr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54136" y="3407053"/>
            <a:ext cx="876470" cy="1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1">
                <a:lumMod val="50000"/>
                <a:alpha val="70000"/>
              </a:schemeClr>
            </a:solidFill>
            <a:prstDash val="sysDot"/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479416-61D0-70AD-DC25-3E22F48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38" y="3156338"/>
            <a:ext cx="114486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사용자 요청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00AAE5F-ABB9-5642-5F99-74E288E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411" y="3156338"/>
            <a:ext cx="108555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Sub Agent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5B275A2-E2EC-7A21-03CF-AEBDB49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576" y="3401553"/>
            <a:ext cx="208124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Main/Super Agent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0D2EDD1D-49AB-4255-5E20-9D2F936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915" y="4890467"/>
            <a:ext cx="63991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SKILL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B02754A-1450-52BD-A9BB-309D803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544" y="4890467"/>
            <a:ext cx="58381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MCP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EF3D7CB5-83F1-E33F-236B-6DB5846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264" y="4933596"/>
            <a:ext cx="2231701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Tool</a:t>
            </a: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활용을 위한 공통 연결 형식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BF590490-29FC-337D-447D-A6141F3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818" y="3433774"/>
            <a:ext cx="91563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rPr>
              <a:t>필요 시 위임</a:t>
            </a: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2E400996-56CF-E4EE-B3FD-C38C6ED8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907" y="4334651"/>
            <a:ext cx="133882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rPr>
              <a:t>업무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rPr>
              <a:t>Workflow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rPr>
              <a:t>참조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6FF78F5-B15E-55E4-FC30-885504C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464" y="3779780"/>
            <a:ext cx="214033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질문 이해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/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계획 수립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/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기능 선택</a:t>
            </a:r>
          </a:p>
          <a:p xmlns:a="http://schemas.openxmlformats.org/drawingml/2006/main">
            <a:pPr algn="ctr">
              <a:buNone/>
            </a:pP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실행 조정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/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결과 통합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3DD8A8AB-90C9-B78C-79E4-47EE6DA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382" y="3127652"/>
            <a:ext cx="125547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ORCHESTRATION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6E1AF52C-5536-8997-F1CE-B29982A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164" y="5222110"/>
            <a:ext cx="313098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Agent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가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Tool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을 발견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호출하고 결과를 받을 수 있는 규약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95866D89-730D-56D2-812D-5704E2B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03" y="5129895"/>
            <a:ext cx="277672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어떤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Tool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을 어떤 순서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기준으로 사용할 지 정의한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용 업무절차서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반복 업무를 안정적으로 실행</a:t>
            </a:r>
          </a:p>
        </p:txBody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A75AABFA-AB31-BE5A-A6AD-A2C4E6E0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13" y="3402525"/>
            <a:ext cx="13500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전문 판단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독립 기능이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필요한 경우만 위임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EDA82AB-C70D-2587-542C-1174A73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38" y="3424865"/>
            <a:ext cx="1356462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질문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지시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출력물 요청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3595D2A4-32A9-D64A-97A2-E9D3FBC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8" y="5764547"/>
            <a:ext cx="200792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TOOL</a:t>
            </a:r>
            <a:r>
              <a:rPr sz="14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</a:rPr>
              <a:t> </a:t>
            </a:r>
            <a:r>
              <a:rPr sz="14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51515"/>
                </a:solidFill>
              </a:rPr>
              <a:t>· </a:t>
            </a: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실제 실행 기능</a:t>
            </a: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ADF55481-93F6-16B2-8A3A-30C0F62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8" y="6069898"/>
            <a:ext cx="383791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업무 책임 범위에 따라 단위 기능 또는 완결된 복합 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Tool</a:t>
            </a: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로 구현</a:t>
            </a:r>
          </a:p>
        </p:txBody>
      </p:sp>
      <p:sp>
        <p:nvSpPr>
          <p:cNvPr id="159" name="tool-sep-2">
            <a:extLst xmlns:a="http://schemas.openxmlformats.org/drawingml/2006/main">
              <a:ext uri="{FF2B5EF4-FFF2-40B4-BE49-F238E27FC236}">
                <a16:creationId xmlns:a16="http://schemas.microsoft.com/office/drawing/2014/main" id="{3BEA9B6A-18B0-4073-0366-EE15573A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407" y="5833454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tool-sep-2">
            <a:extLst xmlns:a="http://schemas.openxmlformats.org/drawingml/2006/main">
              <a:ext uri="{FF2B5EF4-FFF2-40B4-BE49-F238E27FC236}">
                <a16:creationId xmlns:a16="http://schemas.microsoft.com/office/drawing/2014/main" id="{6DC63553-3FDF-40AC-9FC0-79B6212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434" y="5833454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extBox 154">
            <a:extLst xmlns:a="http://schemas.openxmlformats.org/drawingml/2006/main">
              <a:ext uri="{FF2B5EF4-FFF2-40B4-BE49-F238E27FC236}">
                <a16:creationId xmlns:a16="http://schemas.microsoft.com/office/drawing/2014/main" id="{45D0B2B2-AC08-BF1B-32EA-1C4A27E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4645" y="5839379"/>
            <a:ext cx="801823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데이터 조회</a:t>
            </a:r>
          </a:p>
        </p:txBody>
      </p:sp>
      <p:sp>
        <p:nvSpPr>
          <p:cNvPr id="162" name="TextBox 161">
            <a:extLst xmlns:a="http://schemas.openxmlformats.org/drawingml/2006/main">
              <a:ext uri="{FF2B5EF4-FFF2-40B4-BE49-F238E27FC236}">
                <a16:creationId xmlns:a16="http://schemas.microsoft.com/office/drawing/2014/main" id="{8FF15AD6-21DD-72A0-A4F4-9355D734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0908" y="6042021"/>
            <a:ext cx="949299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API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문서</a:t>
            </a:r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85D62717-2182-29DE-53D2-7A9B4BF9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4956" y="5849627"/>
            <a:ext cx="968535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분석</a:t>
            </a: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/</a:t>
            </a: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업무 로직</a:t>
            </a:r>
          </a:p>
        </p:txBody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987B9C41-27B5-5E66-889C-E0A18FB4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4843" y="6052269"/>
            <a:ext cx="108876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계산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예측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판단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39907820-5435-6416-EBEB-C17BDD8D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1938" y="5845645"/>
            <a:ext cx="792204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Legacy</a:t>
            </a:r>
            <a:r>
              <a:rPr sz="9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연계</a:t>
            </a:r>
          </a:p>
        </p:txBody>
      </p:sp>
      <p:sp>
        <p:nvSpPr>
          <p:cNvPr id="164" name="TextBox 163">
            <a:extLst xmlns:a="http://schemas.openxmlformats.org/drawingml/2006/main">
              <a:ext uri="{FF2B5EF4-FFF2-40B4-BE49-F238E27FC236}">
                <a16:creationId xmlns:a16="http://schemas.microsoft.com/office/drawing/2014/main" id="{5A2C6A2D-2E8A-47F2-61B8-0387846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9383" y="6048287"/>
            <a:ext cx="957314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실제 조치 실행</a:t>
            </a:r>
          </a:p>
        </p:txBody>
      </p:sp>
      <p:sp>
        <p:nvSpPr>
          <p:cNvPr id="176" name="이등변 삼각형 175">
            <a:extLst xmlns:a="http://schemas.openxmlformats.org/drawingml/2006/main">
              <a:ext uri="{FF2B5EF4-FFF2-40B4-BE49-F238E27FC236}">
                <a16:creationId xmlns:a16="http://schemas.microsoft.com/office/drawing/2014/main" id="{380D46E4-5E67-B6C0-C71E-CF87DB0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94" y="2447466"/>
            <a:ext cx="6474861" cy="572830"/>
          </a:xfrm>
          <a:prstGeom xmlns:a="http://schemas.openxmlformats.org/drawingml/2006/main" prst="triangle">
            <a:avLst/>
          </a:prstGeom>
          <a:gradFill xmlns:a="http://schemas.openxmlformats.org/drawingml/2006/main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5" name="사각형: 둥근 모서리 184">
            <a:extLst xmlns:a="http://schemas.openxmlformats.org/drawingml/2006/main">
              <a:ext uri="{FF2B5EF4-FFF2-40B4-BE49-F238E27FC236}">
                <a16:creationId xmlns:a16="http://schemas.microsoft.com/office/drawing/2014/main" id="{B3E7FEDA-CBD1-AAAD-824E-F001FD6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1" y="1837712"/>
            <a:ext cx="6799106" cy="84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ACED0F08-C5E2-3DB4-E79A-FBA8056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387" y="1836441"/>
            <a:ext cx="16230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Agent Harness</a:t>
            </a:r>
          </a:p>
        </p:txBody>
      </p:sp>
      <p:sp>
        <p:nvSpPr>
          <p:cNvPr id="189" name="TextBox 188">
            <a:extLst xmlns:a="http://schemas.openxmlformats.org/drawingml/2006/main">
              <a:ext uri="{FF2B5EF4-FFF2-40B4-BE49-F238E27FC236}">
                <a16:creationId xmlns:a16="http://schemas.microsoft.com/office/drawing/2014/main" id="{3D23C137-04B5-69F1-CD5E-58B1E74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42" y="2145182"/>
            <a:ext cx="6641562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AI</a:t>
            </a: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가 장기적인 목표를 잃지 않고 통제된 데이터와 정해진 절차</a:t>
            </a: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(</a:t>
            </a: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가드레일</a:t>
            </a: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) </a:t>
            </a: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안에서 움직이게 하는 시스템</a:t>
            </a:r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F84D358B-D50B-78D4-AD69-9F913C7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06" y="2395966"/>
            <a:ext cx="79861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지시 문서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DAA79BB4-1F16-78B1-4D32-D71F92F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180" y="2395966"/>
            <a:ext cx="1080745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아키텍처 제약</a:t>
            </a:r>
          </a:p>
        </p:txBody>
      </p:sp>
      <p:sp>
        <p:nvSpPr>
          <p:cNvPr id="193" name="TextBox 192">
            <a:extLst xmlns:a="http://schemas.openxmlformats.org/drawingml/2006/main">
              <a:ext uri="{FF2B5EF4-FFF2-40B4-BE49-F238E27FC236}">
                <a16:creationId xmlns:a16="http://schemas.microsoft.com/office/drawing/2014/main" id="{3BC21A54-9636-6C3C-68AE-B6EB9DF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882" y="2395966"/>
            <a:ext cx="939681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지식 저장소</a:t>
            </a:r>
          </a:p>
        </p:txBody>
      </p:sp>
      <p:sp>
        <p:nvSpPr>
          <p:cNvPr id="194" name="TextBox 193">
            <a:extLst xmlns:a="http://schemas.openxmlformats.org/drawingml/2006/main">
              <a:ext uri="{FF2B5EF4-FFF2-40B4-BE49-F238E27FC236}">
                <a16:creationId xmlns:a16="http://schemas.microsoft.com/office/drawing/2014/main" id="{14A80F66-7FBA-83E4-DB38-4DC4DC1B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520" y="2395966"/>
            <a:ext cx="174438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피드백 루프 및 가드레일</a:t>
            </a:r>
          </a:p>
        </p:txBody>
      </p:sp>
      <p:sp>
        <p:nvSpPr>
          <p:cNvPr id="196" name="tool-sep-2">
            <a:extLst xmlns:a="http://schemas.openxmlformats.org/drawingml/2006/main">
              <a:ext uri="{FF2B5EF4-FFF2-40B4-BE49-F238E27FC236}">
                <a16:creationId xmlns:a16="http://schemas.microsoft.com/office/drawing/2014/main" id="{B4E95055-AFE5-7B16-6CEA-D3C1A1D4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439" y="2454891"/>
            <a:ext cx="9525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tool-sep-2">
            <a:extLst xmlns:a="http://schemas.openxmlformats.org/drawingml/2006/main">
              <a:ext uri="{FF2B5EF4-FFF2-40B4-BE49-F238E27FC236}">
                <a16:creationId xmlns:a16="http://schemas.microsoft.com/office/drawing/2014/main" id="{23208134-436D-EEA1-94D9-4E24A261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141" y="2454891"/>
            <a:ext cx="9525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tool-sep-2">
            <a:extLst xmlns:a="http://schemas.openxmlformats.org/drawingml/2006/main">
              <a:ext uri="{FF2B5EF4-FFF2-40B4-BE49-F238E27FC236}">
                <a16:creationId xmlns:a16="http://schemas.microsoft.com/office/drawing/2014/main" id="{BB77CA4A-E87F-BA7A-CC61-2FEB0D9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779" y="2454891"/>
            <a:ext cx="9525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section-text-우리 부문 적용 전략">
            <a:extLst xmlns:a="http://schemas.openxmlformats.org/drawingml/2006/main">
              <a:ext uri="{FF2B5EF4-FFF2-40B4-BE49-F238E27FC236}">
                <a16:creationId xmlns:a16="http://schemas.microsoft.com/office/drawing/2014/main" id="{E7C7F587-0EAE-5BC1-F028-8BA02FE9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573" y="2051201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 부문 적용 전략</a:t>
            </a:r>
          </a:p>
        </p:txBody>
      </p:sp>
      <p:sp>
        <p:nvSpPr>
          <p:cNvPr id="204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CF08E280-5E96-D48A-D6D7-474AB4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4233" y="1836441"/>
            <a:ext cx="18000" cy="46647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strategy-sep-1">
            <a:extLst xmlns:a="http://schemas.openxmlformats.org/drawingml/2006/main">
              <a:ext uri="{FF2B5EF4-FFF2-40B4-BE49-F238E27FC236}">
                <a16:creationId xmlns:a16="http://schemas.microsoft.com/office/drawing/2014/main" id="{3FFDB177-3215-56C3-6018-0BFE465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537" y="3393767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strategy-sep-2">
            <a:extLst xmlns:a="http://schemas.openxmlformats.org/drawingml/2006/main">
              <a:ext uri="{FF2B5EF4-FFF2-40B4-BE49-F238E27FC236}">
                <a16:creationId xmlns:a16="http://schemas.microsoft.com/office/drawing/2014/main" id="{EC5E530D-01AE-34B3-F7EF-5E4B95C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3" y="4690982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TextBox 234">
            <a:extLst xmlns:a="http://schemas.openxmlformats.org/drawingml/2006/main">
              <a:ext uri="{FF2B5EF4-FFF2-40B4-BE49-F238E27FC236}">
                <a16:creationId xmlns:a16="http://schemas.microsoft.com/office/drawing/2014/main" id="{C527C74D-1BB1-3F29-68C0-7FBE0EB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55" y="1497423"/>
            <a:ext cx="205216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P&amp;T AI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 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Agent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 구조 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]</a:t>
            </a:r>
          </a:p>
        </p:txBody>
      </p:sp>
      <p:sp>
        <p:nvSpPr>
          <p:cNvPr id="236" name="TextBox 235">
            <a:extLst xmlns:a="http://schemas.openxmlformats.org/drawingml/2006/main">
              <a:ext uri="{FF2B5EF4-FFF2-40B4-BE49-F238E27FC236}">
                <a16:creationId xmlns:a16="http://schemas.microsoft.com/office/drawing/2014/main" id="{A469A349-5DA3-4F92-98B6-4EB57FB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82" y="1497423"/>
            <a:ext cx="151515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부문 적용 전략</a:t>
            </a: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]</a:t>
            </a:r>
          </a:p>
        </p:txBody>
      </p:sp>
      <p:sp>
        <p:nvSpPr>
          <p:cNvPr id="238" name="TextBox 237">
            <a:extLst xmlns:a="http://schemas.openxmlformats.org/drawingml/2006/main">
              <a:ext uri="{FF2B5EF4-FFF2-40B4-BE49-F238E27FC236}">
                <a16:creationId xmlns:a16="http://schemas.microsoft.com/office/drawing/2014/main" id="{EEA7B61F-9DEF-8ACE-0FDC-BFCEC47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3" y="1973607"/>
            <a:ext cx="45076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01</a:t>
            </a:r>
          </a:p>
        </p:txBody>
      </p:sp>
      <p:sp>
        <p:nvSpPr>
          <p:cNvPr id="239" name="TextBox 238">
            <a:extLst xmlns:a="http://schemas.openxmlformats.org/drawingml/2006/main">
              <a:ext uri="{FF2B5EF4-FFF2-40B4-BE49-F238E27FC236}">
                <a16:creationId xmlns:a16="http://schemas.microsoft.com/office/drawing/2014/main" id="{DEBF9B0E-86A0-2944-AE8D-4677BE2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3" y="3407444"/>
            <a:ext cx="45076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02</a:t>
            </a:r>
          </a:p>
        </p:txBody>
      </p:sp>
      <p:sp>
        <p:nvSpPr>
          <p:cNvPr id="240" name="TextBox 239">
            <a:extLst xmlns:a="http://schemas.openxmlformats.org/drawingml/2006/main">
              <a:ext uri="{FF2B5EF4-FFF2-40B4-BE49-F238E27FC236}">
                <a16:creationId xmlns:a16="http://schemas.microsoft.com/office/drawing/2014/main" id="{3BBECD84-73EA-B67A-0432-8D5FB2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3" y="4735500"/>
            <a:ext cx="45076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03</a:t>
            </a:r>
          </a:p>
        </p:txBody>
      </p:sp>
      <p:sp>
        <p:nvSpPr>
          <p:cNvPr id="241" name="TextBox 240">
            <a:extLst xmlns:a="http://schemas.openxmlformats.org/drawingml/2006/main">
              <a:ext uri="{FF2B5EF4-FFF2-40B4-BE49-F238E27FC236}">
                <a16:creationId xmlns:a16="http://schemas.microsoft.com/office/drawing/2014/main" id="{2889C242-754A-3385-CD24-B4A893E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51" y="1988996"/>
            <a:ext cx="156004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공통 실행 기반</a:t>
            </a:r>
          </a:p>
        </p:txBody>
      </p:sp>
      <p:sp>
        <p:nvSpPr>
          <p:cNvPr id="242" name="TextBox 241">
            <a:extLst xmlns:a="http://schemas.openxmlformats.org/drawingml/2006/main">
              <a:ext uri="{FF2B5EF4-FFF2-40B4-BE49-F238E27FC236}">
                <a16:creationId xmlns:a16="http://schemas.microsoft.com/office/drawing/2014/main" id="{D6BDF405-ECB3-A507-3817-AE21F8C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51" y="3422833"/>
            <a:ext cx="224773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업무 기능은 조직 자율</a:t>
            </a: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4AC8FB21-B661-C73A-FA03-2CD37AC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51" y="4750889"/>
            <a:ext cx="197041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연결 경계만 공통화</a:t>
            </a:r>
          </a:p>
        </p:txBody>
      </p:sp>
      <p:sp>
        <p:nvSpPr>
          <p:cNvPr id="244" name="TextBox 243">
            <a:extLst xmlns:a="http://schemas.openxmlformats.org/drawingml/2006/main">
              <a:ext uri="{FF2B5EF4-FFF2-40B4-BE49-F238E27FC236}">
                <a16:creationId xmlns:a16="http://schemas.microsoft.com/office/drawing/2014/main" id="{F99E500F-A864-2F55-070B-717AEDE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57" y="3826014"/>
            <a:ext cx="3403496" cy="7860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실행을 위한 업무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Tool/Skill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은 현업이 설계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구현하는 방식은 수준에 따라 자유롭게 선택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    :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초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/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중급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– Agent Builder,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고급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– Code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기반</a:t>
            </a:r>
          </a:p>
        </p:txBody>
      </p:sp>
      <p:sp>
        <p:nvSpPr>
          <p:cNvPr id="245" name="TextBox 244">
            <a:extLst xmlns:a="http://schemas.openxmlformats.org/drawingml/2006/main">
              <a:ext uri="{FF2B5EF4-FFF2-40B4-BE49-F238E27FC236}">
                <a16:creationId xmlns:a16="http://schemas.microsoft.com/office/drawing/2014/main" id="{B4BAFDA1-0B80-6ECA-DD8B-FFE18EF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57" y="2282437"/>
            <a:ext cx="3544240" cy="10261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Main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Agent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및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Harness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구조는 공통 기반 활용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구독 영역을 기반으로 필요한 기능만 활용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활용 플랫폼은 적합성 검토 후 선정 예정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   :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전사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Gaia2.0 / P&amp;M PINOT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中 선택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 @10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월</a:t>
            </a:r>
          </a:p>
        </p:txBody>
      </p:sp>
      <p:sp>
        <p:nvSpPr>
          <p:cNvPr id="246" name="TextBox 245">
            <a:extLst xmlns:a="http://schemas.openxmlformats.org/drawingml/2006/main">
              <a:ext uri="{FF2B5EF4-FFF2-40B4-BE49-F238E27FC236}">
                <a16:creationId xmlns:a16="http://schemas.microsoft.com/office/drawing/2014/main" id="{17889CBF-3E32-A1D8-C602-07E2517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57" y="5119517"/>
            <a:ext cx="3166251" cy="5459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이름과 내부 구현 방식은 자유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MCP </a:t>
            </a: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호출 방식과 공통 출력 형식만 유지</a:t>
            </a:r>
          </a:p>
        </p:txBody>
      </p:sp>
      <p:sp>
        <p:nvSpPr>
          <p:cNvPr id="248" name="skill-role">
            <a:extLst xmlns:a="http://schemas.openxmlformats.org/drawingml/2006/main">
              <a:ext uri="{FF2B5EF4-FFF2-40B4-BE49-F238E27FC236}">
                <a16:creationId xmlns:a16="http://schemas.microsoft.com/office/drawing/2014/main" id="{EE28EC22-FCF9-69E4-D6AE-1880E99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75" y="5810773"/>
            <a:ext cx="3875226" cy="675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9" name="TextBox 248">
            <a:extLst xmlns:a="http://schemas.openxmlformats.org/drawingml/2006/main">
              <a:ext uri="{FF2B5EF4-FFF2-40B4-BE49-F238E27FC236}">
                <a16:creationId xmlns:a16="http://schemas.microsoft.com/office/drawing/2014/main" id="{90D856C6-AA67-FB7B-E856-4A639AF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19" y="5896608"/>
            <a:ext cx="364394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ln>
                  <a:solidFill>
                    <a:srgbClr val="D8D8D8">
                      <a:alpha val="0"/>
                    </a:srgbClr>
                  </a:solidFill>
                </a:ln>
              </a:rPr>
              <a:t>중복 기능은 실제 재사용 수요를 확인한 뒤 공용화</a:t>
            </a:r>
          </a:p>
        </p:txBody>
      </p:sp>
      <p:sp>
        <p:nvSpPr>
          <p:cNvPr id="250" name="TextBox 249">
            <a:extLst xmlns:a="http://schemas.openxmlformats.org/drawingml/2006/main">
              <a:ext uri="{FF2B5EF4-FFF2-40B4-BE49-F238E27FC236}">
                <a16:creationId xmlns:a16="http://schemas.microsoft.com/office/drawing/2014/main" id="{24565CAA-02D4-2393-D705-6376455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3" y="6134353"/>
            <a:ext cx="398538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n>
                  <a:solidFill>
                    <a:srgbClr val="D8D8D8">
                      <a:alpha val="0"/>
                    </a:srgbClr>
                  </a:solidFill>
                </a:ln>
              </a:rPr>
              <a:t>사전 통제보다는 사용성과 운영 효율을 기준으로 판단</a:t>
            </a:r>
          </a:p>
        </p:txBody>
      </p:sp>
      <p:sp>
        <p:nvSpPr>
          <p:cNvPr id="253" name="TextBox 252">
            <a:extLst xmlns:a="http://schemas.openxmlformats.org/drawingml/2006/main">
              <a:ext uri="{FF2B5EF4-FFF2-40B4-BE49-F238E27FC236}">
                <a16:creationId xmlns:a16="http://schemas.microsoft.com/office/drawing/2014/main" id="{FFF6F1DA-BEDA-F146-61DF-5C80699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7480"/>
            <a:ext cx="1219200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공통 </a:t>
            </a:r>
            <a:r>
              <a:rPr sz="2000" b="1"/>
              <a:t>AI Agent </a:t>
            </a:r>
            <a:r>
              <a:rPr sz="2000" b="1"/>
              <a:t>기반 위에 조직별 업무 특성을 반영한 </a:t>
            </a:r>
            <a:r>
              <a:rPr sz="2000" b="1"/>
              <a:t>Skill</a:t>
            </a:r>
            <a:r>
              <a:rPr sz="2000" b="1"/>
              <a:t>과 </a:t>
            </a:r>
            <a:r>
              <a:rPr sz="2000" b="1"/>
              <a:t>Tool</a:t>
            </a:r>
            <a:r>
              <a:rPr sz="2000" b="1"/>
              <a:t>을 연결</a:t>
            </a:r>
          </a:p>
        </p:txBody>
      </p:sp>
      <p:sp>
        <p:nvSpPr>
          <p:cNvPr id="255" name="직사각형 254">
            <a:extLst xmlns:a="http://schemas.openxmlformats.org/drawingml/2006/main">
              <a:ext uri="{FF2B5EF4-FFF2-40B4-BE49-F238E27FC236}">
                <a16:creationId xmlns:a16="http://schemas.microsoft.com/office/drawing/2014/main" id="{AB35ECF4-A4ED-5471-8EA3-24D096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3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457F5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111111"/>
                </a:solidFill>
                <a:latin typeface="+mn-ea"/>
                <a:ea typeface="+mn-ea"/>
                <a:cs typeface="+mn-ea"/>
              </a:rPr>
              <a:t>00. P&amp;T AI Agent</a:t>
            </a:r>
            <a:r>
              <a:rPr sz="2200" b="1">
                <a:solidFill>
                  <a:srgbClr val="111111"/>
                </a:solidFill>
                <a:latin typeface="+mn-ea"/>
                <a:ea typeface="+mn-ea"/>
                <a:cs typeface="+mn-ea"/>
              </a:rPr>
              <a:t> 추진 전략 </a:t>
            </a:r>
          </a:p>
        </p:txBody>
      </p:sp>
      <p:sp>
        <p:nvSpPr>
          <p:cNvPr id="258" name="TextBox 257">
            <a:extLst xmlns:a="http://schemas.openxmlformats.org/drawingml/2006/main">
              <a:ext uri="{FF2B5EF4-FFF2-40B4-BE49-F238E27FC236}">
                <a16:creationId xmlns:a16="http://schemas.microsoft.com/office/drawing/2014/main" id="{AA89E894-7A9B-A7B5-C0A8-C314D137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49" y="4612063"/>
            <a:ext cx="1337226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</a:rPr>
              <a:t>※ Skill/MCP Market</a:t>
            </a:r>
          </a:p>
        </p:txBody>
      </p:sp>
    </p:spTree>
    <p:extLst>
      <p:ext uri="{BB962C8B-B14F-4D97-AF65-F5344CB8AC3E}">
        <p14:creationId xmlns:p14="http://schemas.microsoft.com/office/powerpoint/2010/main" val="19353600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5C9EBB4-789B-D676-FFD7-CC94A6D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" y="1796701"/>
            <a:ext cx="7201281" cy="4800029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skill">
            <a:extLst xmlns:a="http://schemas.openxmlformats.org/drawingml/2006/main">
              <a:ext uri="{FF2B5EF4-FFF2-40B4-BE49-F238E27FC236}">
                <a16:creationId xmlns:a16="http://schemas.microsoft.com/office/drawing/2014/main" id="{52AF907C-3695-A7D4-B692-B0DE857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5572125"/>
            <a:ext cx="6800850" cy="685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7" name="skill">
            <a:extLst xmlns:a="http://schemas.openxmlformats.org/drawingml/2006/main">
              <a:ext uri="{FF2B5EF4-FFF2-40B4-BE49-F238E27FC236}">
                <a16:creationId xmlns:a16="http://schemas.microsoft.com/office/drawing/2014/main" id="{CD1CD1FE-AAA0-DDFF-DC1D-AB1DFE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333875"/>
            <a:ext cx="3333750" cy="1000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8" name="skill">
            <a:extLst xmlns:a="http://schemas.openxmlformats.org/drawingml/2006/main">
              <a:ext uri="{FF2B5EF4-FFF2-40B4-BE49-F238E27FC236}">
                <a16:creationId xmlns:a16="http://schemas.microsoft.com/office/drawing/2014/main" id="{928FBFF1-3D52-F3B2-C5E1-89E9B3E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650" y="4333875"/>
            <a:ext cx="3333750" cy="1000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2" name="skill">
            <a:extLst xmlns:a="http://schemas.openxmlformats.org/drawingml/2006/main">
              <a:ext uri="{FF2B5EF4-FFF2-40B4-BE49-F238E27FC236}">
                <a16:creationId xmlns:a16="http://schemas.microsoft.com/office/drawing/2014/main" id="{1FCA7334-F4A5-F60C-5FA2-DE6DB4B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0650" y="2952750"/>
            <a:ext cx="2190750" cy="1047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4" name="skill">
            <a:extLst xmlns:a="http://schemas.openxmlformats.org/drawingml/2006/main">
              <a:ext uri="{FF2B5EF4-FFF2-40B4-BE49-F238E27FC236}">
                <a16:creationId xmlns:a16="http://schemas.microsoft.com/office/drawing/2014/main" id="{7001369E-855E-1214-C1F4-5BFF62D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5600" y="2952750"/>
            <a:ext cx="2152650" cy="1047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0" name="skill">
            <a:extLst xmlns:a="http://schemas.openxmlformats.org/drawingml/2006/main">
              <a:ext uri="{FF2B5EF4-FFF2-40B4-BE49-F238E27FC236}">
                <a16:creationId xmlns:a16="http://schemas.microsoft.com/office/drawing/2014/main" id="{FE6CA667-85FC-D032-17F9-295850B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952750"/>
            <a:ext cx="2152650" cy="1047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479416-61D0-70AD-DC25-3E22F48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15049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Sub Agent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00AAE5F-ABB9-5642-5F99-74E288E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05150"/>
            <a:ext cx="14287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Skill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5B275A2-E2EC-7A21-03CF-AEBDB49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77165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Main Agent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0D2EDD1D-49AB-4255-5E20-9D2F936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6286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Main Agent는 조정 · Skill은 방법 · Tool은 실행 · MCP는 연결 · Harness는 통제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B02754A-1450-52BD-A9BB-309D803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714375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MCP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EF3D7CB5-83F1-E33F-236B-6DB5846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2143125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Agent와 Tool 사이의 공통 연결 규약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6FF78F5-B15E-55E4-FC30-885504C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809750" cy="400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요청 이해·계획·기능 선택</a:t>
            </a:r>
          </a:p>
          <a:p xmlns:a="http://schemas.openxmlformats.org/drawingml/2006/main">
            <a:pPr algn="ctr">
              <a:buNone/>
            </a:pP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실행 조정·결과 통합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3DD8A8AB-90C9-B78C-79E4-47EE6DA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13335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ORCHESTRATION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6E1AF52C-5536-8997-F1CE-B29982A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Tool·Resource·Prompt를 발견하고 호출하며 결과를 교환</a:t>
            </a:r>
          </a:p>
        </p:txBody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A75AABFA-AB31-BE5A-A6AD-A2C4E6E0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52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업무 수행 순서·판단 기준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주의사항·결과 형식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EDA82AB-C70D-2587-542C-1174A73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전문영역 또는 독립 작업을 분담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필요한 경우만 사용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3595D2A4-32A9-D64A-97A2-E9D3FBC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48175"/>
            <a:ext cx="25717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Tool · 실제 실행 기능</a:t>
            </a: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ADF55481-93F6-16B2-8A3A-30C0F62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데이터 조회·분석·파일 생성·시스템 변경 등 실제 동작 수행</a:t>
            </a:r>
          </a:p>
        </p:txBody>
      </p:sp>
      <p:sp>
        <p:nvSpPr>
          <p:cNvPr id="185" name="사각형: 둥근 모서리 184">
            <a:extLst xmlns:a="http://schemas.openxmlformats.org/drawingml/2006/main">
              <a:ext uri="{FF2B5EF4-FFF2-40B4-BE49-F238E27FC236}">
                <a16:creationId xmlns:a16="http://schemas.microsoft.com/office/drawing/2014/main" id="{B3E7FEDA-CBD1-AAAD-824E-F001FD6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9" y="1837754"/>
            <a:ext cx="6799136" cy="84210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ACED0F08-C5E2-3DB4-E79A-FBA8056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85950"/>
            <a:ext cx="466725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Harness · 전체 실행과 통제</a:t>
            </a:r>
          </a:p>
        </p:txBody>
      </p:sp>
      <p:sp>
        <p:nvSpPr>
          <p:cNvPr id="189" name="TextBox 188">
            <a:extLst xmlns:a="http://schemas.openxmlformats.org/drawingml/2006/main">
              <a:ext uri="{FF2B5EF4-FFF2-40B4-BE49-F238E27FC236}">
                <a16:creationId xmlns:a16="http://schemas.microsoft.com/office/drawing/2014/main" id="{3D23C137-04B5-69F1-CD5E-58B1E74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628650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Agent Loop·Context·권한·승인·재시도·검증·로그를 관리하는 공통 실행환경</a:t>
            </a:r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F84D358B-D50B-78D4-AD69-9F913C7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104775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Agent Loop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DAA79BB4-1F16-78B1-4D32-D71F92F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9825"/>
            <a:ext cx="104775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권한·승인</a:t>
            </a:r>
          </a:p>
        </p:txBody>
      </p:sp>
      <p:sp>
        <p:nvSpPr>
          <p:cNvPr id="193" name="TextBox 192">
            <a:extLst xmlns:a="http://schemas.openxmlformats.org/drawingml/2006/main">
              <a:ext uri="{FF2B5EF4-FFF2-40B4-BE49-F238E27FC236}">
                <a16:creationId xmlns:a16="http://schemas.microsoft.com/office/drawing/2014/main" id="{3BC21A54-9636-6C3C-68AE-B6EB9DF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9825"/>
            <a:ext cx="114300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Timeout·Retry</a:t>
            </a:r>
          </a:p>
        </p:txBody>
      </p:sp>
      <p:sp>
        <p:nvSpPr>
          <p:cNvPr id="194" name="TextBox 193">
            <a:extLst xmlns:a="http://schemas.openxmlformats.org/drawingml/2006/main">
              <a:ext uri="{FF2B5EF4-FFF2-40B4-BE49-F238E27FC236}">
                <a16:creationId xmlns:a16="http://schemas.microsoft.com/office/drawing/2014/main" id="{14A80F66-7FBA-83E4-DB38-4DC4DC1B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9825"/>
            <a:ext cx="142875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ea"/>
              </a:rPr>
              <a:t>검증·감사 로그</a:t>
            </a:r>
          </a:p>
        </p:txBody>
      </p:sp>
      <p:sp>
        <p:nvSpPr>
          <p:cNvPr id="204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CF08E280-5E96-D48A-D6D7-474AB4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4212" y="1836420"/>
            <a:ext cx="18002" cy="4664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strategy-sep-1">
            <a:extLst xmlns:a="http://schemas.openxmlformats.org/drawingml/2006/main">
              <a:ext uri="{FF2B5EF4-FFF2-40B4-BE49-F238E27FC236}">
                <a16:creationId xmlns:a16="http://schemas.microsoft.com/office/drawing/2014/main" id="{3FFDB177-3215-56C3-6018-0BFE465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526" y="3393758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strategy-sep-2">
            <a:extLst xmlns:a="http://schemas.openxmlformats.org/drawingml/2006/main">
              <a:ext uri="{FF2B5EF4-FFF2-40B4-BE49-F238E27FC236}">
                <a16:creationId xmlns:a16="http://schemas.microsoft.com/office/drawing/2014/main" id="{EC5E530D-01AE-34B3-F7EF-5E4B95C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690967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TextBox 234">
            <a:extLst xmlns:a="http://schemas.openxmlformats.org/drawingml/2006/main">
              <a:ext uri="{FF2B5EF4-FFF2-40B4-BE49-F238E27FC236}">
                <a16:creationId xmlns:a16="http://schemas.microsoft.com/office/drawing/2014/main" id="{C527C74D-1BB1-3F29-68C0-7FBE0EB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7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구성요소별 역할 ]</a:t>
            </a:r>
          </a:p>
        </p:txBody>
      </p:sp>
      <p:sp>
        <p:nvSpPr>
          <p:cNvPr id="236" name="TextBox 235">
            <a:extLst xmlns:a="http://schemas.openxmlformats.org/drawingml/2006/main">
              <a:ext uri="{FF2B5EF4-FFF2-40B4-BE49-F238E27FC236}">
                <a16:creationId xmlns:a16="http://schemas.microsoft.com/office/drawing/2014/main" id="{A469A349-5DA3-4F92-98B6-4EB57FB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64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혼동하기 쉬운 차이 ]</a:t>
            </a:r>
          </a:p>
        </p:txBody>
      </p:sp>
      <p:sp>
        <p:nvSpPr>
          <p:cNvPr id="238" name="TextBox 237">
            <a:extLst xmlns:a="http://schemas.openxmlformats.org/drawingml/2006/main">
              <a:ext uri="{FF2B5EF4-FFF2-40B4-BE49-F238E27FC236}">
                <a16:creationId xmlns:a16="http://schemas.microsoft.com/office/drawing/2014/main" id="{EEA7B61F-9DEF-8ACE-0FDC-BFCEC47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1973580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01</a:t>
            </a:r>
          </a:p>
        </p:txBody>
      </p:sp>
      <p:sp>
        <p:nvSpPr>
          <p:cNvPr id="239" name="TextBox 238">
            <a:extLst xmlns:a="http://schemas.openxmlformats.org/drawingml/2006/main">
              <a:ext uri="{FF2B5EF4-FFF2-40B4-BE49-F238E27FC236}">
                <a16:creationId xmlns:a16="http://schemas.microsoft.com/office/drawing/2014/main" id="{DEBF9B0E-86A0-2944-AE8D-4677BE2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340747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02</a:t>
            </a:r>
          </a:p>
        </p:txBody>
      </p:sp>
      <p:sp>
        <p:nvSpPr>
          <p:cNvPr id="240" name="TextBox 239">
            <a:extLst xmlns:a="http://schemas.openxmlformats.org/drawingml/2006/main">
              <a:ext uri="{FF2B5EF4-FFF2-40B4-BE49-F238E27FC236}">
                <a16:creationId xmlns:a16="http://schemas.microsoft.com/office/drawing/2014/main" id="{3BBECD84-73EA-B67A-0432-8D5FB2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73554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03</a:t>
            </a:r>
          </a:p>
        </p:txBody>
      </p:sp>
      <p:sp>
        <p:nvSpPr>
          <p:cNvPr id="241" name="TextBox 240">
            <a:extLst xmlns:a="http://schemas.openxmlformats.org/drawingml/2006/main">
              <a:ext uri="{FF2B5EF4-FFF2-40B4-BE49-F238E27FC236}">
                <a16:creationId xmlns:a16="http://schemas.microsoft.com/office/drawing/2014/main" id="{2889C242-754A-3385-CD24-B4A893E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1989011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Skill과 Harness</a:t>
            </a:r>
          </a:p>
        </p:txBody>
      </p:sp>
      <p:sp>
        <p:nvSpPr>
          <p:cNvPr id="242" name="TextBox 241">
            <a:extLst xmlns:a="http://schemas.openxmlformats.org/drawingml/2006/main">
              <a:ext uri="{FF2B5EF4-FFF2-40B4-BE49-F238E27FC236}">
                <a16:creationId xmlns:a16="http://schemas.microsoft.com/office/drawing/2014/main" id="{D6BDF405-ECB3-A507-3817-AE21F8C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3422904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Main Agent와 Sub Agent</a:t>
            </a: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4AC8FB21-B661-C73A-FA03-2CD37AC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4750975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Tool과 MCP</a:t>
            </a:r>
          </a:p>
        </p:txBody>
      </p:sp>
      <p:sp>
        <p:nvSpPr>
          <p:cNvPr id="244" name="TextBox 243">
            <a:extLst xmlns:a="http://schemas.openxmlformats.org/drawingml/2006/main">
              <a:ext uri="{FF2B5EF4-FFF2-40B4-BE49-F238E27FC236}">
                <a16:creationId xmlns:a16="http://schemas.microsoft.com/office/drawing/2014/main" id="{F99E500F-A864-2F55-070B-717AEDE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3826002"/>
            <a:ext cx="3403473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Main: 계획·조정·결과 통합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Sub: 필요한 경우 전문 작업 분담</a:t>
            </a:r>
          </a:p>
        </p:txBody>
      </p:sp>
      <p:sp>
        <p:nvSpPr>
          <p:cNvPr id="245" name="TextBox 244">
            <a:extLst xmlns:a="http://schemas.openxmlformats.org/drawingml/2006/main">
              <a:ext uri="{FF2B5EF4-FFF2-40B4-BE49-F238E27FC236}">
                <a16:creationId xmlns:a16="http://schemas.microsoft.com/office/drawing/2014/main" id="{B4BAFDA1-0B80-6ECA-DD8B-FFE18EF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2282476"/>
            <a:ext cx="3544253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Skill: 특정 업무를 수행하는 방법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Harness: Agent 전체 실행·통제 환경</a:t>
            </a:r>
          </a:p>
        </p:txBody>
      </p:sp>
      <p:sp>
        <p:nvSpPr>
          <p:cNvPr id="246" name="TextBox 245">
            <a:extLst xmlns:a="http://schemas.openxmlformats.org/drawingml/2006/main">
              <a:ext uri="{FF2B5EF4-FFF2-40B4-BE49-F238E27FC236}">
                <a16:creationId xmlns:a16="http://schemas.microsoft.com/office/drawing/2014/main" id="{17889CBF-3E32-A1D8-C602-07E2517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5119497"/>
            <a:ext cx="340347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Tool: 실제 기능 실행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MCP: Tool 발견·호출을 위한 연결 규약</a:t>
            </a:r>
          </a:p>
        </p:txBody>
      </p:sp>
      <p:sp>
        <p:nvSpPr>
          <p:cNvPr id="248" name="skill-role">
            <a:extLst xmlns:a="http://schemas.openxmlformats.org/drawingml/2006/main">
              <a:ext uri="{FF2B5EF4-FFF2-40B4-BE49-F238E27FC236}">
                <a16:creationId xmlns:a16="http://schemas.microsoft.com/office/drawing/2014/main" id="{EE28EC22-FCF9-69E4-D6AE-1880E99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52" y="5810726"/>
            <a:ext cx="3875246" cy="675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9" name="TextBox 248">
            <a:extLst xmlns:a="http://schemas.openxmlformats.org/drawingml/2006/main">
              <a:ext uri="{FF2B5EF4-FFF2-40B4-BE49-F238E27FC236}">
                <a16:creationId xmlns:a16="http://schemas.microsoft.com/office/drawing/2014/main" id="{90D856C6-AA67-FB7B-E856-4A639AF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778" y="5896642"/>
            <a:ext cx="3643979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ln>
                  <a:solidFill>
                    <a:srgbClr val="D8D8D8">
                      <a:alpha val="0"/>
                    </a:srgbClr>
                  </a:solidFill>
                </a:ln>
              </a:rPr>
              <a:t>Sub Agent는 선택 요소, Harness는 필수 실행환경</a:t>
            </a:r>
          </a:p>
        </p:txBody>
      </p:sp>
      <p:sp>
        <p:nvSpPr>
          <p:cNvPr id="250" name="TextBox 249">
            <a:extLst xmlns:a="http://schemas.openxmlformats.org/drawingml/2006/main">
              <a:ext uri="{FF2B5EF4-FFF2-40B4-BE49-F238E27FC236}">
                <a16:creationId xmlns:a16="http://schemas.microsoft.com/office/drawing/2014/main" id="{24565CAA-02D4-2393-D705-6376455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6134386"/>
            <a:ext cx="3985355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n>
                  <a:solidFill>
                    <a:srgbClr val="D8D8D8">
                      <a:alpha val="0"/>
                    </a:srgbClr>
                  </a:solidFill>
                </a:ln>
              </a:rPr>
              <a:t>업무 복잡도에 따라 필요한 구성만 선택</a:t>
            </a:r>
          </a:p>
        </p:txBody>
      </p:sp>
      <p:sp>
        <p:nvSpPr>
          <p:cNvPr id="253" name="TextBox 252">
            <a:extLst xmlns:a="http://schemas.openxmlformats.org/drawingml/2006/main">
              <a:ext uri="{FF2B5EF4-FFF2-40B4-BE49-F238E27FC236}">
                <a16:creationId xmlns:a16="http://schemas.microsoft.com/office/drawing/2014/main" id="{FFF6F1DA-BEDA-F146-61DF-5C80699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7444"/>
            <a:ext cx="12192000" cy="400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각 구성요소는 판단·절차·실행·통제 역할이 다름</a:t>
            </a:r>
          </a:p>
        </p:txBody>
      </p:sp>
      <p:sp>
        <p:nvSpPr>
          <p:cNvPr id="255" name="직사각형 254">
            <a:extLst xmlns:a="http://schemas.openxmlformats.org/drawingml/2006/main">
              <a:ext uri="{FF2B5EF4-FFF2-40B4-BE49-F238E27FC236}">
                <a16:creationId xmlns:a16="http://schemas.microsoft.com/office/drawing/2014/main" id="{AB35ECF4-A4ED-5471-8EA3-24D096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3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457F5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111111"/>
                </a:solidFill>
                <a:latin typeface="+mn-ea"/>
                <a:ea typeface="+mn-ea"/>
                <a:cs typeface="+mn-ea"/>
              </a:rPr>
              <a:t>A1. AI Agent 구성요소 역할 구분</a:t>
            </a:r>
          </a:p>
        </p:txBody>
      </p:sp>
    </p:spTree>
    <p:extLst>
      <p:ext uri="{BB962C8B-B14F-4D97-AF65-F5344CB8AC3E}">
        <p14:creationId xmlns:p14="http://schemas.microsoft.com/office/powerpoint/2010/main" val="19353600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5C9EBB4-789B-D676-FFD7-CC94A6D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" y="1796701"/>
            <a:ext cx="7201281" cy="4800029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skill">
            <a:extLst xmlns:a="http://schemas.openxmlformats.org/drawingml/2006/main">
              <a:ext uri="{FF2B5EF4-FFF2-40B4-BE49-F238E27FC236}">
                <a16:creationId xmlns:a16="http://schemas.microsoft.com/office/drawing/2014/main" id="{52AF907C-3695-A7D4-B692-B0DE857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857500"/>
            <a:ext cx="3238500" cy="1524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7" name="skill">
            <a:extLst xmlns:a="http://schemas.openxmlformats.org/drawingml/2006/main">
              <a:ext uri="{FF2B5EF4-FFF2-40B4-BE49-F238E27FC236}">
                <a16:creationId xmlns:a16="http://schemas.microsoft.com/office/drawing/2014/main" id="{CD1CD1FE-AAA0-DDFF-DC1D-AB1DFE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2857500"/>
            <a:ext cx="3238500" cy="1524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8" name="skill">
            <a:extLst xmlns:a="http://schemas.openxmlformats.org/drawingml/2006/main">
              <a:ext uri="{FF2B5EF4-FFF2-40B4-BE49-F238E27FC236}">
                <a16:creationId xmlns:a16="http://schemas.microsoft.com/office/drawing/2014/main" id="{928FBFF1-3D52-F3B2-C5E1-89E9B3E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686300"/>
            <a:ext cx="6800850" cy="1428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0D2EDD1D-49AB-4255-5E20-9D2F936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476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단위 기능 Tool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B02754A-1450-52BD-A9BB-309D803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9900"/>
            <a:ext cx="2476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완결된 복합 Tool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6E1AF52C-5536-8997-F1CE-B29982A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순서·상태·예외·검증을 함께 책임</a:t>
            </a:r>
          </a:p>
          <a:p xmlns:a="http://schemas.openxmlformats.org/drawingml/2006/main">
            <a:pPr algn="ctr"/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매번 Agent가 재조합할 필요가 없는 경우</a:t>
            </a:r>
          </a:p>
          <a:p xmlns:a="http://schemas.openxmlformats.org/drawingml/2006/main"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</a:p>
          <a:p xmlns:a="http://schemas.openxmlformats.org/drawingml/2006/main">
            <a:pPr algn="ctr"/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예: 분석 Workflow · 보고서 생성 · 시스템 처리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95866D89-730D-56D2-812D-5704E2B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입력과 출력이 명확한 단순 기능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독립 호출·재사용이 쉬운 경우</a:t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예: 단건 조회 · 포맷 변환 · 파일 저장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3595D2A4-32A9-D64A-97A2-E9D3FBC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61912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모든 기능을 작은 Tool로 나누면 Agent 부담이 증가</a:t>
            </a: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ADF55481-93F6-16B2-8A3A-30C0F62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604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호출 횟수·Token·실패 경로·결과 검증이 늘어나 전체 안정성이 낮아질 수 있음</a:t>
            </a:r>
          </a:p>
          <a:p xmlns:a="http://schemas.openxmlformats.org/drawingml/2006/main">
            <a:pPr algn="ctr"/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반복되는 안정적 로직은 Tool 내부에 포함하고, Agent는 필요한 수준에서 조정</a:t>
            </a:r>
          </a:p>
        </p:txBody>
      </p:sp>
      <p:sp>
        <p:nvSpPr>
          <p:cNvPr id="185" name="사각형: 둥근 모서리 184">
            <a:extLst xmlns:a="http://schemas.openxmlformats.org/drawingml/2006/main">
              <a:ext uri="{FF2B5EF4-FFF2-40B4-BE49-F238E27FC236}">
                <a16:creationId xmlns:a16="http://schemas.microsoft.com/office/drawing/2014/main" id="{B3E7FEDA-CBD1-AAAD-824E-F001FD6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9" y="1837754"/>
            <a:ext cx="6799136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ACED0F08-C5E2-3DB4-E79A-FBA8056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95475"/>
            <a:ext cx="523875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Tool 크기는 업무 책임 범위로 결정</a:t>
            </a:r>
          </a:p>
        </p:txBody>
      </p:sp>
      <p:sp>
        <p:nvSpPr>
          <p:cNvPr id="189" name="TextBox 188">
            <a:extLst xmlns:a="http://schemas.openxmlformats.org/drawingml/2006/main">
              <a:ext uri="{FF2B5EF4-FFF2-40B4-BE49-F238E27FC236}">
                <a16:creationId xmlns:a16="http://schemas.microsoft.com/office/drawing/2014/main" id="{3D23C137-04B5-69F1-CD5E-58B1E74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600075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재사용성뿐 아니라 로직 복잡도·상태 관리·오류 처리·검증 책임을 함께 고려</a:t>
            </a:r>
          </a:p>
        </p:txBody>
      </p:sp>
      <p:sp>
        <p:nvSpPr>
          <p:cNvPr id="204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CF08E280-5E96-D48A-D6D7-474AB4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4212" y="1836420"/>
            <a:ext cx="18002" cy="4664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strategy-sep-1">
            <a:extLst xmlns:a="http://schemas.openxmlformats.org/drawingml/2006/main">
              <a:ext uri="{FF2B5EF4-FFF2-40B4-BE49-F238E27FC236}">
                <a16:creationId xmlns:a16="http://schemas.microsoft.com/office/drawing/2014/main" id="{3FFDB177-3215-56C3-6018-0BFE465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526" y="3393758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strategy-sep-2">
            <a:extLst xmlns:a="http://schemas.openxmlformats.org/drawingml/2006/main">
              <a:ext uri="{FF2B5EF4-FFF2-40B4-BE49-F238E27FC236}">
                <a16:creationId xmlns:a16="http://schemas.microsoft.com/office/drawing/2014/main" id="{EC5E530D-01AE-34B3-F7EF-5E4B95C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690967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TextBox 234">
            <a:extLst xmlns:a="http://schemas.openxmlformats.org/drawingml/2006/main">
              <a:ext uri="{FF2B5EF4-FFF2-40B4-BE49-F238E27FC236}">
                <a16:creationId xmlns:a16="http://schemas.microsoft.com/office/drawing/2014/main" id="{C527C74D-1BB1-3F29-68C0-7FBE0EB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7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Tool 복잡도 선택 ]</a:t>
            </a:r>
          </a:p>
        </p:txBody>
      </p:sp>
      <p:sp>
        <p:nvSpPr>
          <p:cNvPr id="236" name="TextBox 235">
            <a:extLst xmlns:a="http://schemas.openxmlformats.org/drawingml/2006/main">
              <a:ext uri="{FF2B5EF4-FFF2-40B4-BE49-F238E27FC236}">
                <a16:creationId xmlns:a16="http://schemas.microsoft.com/office/drawing/2014/main" id="{A469A349-5DA3-4F92-98B6-4EB57FB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64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개발 방식 선택 ]</a:t>
            </a:r>
          </a:p>
        </p:txBody>
      </p:sp>
      <p:sp>
        <p:nvSpPr>
          <p:cNvPr id="238" name="TextBox 237">
            <a:extLst xmlns:a="http://schemas.openxmlformats.org/drawingml/2006/main">
              <a:ext uri="{FF2B5EF4-FFF2-40B4-BE49-F238E27FC236}">
                <a16:creationId xmlns:a16="http://schemas.microsoft.com/office/drawing/2014/main" id="{EEA7B61F-9DEF-8ACE-0FDC-BFCEC47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1973580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01</a:t>
            </a:r>
          </a:p>
        </p:txBody>
      </p:sp>
      <p:sp>
        <p:nvSpPr>
          <p:cNvPr id="239" name="TextBox 238">
            <a:extLst xmlns:a="http://schemas.openxmlformats.org/drawingml/2006/main">
              <a:ext uri="{FF2B5EF4-FFF2-40B4-BE49-F238E27FC236}">
                <a16:creationId xmlns:a16="http://schemas.microsoft.com/office/drawing/2014/main" id="{DEBF9B0E-86A0-2944-AE8D-4677BE2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340747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02</a:t>
            </a:r>
          </a:p>
        </p:txBody>
      </p:sp>
      <p:sp>
        <p:nvSpPr>
          <p:cNvPr id="240" name="TextBox 239">
            <a:extLst xmlns:a="http://schemas.openxmlformats.org/drawingml/2006/main">
              <a:ext uri="{FF2B5EF4-FFF2-40B4-BE49-F238E27FC236}">
                <a16:creationId xmlns:a16="http://schemas.microsoft.com/office/drawing/2014/main" id="{3BBECD84-73EA-B67A-0432-8D5FB2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73554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03</a:t>
            </a:r>
          </a:p>
        </p:txBody>
      </p:sp>
      <p:sp>
        <p:nvSpPr>
          <p:cNvPr id="241" name="TextBox 240">
            <a:extLst xmlns:a="http://schemas.openxmlformats.org/drawingml/2006/main">
              <a:ext uri="{FF2B5EF4-FFF2-40B4-BE49-F238E27FC236}">
                <a16:creationId xmlns:a16="http://schemas.microsoft.com/office/drawing/2014/main" id="{2889C242-754A-3385-CD24-B4A893E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1989011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Agent Builder</a:t>
            </a:r>
          </a:p>
        </p:txBody>
      </p:sp>
      <p:sp>
        <p:nvSpPr>
          <p:cNvPr id="242" name="TextBox 241">
            <a:extLst xmlns:a="http://schemas.openxmlformats.org/drawingml/2006/main">
              <a:ext uri="{FF2B5EF4-FFF2-40B4-BE49-F238E27FC236}">
                <a16:creationId xmlns:a16="http://schemas.microsoft.com/office/drawing/2014/main" id="{D6BDF405-ECB3-A507-3817-AE21F8C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3422904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Custom Component</a:t>
            </a: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4AC8FB21-B661-C73A-FA03-2CD37AC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4750975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Code / MCP Server</a:t>
            </a:r>
          </a:p>
        </p:txBody>
      </p:sp>
      <p:sp>
        <p:nvSpPr>
          <p:cNvPr id="244" name="TextBox 243">
            <a:extLst xmlns:a="http://schemas.openxmlformats.org/drawingml/2006/main">
              <a:ext uri="{FF2B5EF4-FFF2-40B4-BE49-F238E27FC236}">
                <a16:creationId xmlns:a16="http://schemas.microsoft.com/office/drawing/2014/main" id="{F99E500F-A864-2F55-070B-717AEDE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3826002"/>
            <a:ext cx="3403473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중급 개발자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시각 흐름과 필요한 코드 로직 결합</a:t>
            </a:r>
          </a:p>
        </p:txBody>
      </p:sp>
      <p:sp>
        <p:nvSpPr>
          <p:cNvPr id="245" name="TextBox 244">
            <a:extLst xmlns:a="http://schemas.openxmlformats.org/drawingml/2006/main">
              <a:ext uri="{FF2B5EF4-FFF2-40B4-BE49-F238E27FC236}">
                <a16:creationId xmlns:a16="http://schemas.microsoft.com/office/drawing/2014/main" id="{B4BAFDA1-0B80-6ECA-DD8B-FFE18EF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2282476"/>
            <a:ext cx="3544253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초·중급 개발자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화면 기반 조립·공유·검증에 유리</a:t>
            </a:r>
          </a:p>
        </p:txBody>
      </p:sp>
      <p:sp>
        <p:nvSpPr>
          <p:cNvPr id="246" name="TextBox 245">
            <a:extLst xmlns:a="http://schemas.openxmlformats.org/drawingml/2006/main">
              <a:ext uri="{FF2B5EF4-FFF2-40B4-BE49-F238E27FC236}">
                <a16:creationId xmlns:a16="http://schemas.microsoft.com/office/drawing/2014/main" id="{17889CBF-3E32-A1D8-C602-07E2517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5119497"/>
            <a:ext cx="340347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고급 개발자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복잡한 상태·성능·테스트·운영에 적합</a:t>
            </a:r>
          </a:p>
        </p:txBody>
      </p:sp>
      <p:sp>
        <p:nvSpPr>
          <p:cNvPr id="248" name="skill-role">
            <a:extLst xmlns:a="http://schemas.openxmlformats.org/drawingml/2006/main">
              <a:ext uri="{FF2B5EF4-FFF2-40B4-BE49-F238E27FC236}">
                <a16:creationId xmlns:a16="http://schemas.microsoft.com/office/drawing/2014/main" id="{EE28EC22-FCF9-69E4-D6AE-1880E99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52" y="5810726"/>
            <a:ext cx="3875246" cy="675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9" name="TextBox 248">
            <a:extLst xmlns:a="http://schemas.openxmlformats.org/drawingml/2006/main">
              <a:ext uri="{FF2B5EF4-FFF2-40B4-BE49-F238E27FC236}">
                <a16:creationId xmlns:a16="http://schemas.microsoft.com/office/drawing/2014/main" id="{90D856C6-AA67-FB7B-E856-4A639AF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778" y="5896642"/>
            <a:ext cx="3643979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ln>
                  <a:solidFill>
                    <a:srgbClr val="D8D8D8">
                      <a:alpha val="0"/>
                    </a:srgbClr>
                  </a:solidFill>
                </a:ln>
              </a:rPr>
              <a:t>개발 위치가 달라도 Main Agent 연결 형식은 동일</a:t>
            </a:r>
          </a:p>
        </p:txBody>
      </p:sp>
      <p:sp>
        <p:nvSpPr>
          <p:cNvPr id="250" name="TextBox 249">
            <a:extLst xmlns:a="http://schemas.openxmlformats.org/drawingml/2006/main">
              <a:ext uri="{FF2B5EF4-FFF2-40B4-BE49-F238E27FC236}">
                <a16:creationId xmlns:a16="http://schemas.microsoft.com/office/drawing/2014/main" id="{24565CAA-02D4-2393-D705-6376455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6134386"/>
            <a:ext cx="3985355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n>
                  <a:solidFill>
                    <a:srgbClr val="D8D8D8">
                      <a:alpha val="0"/>
                    </a:srgbClr>
                  </a:solidFill>
                </a:ln>
              </a:rPr>
              <a:t>업무 복잡도와 구현자 수준에 따라 개발 경로 선택</a:t>
            </a:r>
          </a:p>
        </p:txBody>
      </p:sp>
      <p:sp>
        <p:nvSpPr>
          <p:cNvPr id="253" name="TextBox 252">
            <a:extLst xmlns:a="http://schemas.openxmlformats.org/drawingml/2006/main">
              <a:ext uri="{FF2B5EF4-FFF2-40B4-BE49-F238E27FC236}">
                <a16:creationId xmlns:a16="http://schemas.microsoft.com/office/drawing/2014/main" id="{FFF6F1DA-BEDA-F146-61DF-5C80699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7444"/>
            <a:ext cx="12192000" cy="400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Tool은 무조건 쪼개지 않고 업무 책임 범위에 맞춰 설계</a:t>
            </a:r>
          </a:p>
        </p:txBody>
      </p:sp>
      <p:sp>
        <p:nvSpPr>
          <p:cNvPr id="255" name="직사각형 254">
            <a:extLst xmlns:a="http://schemas.openxmlformats.org/drawingml/2006/main">
              <a:ext uri="{FF2B5EF4-FFF2-40B4-BE49-F238E27FC236}">
                <a16:creationId xmlns:a16="http://schemas.microsoft.com/office/drawing/2014/main" id="{AB35ECF4-A4ED-5471-8EA3-24D096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3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457F5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111111"/>
                </a:solidFill>
                <a:latin typeface="+mn-ea"/>
                <a:ea typeface="+mn-ea"/>
                <a:cs typeface="+mn-ea"/>
              </a:rPr>
              <a:t>A2. Tool 설계 및 개발 방식</a:t>
            </a:r>
          </a:p>
        </p:txBody>
      </p:sp>
    </p:spTree>
    <p:extLst>
      <p:ext uri="{BB962C8B-B14F-4D97-AF65-F5344CB8AC3E}">
        <p14:creationId xmlns:p14="http://schemas.microsoft.com/office/powerpoint/2010/main" val="19353600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5C9EBB4-789B-D676-FFD7-CC94A6D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" y="1796701"/>
            <a:ext cx="7201281" cy="4800029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skill">
            <a:extLst xmlns:a="http://schemas.openxmlformats.org/drawingml/2006/main">
              <a:ext uri="{FF2B5EF4-FFF2-40B4-BE49-F238E27FC236}">
                <a16:creationId xmlns:a16="http://schemas.microsoft.com/office/drawing/2014/main" id="{52AF907C-3695-A7D4-B692-B0DE857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000500"/>
            <a:ext cx="3238500" cy="952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27" name="skill">
            <a:extLst xmlns:a="http://schemas.openxmlformats.org/drawingml/2006/main">
              <a:ext uri="{FF2B5EF4-FFF2-40B4-BE49-F238E27FC236}">
                <a16:creationId xmlns:a16="http://schemas.microsoft.com/office/drawing/2014/main" id="{CD1CD1FE-AAA0-DDFF-DC1D-AB1DFE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4000500"/>
            <a:ext cx="3238500" cy="952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2" name="skill">
            <a:extLst xmlns:a="http://schemas.openxmlformats.org/drawingml/2006/main">
              <a:ext uri="{FF2B5EF4-FFF2-40B4-BE49-F238E27FC236}">
                <a16:creationId xmlns:a16="http://schemas.microsoft.com/office/drawing/2014/main" id="{1FCA7334-F4A5-F60C-5FA2-DE6DB4B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52900" y="2857500"/>
            <a:ext cx="3238500" cy="952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4" name="skill">
            <a:extLst xmlns:a="http://schemas.openxmlformats.org/drawingml/2006/main">
              <a:ext uri="{FF2B5EF4-FFF2-40B4-BE49-F238E27FC236}">
                <a16:creationId xmlns:a16="http://schemas.microsoft.com/office/drawing/2014/main" id="{7001369E-855E-1214-C1F4-5BFF62D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2857500"/>
            <a:ext cx="3238500" cy="952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30" name="skill">
            <a:extLst xmlns:a="http://schemas.openxmlformats.org/drawingml/2006/main">
              <a:ext uri="{FF2B5EF4-FFF2-40B4-BE49-F238E27FC236}">
                <a16:creationId xmlns:a16="http://schemas.microsoft.com/office/drawing/2014/main" id="{FE6CA667-85FC-D032-17F9-295850B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5191125"/>
            <a:ext cx="6800850" cy="1000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0478">
            <a:solidFill>
              <a:srgbClr val="4A4A4A"/>
            </a:solidFill>
            <a:prstDash val="solid"/>
          </a:ln>
        </p:spPr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479416-61D0-70AD-DC25-3E22F48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23812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Tool 설명 · 고유 ID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00AAE5F-ABB9-5642-5F99-74E288E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90850"/>
            <a:ext cx="22860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Input Schema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5B275A2-E2EC-7A21-03CF-AEBDB49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630555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status · summary · data · artifacts · sources · warnings · error · trace_id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0D2EDD1D-49AB-4255-5E20-9D2F936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23812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공통 Output Envelope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3B02754A-1450-52BD-A9BB-309D803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33850"/>
            <a:ext cx="268605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권한 · 위험 · 운영 Metadata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6FF78F5-B15E-55E4-FC30-885504C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569595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Tool별 고유 결과는 data 내부에 유지하고, 공통 필드 위치만 맞춤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3DD8A8AB-90C9-B78C-79E4-47EE6DA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95900"/>
            <a:ext cx="581025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</a:rPr>
              <a:t>OUTPUT ENVELOPE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6E1AF52C-5536-8997-F1CE-B29982A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조회·변경·승인 필요 여부와 운영상태·검증상태를 함께 제공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95866D89-730D-56D2-812D-5704E2B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성공·요약·결과·산출물·근거·경고·오류를 공통 위치에서 전달</a:t>
            </a:r>
          </a:p>
        </p:txBody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A75AABFA-AB31-BE5A-A6AD-A2C4E6E0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71850"/>
            <a:ext cx="26860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Main Agent가 필요한 입력과 필수값을 이해할 수 있는 구조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EDA82AB-C70D-2587-542C-1174A73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동일 기능명 강제가 아니라 등록·발견을 위한 식별 정보</a:t>
            </a:r>
          </a:p>
        </p:txBody>
      </p:sp>
      <p:sp>
        <p:nvSpPr>
          <p:cNvPr id="185" name="사각형: 둥근 모서리 184">
            <a:extLst xmlns:a="http://schemas.openxmlformats.org/drawingml/2006/main">
              <a:ext uri="{FF2B5EF4-FFF2-40B4-BE49-F238E27FC236}">
                <a16:creationId xmlns:a16="http://schemas.microsoft.com/office/drawing/2014/main" id="{B3E7FEDA-CBD1-AAAD-824E-F001FD6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9" y="1837754"/>
            <a:ext cx="6799136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ACED0F08-C5E2-3DB4-E79A-FBA8056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95475"/>
            <a:ext cx="57150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FF"/>
                </a:solidFill>
                <a:latin typeface="+mn-ea"/>
                <a:ea typeface="+mn-ea"/>
                <a:cs typeface="+mn-ea"/>
              </a:rPr>
              <a:t>MCP Tool 또는 이에 준하는 공통 Endpoint</a:t>
            </a:r>
          </a:p>
        </p:txBody>
      </p:sp>
      <p:sp>
        <p:nvSpPr>
          <p:cNvPr id="189" name="TextBox 188">
            <a:extLst xmlns:a="http://schemas.openxmlformats.org/drawingml/2006/main">
              <a:ext uri="{FF2B5EF4-FFF2-40B4-BE49-F238E27FC236}">
                <a16:creationId xmlns:a16="http://schemas.microsoft.com/office/drawing/2014/main" id="{3D23C137-04B5-69F1-CD5E-58B1E74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6191250" cy="261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E3E3E3"/>
                </a:solidFill>
                <a:latin typeface="+mn-ea"/>
                <a:ea typeface="+mn-ea"/>
                <a:cs typeface="+mn-ea"/>
              </a:rPr>
              <a:t>개발 플랫폼과 내부 로직이 달라도 Main Agent가 발견·호출·해석할 수 있는 경계</a:t>
            </a:r>
          </a:p>
        </p:txBody>
      </p:sp>
      <p:sp>
        <p:nvSpPr>
          <p:cNvPr id="204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CF08E280-5E96-D48A-D6D7-474AB4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4212" y="1836420"/>
            <a:ext cx="18002" cy="4664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strategy-sep-1">
            <a:extLst xmlns:a="http://schemas.openxmlformats.org/drawingml/2006/main">
              <a:ext uri="{FF2B5EF4-FFF2-40B4-BE49-F238E27FC236}">
                <a16:creationId xmlns:a16="http://schemas.microsoft.com/office/drawing/2014/main" id="{3FFDB177-3215-56C3-6018-0BFE465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526" y="3393758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strategy-sep-2">
            <a:extLst xmlns:a="http://schemas.openxmlformats.org/drawingml/2006/main">
              <a:ext uri="{FF2B5EF4-FFF2-40B4-BE49-F238E27FC236}">
                <a16:creationId xmlns:a16="http://schemas.microsoft.com/office/drawing/2014/main" id="{EC5E530D-01AE-34B3-F7EF-5E4B95C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690967"/>
            <a:ext cx="369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TextBox 234">
            <a:extLst xmlns:a="http://schemas.openxmlformats.org/drawingml/2006/main">
              <a:ext uri="{FF2B5EF4-FFF2-40B4-BE49-F238E27FC236}">
                <a16:creationId xmlns:a16="http://schemas.microsoft.com/office/drawing/2014/main" id="{C527C74D-1BB1-3F29-68C0-7FBE0EB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7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공통 연결 계약 ]</a:t>
            </a:r>
          </a:p>
        </p:txBody>
      </p:sp>
      <p:sp>
        <p:nvSpPr>
          <p:cNvPr id="236" name="TextBox 235">
            <a:extLst xmlns:a="http://schemas.openxmlformats.org/drawingml/2006/main">
              <a:ext uri="{FF2B5EF4-FFF2-40B4-BE49-F238E27FC236}">
                <a16:creationId xmlns:a16="http://schemas.microsoft.com/office/drawing/2014/main" id="{A469A349-5DA3-4F92-98B6-4EB57FB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64" y="1497425"/>
            <a:ext cx="28575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+mn-ea"/>
                <a:ea typeface="+mn-ea"/>
                <a:cs typeface="+mn-ea"/>
              </a:rPr>
              <a:t>[ 공통 영역과 자율 영역 ]</a:t>
            </a:r>
          </a:p>
        </p:txBody>
      </p:sp>
      <p:sp>
        <p:nvSpPr>
          <p:cNvPr id="238" name="TextBox 237">
            <a:extLst xmlns:a="http://schemas.openxmlformats.org/drawingml/2006/main">
              <a:ext uri="{FF2B5EF4-FFF2-40B4-BE49-F238E27FC236}">
                <a16:creationId xmlns:a16="http://schemas.microsoft.com/office/drawing/2014/main" id="{EEA7B61F-9DEF-8ACE-0FDC-BFCEC47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1973580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01</a:t>
            </a:r>
          </a:p>
        </p:txBody>
      </p:sp>
      <p:sp>
        <p:nvSpPr>
          <p:cNvPr id="239" name="TextBox 238">
            <a:extLst xmlns:a="http://schemas.openxmlformats.org/drawingml/2006/main">
              <a:ext uri="{FF2B5EF4-FFF2-40B4-BE49-F238E27FC236}">
                <a16:creationId xmlns:a16="http://schemas.microsoft.com/office/drawing/2014/main" id="{DEBF9B0E-86A0-2944-AE8D-4677BE2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340747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02</a:t>
            </a:r>
          </a:p>
        </p:txBody>
      </p:sp>
      <p:sp>
        <p:nvSpPr>
          <p:cNvPr id="240" name="TextBox 239">
            <a:extLst xmlns:a="http://schemas.openxmlformats.org/drawingml/2006/main">
              <a:ext uri="{FF2B5EF4-FFF2-40B4-BE49-F238E27FC236}">
                <a16:creationId xmlns:a16="http://schemas.microsoft.com/office/drawing/2014/main" id="{3BBECD84-73EA-B67A-0432-8D5FB2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4735544"/>
            <a:ext cx="450723" cy="369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89898"/>
                </a:solidFill>
                <a:latin typeface="+mn-ea"/>
                <a:ea typeface="+mn-ea"/>
                <a:cs typeface="+mn-ea"/>
              </a:rPr>
              <a:t>03</a:t>
            </a:r>
          </a:p>
        </p:txBody>
      </p:sp>
      <p:sp>
        <p:nvSpPr>
          <p:cNvPr id="241" name="TextBox 240">
            <a:extLst xmlns:a="http://schemas.openxmlformats.org/drawingml/2006/main">
              <a:ext uri="{FF2B5EF4-FFF2-40B4-BE49-F238E27FC236}">
                <a16:creationId xmlns:a16="http://schemas.microsoft.com/office/drawing/2014/main" id="{2889C242-754A-3385-CD24-B4A893E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1989011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공통화</a:t>
            </a:r>
          </a:p>
        </p:txBody>
      </p:sp>
      <p:sp>
        <p:nvSpPr>
          <p:cNvPr id="242" name="TextBox 241">
            <a:extLst xmlns:a="http://schemas.openxmlformats.org/drawingml/2006/main">
              <a:ext uri="{FF2B5EF4-FFF2-40B4-BE49-F238E27FC236}">
                <a16:creationId xmlns:a16="http://schemas.microsoft.com/office/drawing/2014/main" id="{D6BDF405-ECB3-A507-3817-AE21F8C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3422904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조직 자율</a:t>
            </a: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4AC8FB21-B661-C73A-FA03-2CD37AC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478" y="4750975"/>
            <a:ext cx="3238500" cy="338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ln>
                  <a:solidFill>
                    <a:srgbClr val="FFFFFF">
                      <a:alpha val="0"/>
                    </a:srgbClr>
                  </a:solidFill>
                </a:ln>
              </a:rPr>
              <a:t>운영 등록</a:t>
            </a:r>
          </a:p>
        </p:txBody>
      </p:sp>
      <p:sp>
        <p:nvSpPr>
          <p:cNvPr id="244" name="TextBox 243">
            <a:extLst xmlns:a="http://schemas.openxmlformats.org/drawingml/2006/main">
              <a:ext uri="{FF2B5EF4-FFF2-40B4-BE49-F238E27FC236}">
                <a16:creationId xmlns:a16="http://schemas.microsoft.com/office/drawing/2014/main" id="{F99E500F-A864-2F55-070B-717AEDE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3826002"/>
            <a:ext cx="3403473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 이름·업무 로직·Data Source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내부 실행 순서·Flow·개발 플랫폼</a:t>
            </a:r>
          </a:p>
        </p:txBody>
      </p:sp>
      <p:sp>
        <p:nvSpPr>
          <p:cNvPr id="245" name="TextBox 244">
            <a:extLst xmlns:a="http://schemas.openxmlformats.org/drawingml/2006/main">
              <a:ext uri="{FF2B5EF4-FFF2-40B4-BE49-F238E27FC236}">
                <a16:creationId xmlns:a16="http://schemas.microsoft.com/office/drawing/2014/main" id="{B4BAFDA1-0B80-6ECA-DD8B-FFE18EF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2282476"/>
            <a:ext cx="3544253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MCP 호출 또는 이에 준하는 방식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  <a:latin typeface="+mn-ea"/>
                <a:ea typeface="+mn-ea"/>
                <a:cs typeface="+mn-ea"/>
              </a:rPr>
              <a:t>Input Schema·Output Envelope·권한 Metadata</a:t>
            </a:r>
          </a:p>
        </p:txBody>
      </p:sp>
      <p:sp>
        <p:nvSpPr>
          <p:cNvPr id="246" name="TextBox 245">
            <a:extLst xmlns:a="http://schemas.openxmlformats.org/drawingml/2006/main">
              <a:ext uri="{FF2B5EF4-FFF2-40B4-BE49-F238E27FC236}">
                <a16:creationId xmlns:a16="http://schemas.microsoft.com/office/drawing/2014/main" id="{17889CBF-3E32-A1D8-C602-07E2517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5119497"/>
            <a:ext cx="340347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Tool 설명·소유자·운영상태·검증상태</a:t>
            </a:r>
          </a:p>
          <a:p xmlns:a="http://schemas.openxmlformats.org/drawingml/2006/main">
            <a:pPr marL="171450" indent="-171450">
              <a:lnSpc>
                <a:spcPct val="130000"/>
              </a:lnSpc>
              <a:buFont typeface="Wingdings"/>
              <a:buChar char="§"/>
            </a:pPr>
            <a:r>
              <a:rPr sz="1200">
                <a:ln>
                  <a:solidFill>
                    <a:srgbClr val="FFFFFF">
                      <a:alpha val="0"/>
                    </a:srgbClr>
                  </a:solidFill>
                </a:ln>
              </a:rPr>
              <a:t>실제 사용량과 재사용 수요 확인</a:t>
            </a:r>
          </a:p>
        </p:txBody>
      </p:sp>
      <p:sp>
        <p:nvSpPr>
          <p:cNvPr id="248" name="skill-role">
            <a:extLst xmlns:a="http://schemas.openxmlformats.org/drawingml/2006/main">
              <a:ext uri="{FF2B5EF4-FFF2-40B4-BE49-F238E27FC236}">
                <a16:creationId xmlns:a16="http://schemas.microsoft.com/office/drawing/2014/main" id="{EE28EC22-FCF9-69E4-D6AE-1880E99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52" y="5810726"/>
            <a:ext cx="3875246" cy="675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9" name="TextBox 248">
            <a:extLst xmlns:a="http://schemas.openxmlformats.org/drawingml/2006/main">
              <a:ext uri="{FF2B5EF4-FFF2-40B4-BE49-F238E27FC236}">
                <a16:creationId xmlns:a16="http://schemas.microsoft.com/office/drawing/2014/main" id="{90D856C6-AA67-FB7B-E856-4A639AF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778" y="5896642"/>
            <a:ext cx="3643979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ln>
                  <a:solidFill>
                    <a:srgbClr val="D8D8D8">
                      <a:alpha val="0"/>
                    </a:srgbClr>
                  </a:solidFill>
                </a:ln>
              </a:rPr>
              <a:t>Tool별 data 내부 구조는 통일 대상 아님</a:t>
            </a:r>
          </a:p>
        </p:txBody>
      </p:sp>
      <p:sp>
        <p:nvSpPr>
          <p:cNvPr id="250" name="TextBox 249">
            <a:extLst xmlns:a="http://schemas.openxmlformats.org/drawingml/2006/main">
              <a:ext uri="{FF2B5EF4-FFF2-40B4-BE49-F238E27FC236}">
                <a16:creationId xmlns:a16="http://schemas.microsoft.com/office/drawing/2014/main" id="{24565CAA-02D4-2393-D705-6376455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81" y="6134386"/>
            <a:ext cx="3985355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n>
                  <a:solidFill>
                    <a:srgbClr val="D8D8D8">
                      <a:alpha val="0"/>
                    </a:srgbClr>
                  </a:solidFill>
                </a:ln>
              </a:rPr>
              <a:t>Main Agent가 이해할 연결 경계만 공통화</a:t>
            </a:r>
          </a:p>
        </p:txBody>
      </p:sp>
      <p:sp>
        <p:nvSpPr>
          <p:cNvPr id="253" name="TextBox 252">
            <a:extLst xmlns:a="http://schemas.openxmlformats.org/drawingml/2006/main">
              <a:ext uri="{FF2B5EF4-FFF2-40B4-BE49-F238E27FC236}">
                <a16:creationId xmlns:a16="http://schemas.microsoft.com/office/drawing/2014/main" id="{FFF6F1DA-BEDA-F146-61DF-5C80699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7444"/>
            <a:ext cx="12192000" cy="4001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/>
              <a:t>Tool 내부는 자율, Main Agent와 만나는 연결 지점만 공통화</a:t>
            </a:r>
          </a:p>
        </p:txBody>
      </p:sp>
      <p:sp>
        <p:nvSpPr>
          <p:cNvPr id="255" name="직사각형 254">
            <a:extLst xmlns:a="http://schemas.openxmlformats.org/drawingml/2006/main">
              <a:ext uri="{FF2B5EF4-FFF2-40B4-BE49-F238E27FC236}">
                <a16:creationId xmlns:a16="http://schemas.microsoft.com/office/drawing/2014/main" id="{AB35ECF4-A4ED-5471-8EA3-24D096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3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457F5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111111"/>
                </a:solidFill>
                <a:latin typeface="+mn-ea"/>
                <a:ea typeface="+mn-ea"/>
                <a:cs typeface="+mn-ea"/>
              </a:rPr>
              <a:t>A3. 최소 공통 연결 기준</a:t>
            </a:r>
          </a:p>
        </p:txBody>
      </p:sp>
    </p:spTree>
    <p:extLst>
      <p:ext uri="{BB962C8B-B14F-4D97-AF65-F5344CB8AC3E}">
        <p14:creationId xmlns:p14="http://schemas.microsoft.com/office/powerpoint/2010/main" val="1935360047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2026-07-21T13:41:21.0640000Z</dcterms:created>
  <dcterms:modified xsi:type="dcterms:W3CDTF">2026-07-21T13:41:21.0640000Z</dcterms:modified>
</coreProperties>
</file>